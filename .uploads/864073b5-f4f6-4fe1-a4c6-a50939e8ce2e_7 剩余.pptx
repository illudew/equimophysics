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329" r:id="rId2"/>
    <p:sldId id="334" r:id="rId3"/>
    <p:sldId id="284" r:id="rId4"/>
    <p:sldId id="335" r:id="rId5"/>
    <p:sldId id="290" r:id="rId6"/>
    <p:sldId id="291" r:id="rId7"/>
    <p:sldId id="292" r:id="rId8"/>
    <p:sldId id="294" r:id="rId9"/>
    <p:sldId id="297" r:id="rId10"/>
    <p:sldId id="298" r:id="rId11"/>
    <p:sldId id="309" r:id="rId12"/>
    <p:sldId id="311" r:id="rId13"/>
    <p:sldId id="312" r:id="rId14"/>
    <p:sldId id="313" r:id="rId15"/>
    <p:sldId id="300" r:id="rId16"/>
    <p:sldId id="288" r:id="rId17"/>
    <p:sldId id="301" r:id="rId18"/>
    <p:sldId id="315" r:id="rId19"/>
    <p:sldId id="302" r:id="rId20"/>
    <p:sldId id="314" r:id="rId21"/>
    <p:sldId id="316" r:id="rId22"/>
    <p:sldId id="332" r:id="rId23"/>
    <p:sldId id="330" r:id="rId24"/>
    <p:sldId id="295" r:id="rId25"/>
    <p:sldId id="331" r:id="rId26"/>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68"/>
    <p:restoredTop sz="94697"/>
  </p:normalViewPr>
  <p:slideViewPr>
    <p:cSldViewPr snapToGrid="0" snapToObjects="1">
      <p:cViewPr>
        <p:scale>
          <a:sx n="99" d="100"/>
          <a:sy n="99" d="100"/>
        </p:scale>
        <p:origin x="144" y="6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0D358D-485E-514D-9D2D-405C07466863}" type="datetimeFigureOut">
              <a:rPr lang="en-CN" smtClean="0"/>
              <a:t>2023/4/1</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A3253C-D8C7-E24C-B066-3A0F216C9AA4}" type="slidenum">
              <a:rPr lang="en-CN" smtClean="0"/>
              <a:t>‹#›</a:t>
            </a:fld>
            <a:endParaRPr lang="en-CN"/>
          </a:p>
        </p:txBody>
      </p:sp>
    </p:spTree>
    <p:extLst>
      <p:ext uri="{BB962C8B-B14F-4D97-AF65-F5344CB8AC3E}">
        <p14:creationId xmlns:p14="http://schemas.microsoft.com/office/powerpoint/2010/main" val="240841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B9A3253C-D8C7-E24C-B066-3A0F216C9AA4}" type="slidenum">
              <a:rPr lang="en-CN" smtClean="0"/>
              <a:t>16</a:t>
            </a:fld>
            <a:endParaRPr lang="en-CN"/>
          </a:p>
        </p:txBody>
      </p:sp>
    </p:spTree>
    <p:extLst>
      <p:ext uri="{BB962C8B-B14F-4D97-AF65-F5344CB8AC3E}">
        <p14:creationId xmlns:p14="http://schemas.microsoft.com/office/powerpoint/2010/main" val="3590313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D7C1-D8EB-D547-BCEE-EC505565F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2089B034-FF72-0842-A5AB-84F0A71076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3FD5C968-918F-8641-AE02-594B5224B66F}"/>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5" name="Footer Placeholder 4">
            <a:extLst>
              <a:ext uri="{FF2B5EF4-FFF2-40B4-BE49-F238E27FC236}">
                <a16:creationId xmlns:a16="http://schemas.microsoft.com/office/drawing/2014/main" id="{3519C305-E85D-1548-A375-1DBDEDB5978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873FDED-A1AE-D846-9147-0D1EE8B81396}"/>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5488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013E-BDF0-8C4A-B4ED-0D321223FDC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007ABE0F-0622-5C49-AEF9-031610282B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8EF4ABA-C3F7-F04B-B87A-4A9D3D3BA1AF}"/>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5" name="Footer Placeholder 4">
            <a:extLst>
              <a:ext uri="{FF2B5EF4-FFF2-40B4-BE49-F238E27FC236}">
                <a16:creationId xmlns:a16="http://schemas.microsoft.com/office/drawing/2014/main" id="{FD28897E-B07B-B441-BDAF-727D0E889B1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FA11B97-AE03-0E47-93A0-D14C3D946881}"/>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43825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3D1F-C55B-2F42-AE7E-78E4DC54AD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86FFFBC5-80CC-8C45-9404-C9556920AE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B78CD9-0063-224A-90B2-5B178A6FB8BD}"/>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5" name="Footer Placeholder 4">
            <a:extLst>
              <a:ext uri="{FF2B5EF4-FFF2-40B4-BE49-F238E27FC236}">
                <a16:creationId xmlns:a16="http://schemas.microsoft.com/office/drawing/2014/main" id="{64A6CE81-9F37-BF4C-BDF3-A9FBC99E240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F3B8F5E-2051-1745-8C26-13E510972A2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648670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5BE8-2906-8E4F-AF10-6C859962C87A}"/>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5877BC1-205D-ED44-902E-6DC52E37D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86DCF4BC-B5D9-7A46-9CA0-C1833531EB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729A32F2-DC1B-494A-8AB9-039BCA541EDF}"/>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6" name="Footer Placeholder 5">
            <a:extLst>
              <a:ext uri="{FF2B5EF4-FFF2-40B4-BE49-F238E27FC236}">
                <a16:creationId xmlns:a16="http://schemas.microsoft.com/office/drawing/2014/main" id="{1FC77452-A3E3-4443-92ED-FF9D858C7417}"/>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D6CB1547-4E3B-B44B-81F0-9E977B3EF14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81665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04FC-EB95-6042-A824-3928DD90D352}"/>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F8826F3F-BBDF-4748-B28F-F8C02C1F26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BC1051-699C-4F4F-A964-DE4CCEF3B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A05D3799-BF1A-B544-92F3-A668C8479A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BDBCE-CA7F-5143-91B1-42C71E89D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A9D47ACE-B299-B447-AB9F-A7E598DB00BB}"/>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8" name="Footer Placeholder 7">
            <a:extLst>
              <a:ext uri="{FF2B5EF4-FFF2-40B4-BE49-F238E27FC236}">
                <a16:creationId xmlns:a16="http://schemas.microsoft.com/office/drawing/2014/main" id="{E1CA539D-7612-E848-999B-9D151DFE0F4E}"/>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91C80D14-ED83-5545-8AE2-4469C82031B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86053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444D-3A68-EB45-9015-DA6329C909CA}"/>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EFBB93C-F3ED-3F47-B452-7C28F2091105}"/>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4" name="Footer Placeholder 3">
            <a:extLst>
              <a:ext uri="{FF2B5EF4-FFF2-40B4-BE49-F238E27FC236}">
                <a16:creationId xmlns:a16="http://schemas.microsoft.com/office/drawing/2014/main" id="{C90FAABE-D364-A94B-BEC5-9C8F70BD57F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7DA6D1B4-DA1C-F240-90A2-84B2A717EF7E}"/>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1874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0083D-F5D5-C543-B61F-4094F539E6A7}"/>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3" name="Footer Placeholder 2">
            <a:extLst>
              <a:ext uri="{FF2B5EF4-FFF2-40B4-BE49-F238E27FC236}">
                <a16:creationId xmlns:a16="http://schemas.microsoft.com/office/drawing/2014/main" id="{E0DDC8BC-428B-BB4D-8AEE-C6B272C6798C}"/>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378B49BB-14D1-1849-B437-37A7A6070E9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14770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422E-2ECF-6E40-B192-F3102DB3C2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56070A34-B607-1742-A5C9-F66E9CB59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688185AD-9C29-CE46-8CE9-E6D8F6BB5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8B05E-F489-3841-AF6F-1A1FE3BB3F71}"/>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6" name="Footer Placeholder 5">
            <a:extLst>
              <a:ext uri="{FF2B5EF4-FFF2-40B4-BE49-F238E27FC236}">
                <a16:creationId xmlns:a16="http://schemas.microsoft.com/office/drawing/2014/main" id="{D5D58E87-9859-F14A-B389-187843C24D8E}"/>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152D493-6FBF-EA46-8CFB-E11E167F3225}"/>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50729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3968-37CC-B647-9F46-44E9F8642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0F620B7A-6421-6346-BBFA-BD37AAC93C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508ED188-FEB7-E74E-B65D-281002E7A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B8C2D-F1DB-C34A-AD60-DF4B2FE59B4C}"/>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6" name="Footer Placeholder 5">
            <a:extLst>
              <a:ext uri="{FF2B5EF4-FFF2-40B4-BE49-F238E27FC236}">
                <a16:creationId xmlns:a16="http://schemas.microsoft.com/office/drawing/2014/main" id="{2F1817A2-AEE3-244B-8185-A484A6B8C7D4}"/>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7410CD3-341B-C348-B1D4-069400F93D8A}"/>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238695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41A4-A3DA-9C44-A87F-544863819FAD}"/>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00F37D03-3ABB-E94A-A564-7D516299FF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D225D3D3-9B3A-E34D-A7DB-07B8D9C07F2E}"/>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5" name="Footer Placeholder 4">
            <a:extLst>
              <a:ext uri="{FF2B5EF4-FFF2-40B4-BE49-F238E27FC236}">
                <a16:creationId xmlns:a16="http://schemas.microsoft.com/office/drawing/2014/main" id="{9951226C-2D9F-3E4D-8439-D1417E4DA26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15AA4E6-5819-4C43-8676-2EDC65D0B11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077077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9D237-9FA6-7643-A46C-6BF452F3C3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B0F4148B-28D9-4E4F-98AA-281CE3B51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59114E8-0490-9844-A6E6-A76C29CB09BF}"/>
              </a:ext>
            </a:extLst>
          </p:cNvPr>
          <p:cNvSpPr>
            <a:spLocks noGrp="1"/>
          </p:cNvSpPr>
          <p:nvPr>
            <p:ph type="dt" sz="half" idx="10"/>
          </p:nvPr>
        </p:nvSpPr>
        <p:spPr/>
        <p:txBody>
          <a:bodyPr/>
          <a:lstStyle/>
          <a:p>
            <a:fld id="{E800E28F-22DF-9E47-9EC9-E68F8BF2B40B}" type="datetimeFigureOut">
              <a:rPr lang="en-CN" smtClean="0"/>
              <a:t>2023/4/1</a:t>
            </a:fld>
            <a:endParaRPr lang="en-CN"/>
          </a:p>
        </p:txBody>
      </p:sp>
      <p:sp>
        <p:nvSpPr>
          <p:cNvPr id="5" name="Footer Placeholder 4">
            <a:extLst>
              <a:ext uri="{FF2B5EF4-FFF2-40B4-BE49-F238E27FC236}">
                <a16:creationId xmlns:a16="http://schemas.microsoft.com/office/drawing/2014/main" id="{70A5F247-BB24-C14C-8BDC-3AEC6E2F44B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209EBDF-B685-F445-BD1C-7044BC30248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70762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7E8360-99FB-314F-8FFC-5DFE14644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0FD170A0-1BBB-7549-88EE-B708486E0C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ED353904-8539-AE42-A677-9B45FCA67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0E28F-22DF-9E47-9EC9-E68F8BF2B40B}" type="datetimeFigureOut">
              <a:rPr lang="en-CN" smtClean="0"/>
              <a:t>2023/4/1</a:t>
            </a:fld>
            <a:endParaRPr lang="en-CN"/>
          </a:p>
        </p:txBody>
      </p:sp>
      <p:sp>
        <p:nvSpPr>
          <p:cNvPr id="5" name="Footer Placeholder 4">
            <a:extLst>
              <a:ext uri="{FF2B5EF4-FFF2-40B4-BE49-F238E27FC236}">
                <a16:creationId xmlns:a16="http://schemas.microsoft.com/office/drawing/2014/main" id="{B3BDB817-6A9E-8D4B-93C6-69B4752E21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23920E11-ECD6-A240-8C4D-4AA249F37A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25E0B1-8A12-D049-82EE-CBBDFA3D597D}" type="slidenum">
              <a:rPr lang="en-CN" smtClean="0"/>
              <a:t>‹#›</a:t>
            </a:fld>
            <a:endParaRPr lang="en-CN"/>
          </a:p>
        </p:txBody>
      </p:sp>
    </p:spTree>
    <p:extLst>
      <p:ext uri="{BB962C8B-B14F-4D97-AF65-F5344CB8AC3E}">
        <p14:creationId xmlns:p14="http://schemas.microsoft.com/office/powerpoint/2010/main" val="52746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2.xml"/><Relationship Id="rId5" Type="http://schemas.openxmlformats.org/officeDocument/2006/relationships/image" Target="../media/image120.png"/><Relationship Id="rId4" Type="http://schemas.openxmlformats.org/officeDocument/2006/relationships/image" Target="../media/image200.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00.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7.gif"/><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7E9A753E-B2BB-73A0-D708-B9DB8A46EE88}"/>
              </a:ext>
            </a:extLst>
          </p:cNvPr>
          <p:cNvSpPr txBox="1">
            <a:spLocks/>
          </p:cNvSpPr>
          <p:nvPr/>
        </p:nvSpPr>
        <p:spPr>
          <a:xfrm>
            <a:off x="353025" y="1007013"/>
            <a:ext cx="4540515" cy="13849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CN" sz="4000" dirty="0">
                <a:latin typeface="FangSong" panose="02010609060101010101" pitchFamily="49" charset="-122"/>
                <a:ea typeface="FangSong" panose="02010609060101010101" pitchFamily="49" charset="-122"/>
              </a:rPr>
              <a:t>Gibbs Sum</a:t>
            </a:r>
          </a:p>
          <a:p>
            <a:pPr marL="342900" indent="-342900"/>
            <a:r>
              <a:rPr lang="en-CN" sz="4000" dirty="0">
                <a:latin typeface="FangSong" panose="02010609060101010101" pitchFamily="49" charset="-122"/>
                <a:ea typeface="FangSong" panose="02010609060101010101" pitchFamily="49" charset="-122"/>
              </a:rPr>
              <a:t>量子统计(绪论)</a:t>
            </a:r>
          </a:p>
        </p:txBody>
      </p:sp>
      <p:sp>
        <p:nvSpPr>
          <p:cNvPr id="5" name="Title 1">
            <a:extLst>
              <a:ext uri="{FF2B5EF4-FFF2-40B4-BE49-F238E27FC236}">
                <a16:creationId xmlns:a16="http://schemas.microsoft.com/office/drawing/2014/main" id="{8847DE2F-43E7-74A8-4464-DD359EB64992}"/>
              </a:ext>
            </a:extLst>
          </p:cNvPr>
          <p:cNvSpPr txBox="1">
            <a:spLocks/>
          </p:cNvSpPr>
          <p:nvPr/>
        </p:nvSpPr>
        <p:spPr>
          <a:xfrm>
            <a:off x="4222620" y="100400"/>
            <a:ext cx="4410741" cy="906613"/>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（第六七周尾巴）</a:t>
            </a:r>
            <a:endParaRPr lang="en-CN" dirty="0">
              <a:latin typeface="FangSong" panose="02010609060101010101" pitchFamily="49" charset="-122"/>
              <a:ea typeface="FangSong" panose="02010609060101010101" pitchFamily="49" charset="-122"/>
            </a:endParaRPr>
          </a:p>
        </p:txBody>
      </p:sp>
      <p:pic>
        <p:nvPicPr>
          <p:cNvPr id="2" name="Picture 1">
            <a:extLst>
              <a:ext uri="{FF2B5EF4-FFF2-40B4-BE49-F238E27FC236}">
                <a16:creationId xmlns:a16="http://schemas.microsoft.com/office/drawing/2014/main" id="{38A2E10A-F554-6211-2467-3D97E8F542E3}"/>
              </a:ext>
            </a:extLst>
          </p:cNvPr>
          <p:cNvPicPr>
            <a:picLocks noChangeAspect="1"/>
          </p:cNvPicPr>
          <p:nvPr/>
        </p:nvPicPr>
        <p:blipFill>
          <a:blip r:embed="rId2"/>
          <a:stretch>
            <a:fillRect/>
          </a:stretch>
        </p:blipFill>
        <p:spPr>
          <a:xfrm rot="10800000">
            <a:off x="5550794" y="1007012"/>
            <a:ext cx="5438170" cy="4078628"/>
          </a:xfrm>
          <a:prstGeom prst="rect">
            <a:avLst/>
          </a:prstGeom>
        </p:spPr>
      </p:pic>
      <p:sp>
        <p:nvSpPr>
          <p:cNvPr id="6" name="TextBox 5">
            <a:extLst>
              <a:ext uri="{FF2B5EF4-FFF2-40B4-BE49-F238E27FC236}">
                <a16:creationId xmlns:a16="http://schemas.microsoft.com/office/drawing/2014/main" id="{B3E1637A-393D-E456-595F-1B0D0EC2417D}"/>
              </a:ext>
            </a:extLst>
          </p:cNvPr>
          <p:cNvSpPr txBox="1"/>
          <p:nvPr/>
        </p:nvSpPr>
        <p:spPr>
          <a:xfrm>
            <a:off x="8388473" y="4531643"/>
            <a:ext cx="2484581" cy="369332"/>
          </a:xfrm>
          <a:prstGeom prst="rect">
            <a:avLst/>
          </a:prstGeom>
          <a:noFill/>
        </p:spPr>
        <p:txBody>
          <a:bodyPr wrap="square" rtlCol="0">
            <a:spAutoFit/>
          </a:bodyPr>
          <a:lstStyle/>
          <a:p>
            <a:r>
              <a:rPr lang="zh-CN" altLang="en-US" dirty="0">
                <a:solidFill>
                  <a:schemeClr val="bg1"/>
                </a:solidFill>
              </a:rPr>
              <a:t>风乍起，吹皱半池春水</a:t>
            </a:r>
            <a:endParaRPr lang="en-CN" dirty="0">
              <a:solidFill>
                <a:schemeClr val="bg1"/>
              </a:solidFill>
            </a:endParaRPr>
          </a:p>
        </p:txBody>
      </p:sp>
    </p:spTree>
    <p:extLst>
      <p:ext uri="{BB962C8B-B14F-4D97-AF65-F5344CB8AC3E}">
        <p14:creationId xmlns:p14="http://schemas.microsoft.com/office/powerpoint/2010/main" val="2991756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8EC49C-2689-2844-9D92-6B344E2C1619}"/>
              </a:ext>
            </a:extLst>
          </p:cNvPr>
          <p:cNvSpPr txBox="1"/>
          <p:nvPr/>
        </p:nvSpPr>
        <p:spPr>
          <a:xfrm>
            <a:off x="374073" y="1642045"/>
            <a:ext cx="10065327" cy="707886"/>
          </a:xfrm>
          <a:prstGeom prst="rect">
            <a:avLst/>
          </a:prstGeom>
          <a:noFill/>
        </p:spPr>
        <p:txBody>
          <a:bodyPr wrap="square" rtlCol="0">
            <a:spAutoFit/>
          </a:bodyPr>
          <a:lstStyle/>
          <a:p>
            <a:pPr marL="571500" indent="-571500">
              <a:buFont typeface="Arial" panose="020B0604020202020204" pitchFamily="34" charset="0"/>
              <a:buChar char="•"/>
            </a:pPr>
            <a:r>
              <a:rPr lang="en-CN" sz="4000" dirty="0"/>
              <a:t>Gibbs Sum=Grand Partition Function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87E2FA2-0757-2B41-A5D8-82F4568E09B1}"/>
                  </a:ext>
                </a:extLst>
              </p:cNvPr>
              <p:cNvSpPr txBox="1"/>
              <p:nvPr/>
            </p:nvSpPr>
            <p:spPr>
              <a:xfrm>
                <a:off x="734292" y="2463867"/>
                <a:ext cx="11333018" cy="149861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CN" sz="3200" i="1" smtClean="0">
                          <a:latin typeface="Cambria Math" panose="02040503050406030204" pitchFamily="18" charset="0"/>
                          <a:ea typeface="Cambria Math" panose="02040503050406030204" pitchFamily="18" charset="0"/>
                        </a:rPr>
                        <m:t>𝒵</m:t>
                      </m:r>
                      <m:d>
                        <m:dPr>
                          <m:ctrlPr>
                            <a:rPr lang="en-US" sz="3200" b="0" i="1" smtClean="0">
                              <a:latin typeface="Cambria Math" panose="02040503050406030204" pitchFamily="18" charset="0"/>
                              <a:ea typeface="Cambria Math" panose="02040503050406030204" pitchFamily="18" charset="0"/>
                            </a:rPr>
                          </m:ctrlPr>
                        </m:dPr>
                        <m:e>
                          <m:r>
                            <a:rPr lang="en-US" sz="3200" b="0" i="1" smtClean="0">
                              <a:latin typeface="Cambria Math" panose="02040503050406030204" pitchFamily="18" charset="0"/>
                              <a:ea typeface="Cambria Math" panose="02040503050406030204" pitchFamily="18" charset="0"/>
                            </a:rPr>
                            <m:t>𝜇</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𝜏</m:t>
                          </m:r>
                        </m:e>
                      </m:d>
                      <m:r>
                        <a:rPr lang="en-US" sz="3200" b="0" i="1" smtClean="0">
                          <a:latin typeface="Cambria Math" panose="02040503050406030204" pitchFamily="18" charset="0"/>
                          <a:ea typeface="Cambria Math" panose="02040503050406030204" pitchFamily="18" charset="0"/>
                        </a:rPr>
                        <m:t>=</m:t>
                      </m:r>
                      <m:nary>
                        <m:naryPr>
                          <m:chr m:val="∑"/>
                          <m:ctrlPr>
                            <a:rPr lang="en-US" sz="3200" b="0" i="1" smtClean="0">
                              <a:latin typeface="Cambria Math" panose="02040503050406030204" pitchFamily="18" charset="0"/>
                              <a:ea typeface="Cambria Math" panose="02040503050406030204" pitchFamily="18" charset="0"/>
                            </a:rPr>
                          </m:ctrlPr>
                        </m:naryPr>
                        <m:sub>
                          <m:r>
                            <m:rPr>
                              <m:brk m:alnAt="23"/>
                            </m:rPr>
                            <a:rPr lang="en-US" sz="3200" b="0" i="1" smtClean="0">
                              <a:latin typeface="Cambria Math" panose="02040503050406030204" pitchFamily="18" charset="0"/>
                              <a:ea typeface="Cambria Math" panose="02040503050406030204" pitchFamily="18" charset="0"/>
                            </a:rPr>
                            <m:t>𝑁</m:t>
                          </m:r>
                          <m:r>
                            <a:rPr lang="en-US" sz="3200" b="0" i="1" smtClean="0">
                              <a:latin typeface="Cambria Math" panose="02040503050406030204" pitchFamily="18" charset="0"/>
                              <a:ea typeface="Cambria Math" panose="02040503050406030204" pitchFamily="18" charset="0"/>
                            </a:rPr>
                            <m:t>=0</m:t>
                          </m:r>
                        </m:sub>
                        <m:sup>
                          <m:r>
                            <a:rPr lang="en-US" sz="3200" b="0" i="1" smtClean="0">
                              <a:latin typeface="Cambria Math" panose="02040503050406030204" pitchFamily="18" charset="0"/>
                              <a:ea typeface="Cambria Math" panose="02040503050406030204" pitchFamily="18" charset="0"/>
                            </a:rPr>
                            <m:t>∞</m:t>
                          </m:r>
                        </m:sup>
                        <m:e>
                          <m:nary>
                            <m:naryPr>
                              <m:chr m:val="∑"/>
                              <m:supHide m:val="on"/>
                              <m:ctrlPr>
                                <a:rPr lang="en-US" sz="3200" b="0" i="1" smtClean="0">
                                  <a:latin typeface="Cambria Math" panose="02040503050406030204" pitchFamily="18" charset="0"/>
                                  <a:ea typeface="Cambria Math" panose="02040503050406030204" pitchFamily="18" charset="0"/>
                                </a:rPr>
                              </m:ctrlPr>
                            </m:naryPr>
                            <m:sub>
                              <m:r>
                                <m:rPr>
                                  <m:brk m:alnAt="7"/>
                                </m:rPr>
                                <a:rPr lang="en-US" sz="3200" b="0" i="1" smtClean="0">
                                  <a:latin typeface="Cambria Math" panose="02040503050406030204" pitchFamily="18" charset="0"/>
                                  <a:ea typeface="Cambria Math" panose="02040503050406030204" pitchFamily="18" charset="0"/>
                                </a:rPr>
                                <m:t>𝑠</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𝑁</m:t>
                              </m:r>
                              <m:r>
                                <a:rPr lang="en-US" sz="3200" b="0" i="1" smtClean="0">
                                  <a:latin typeface="Cambria Math" panose="02040503050406030204" pitchFamily="18" charset="0"/>
                                  <a:ea typeface="Cambria Math" panose="02040503050406030204" pitchFamily="18" charset="0"/>
                                </a:rPr>
                                <m:t>)</m:t>
                              </m:r>
                            </m:sub>
                            <m:sup/>
                            <m:e>
                              <m:sSup>
                                <m:sSupPr>
                                  <m:ctrlPr>
                                    <a:rPr lang="en-US" sz="3200" b="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𝑒</m:t>
                                  </m:r>
                                </m:e>
                                <m:sup>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𝑁</m:t>
                                  </m:r>
                                  <m:r>
                                    <a:rPr lang="en-US" sz="3200" b="0" i="1" smtClean="0">
                                      <a:latin typeface="Cambria Math" panose="02040503050406030204" pitchFamily="18" charset="0"/>
                                      <a:ea typeface="Cambria Math" panose="02040503050406030204" pitchFamily="18" charset="0"/>
                                    </a:rPr>
                                    <m:t>𝜇</m:t>
                                  </m:r>
                                  <m:r>
                                    <a:rPr lang="en-US" sz="3200" b="0" i="1" smtClean="0">
                                      <a:latin typeface="Cambria Math" panose="02040503050406030204" pitchFamily="18" charset="0"/>
                                      <a:ea typeface="Cambria Math" panose="02040503050406030204" pitchFamily="18" charset="0"/>
                                    </a:rPr>
                                    <m:t>−</m:t>
                                  </m:r>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𝜀</m:t>
                                      </m:r>
                                    </m:e>
                                    <m:sub>
                                      <m:r>
                                        <a:rPr lang="en-US" sz="3200" b="0" i="1" smtClean="0">
                                          <a:latin typeface="Cambria Math" panose="02040503050406030204" pitchFamily="18" charset="0"/>
                                          <a:ea typeface="Cambria Math" panose="02040503050406030204" pitchFamily="18" charset="0"/>
                                        </a:rPr>
                                        <m:t>𝑠</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𝑁</m:t>
                                      </m:r>
                                      <m:r>
                                        <a:rPr lang="en-US" sz="3200" b="0" i="1" smtClean="0">
                                          <a:latin typeface="Cambria Math" panose="02040503050406030204" pitchFamily="18" charset="0"/>
                                          <a:ea typeface="Cambria Math" panose="02040503050406030204" pitchFamily="18" charset="0"/>
                                        </a:rPr>
                                        <m:t>)</m:t>
                                      </m:r>
                                    </m:sub>
                                  </m:sSub>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𝜏</m:t>
                                  </m:r>
                                </m:sup>
                              </m:sSup>
                            </m:e>
                          </m:nary>
                          <m:r>
                            <a:rPr lang="en-US" sz="3200" b="0" i="1" smtClean="0">
                              <a:latin typeface="Cambria Math" panose="02040503050406030204" pitchFamily="18" charset="0"/>
                              <a:ea typeface="Cambria Math" panose="02040503050406030204" pitchFamily="18" charset="0"/>
                            </a:rPr>
                            <m:t>=</m:t>
                          </m:r>
                          <m:nary>
                            <m:naryPr>
                              <m:chr m:val="∑"/>
                              <m:supHide m:val="on"/>
                              <m:ctrlPr>
                                <a:rPr lang="en-US" sz="3200" b="0" i="1" smtClean="0">
                                  <a:latin typeface="Cambria Math" panose="02040503050406030204" pitchFamily="18" charset="0"/>
                                  <a:ea typeface="Cambria Math" panose="02040503050406030204" pitchFamily="18" charset="0"/>
                                </a:rPr>
                              </m:ctrlPr>
                            </m:naryPr>
                            <m:sub>
                              <m:r>
                                <m:rPr>
                                  <m:brk m:alnAt="7"/>
                                </m:rPr>
                                <a:rPr lang="en-US" sz="3200" b="0" i="1" smtClean="0">
                                  <a:latin typeface="Cambria Math" panose="02040503050406030204" pitchFamily="18" charset="0"/>
                                  <a:ea typeface="Cambria Math" panose="02040503050406030204" pitchFamily="18" charset="0"/>
                                </a:rPr>
                                <m:t>𝐴</m:t>
                              </m:r>
                              <m:r>
                                <a:rPr lang="en-US" sz="3200" b="0" i="1" smtClean="0">
                                  <a:latin typeface="Cambria Math" panose="02040503050406030204" pitchFamily="18" charset="0"/>
                                  <a:ea typeface="Cambria Math" panose="02040503050406030204" pitchFamily="18" charset="0"/>
                                </a:rPr>
                                <m:t>𝑆𝑁</m:t>
                              </m:r>
                            </m:sub>
                            <m:sup/>
                            <m:e>
                              <m:sSup>
                                <m:sSupPr>
                                  <m:ctrlPr>
                                    <a:rPr lang="en-US" sz="3200" i="1">
                                      <a:latin typeface="Cambria Math" panose="02040503050406030204" pitchFamily="18" charset="0"/>
                                      <a:ea typeface="Cambria Math" panose="02040503050406030204" pitchFamily="18" charset="0"/>
                                    </a:rPr>
                                  </m:ctrlPr>
                                </m:sSupPr>
                                <m:e>
                                  <m:r>
                                    <a:rPr lang="en-US" sz="3200" i="1">
                                      <a:latin typeface="Cambria Math" panose="02040503050406030204" pitchFamily="18" charset="0"/>
                                      <a:ea typeface="Cambria Math" panose="02040503050406030204" pitchFamily="18" charset="0"/>
                                    </a:rPr>
                                    <m:t>𝑒</m:t>
                                  </m:r>
                                </m:e>
                                <m:sup>
                                  <m:r>
                                    <a:rPr lang="en-US" sz="3200" i="1">
                                      <a:latin typeface="Cambria Math" panose="02040503050406030204" pitchFamily="18" charset="0"/>
                                      <a:ea typeface="Cambria Math" panose="02040503050406030204" pitchFamily="18" charset="0"/>
                                    </a:rPr>
                                    <m:t>(</m:t>
                                  </m:r>
                                  <m:r>
                                    <a:rPr lang="en-US" sz="3200" i="1">
                                      <a:latin typeface="Cambria Math" panose="02040503050406030204" pitchFamily="18" charset="0"/>
                                      <a:ea typeface="Cambria Math" panose="02040503050406030204" pitchFamily="18" charset="0"/>
                                    </a:rPr>
                                    <m:t>𝑁</m:t>
                                  </m:r>
                                  <m:r>
                                    <a:rPr lang="en-US" sz="3200" i="1">
                                      <a:latin typeface="Cambria Math" panose="02040503050406030204" pitchFamily="18" charset="0"/>
                                      <a:ea typeface="Cambria Math" panose="02040503050406030204" pitchFamily="18" charset="0"/>
                                    </a:rPr>
                                    <m:t>𝜇</m:t>
                                  </m:r>
                                  <m:r>
                                    <a:rPr lang="en-US" sz="3200" i="1">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𝜀</m:t>
                                      </m:r>
                                    </m:e>
                                    <m:sub>
                                      <m:r>
                                        <a:rPr lang="en-US" sz="3200" i="1">
                                          <a:latin typeface="Cambria Math" panose="02040503050406030204" pitchFamily="18" charset="0"/>
                                          <a:ea typeface="Cambria Math" panose="02040503050406030204" pitchFamily="18" charset="0"/>
                                        </a:rPr>
                                        <m:t>𝑠</m:t>
                                      </m:r>
                                      <m:r>
                                        <a:rPr lang="en-US" sz="3200" i="1">
                                          <a:latin typeface="Cambria Math" panose="02040503050406030204" pitchFamily="18" charset="0"/>
                                          <a:ea typeface="Cambria Math" panose="02040503050406030204" pitchFamily="18" charset="0"/>
                                        </a:rPr>
                                        <m:t>(</m:t>
                                      </m:r>
                                      <m:r>
                                        <a:rPr lang="en-US" sz="3200" i="1">
                                          <a:latin typeface="Cambria Math" panose="02040503050406030204" pitchFamily="18" charset="0"/>
                                          <a:ea typeface="Cambria Math" panose="02040503050406030204" pitchFamily="18" charset="0"/>
                                        </a:rPr>
                                        <m:t>𝑁</m:t>
                                      </m:r>
                                      <m:r>
                                        <a:rPr lang="en-US" sz="3200" i="1">
                                          <a:latin typeface="Cambria Math" panose="02040503050406030204" pitchFamily="18" charset="0"/>
                                          <a:ea typeface="Cambria Math" panose="02040503050406030204" pitchFamily="18" charset="0"/>
                                        </a:rPr>
                                        <m:t>)</m:t>
                                      </m:r>
                                    </m:sub>
                                  </m:sSub>
                                  <m:r>
                                    <a:rPr lang="en-US" sz="3200" i="1">
                                      <a:latin typeface="Cambria Math" panose="02040503050406030204" pitchFamily="18" charset="0"/>
                                      <a:ea typeface="Cambria Math" panose="02040503050406030204" pitchFamily="18" charset="0"/>
                                    </a:rPr>
                                    <m:t>)/</m:t>
                                  </m:r>
                                  <m:r>
                                    <a:rPr lang="en-US" sz="3200" i="1">
                                      <a:latin typeface="Cambria Math" panose="02040503050406030204" pitchFamily="18" charset="0"/>
                                      <a:ea typeface="Cambria Math" panose="02040503050406030204" pitchFamily="18" charset="0"/>
                                    </a:rPr>
                                    <m:t>𝜏</m:t>
                                  </m:r>
                                </m:sup>
                              </m:sSup>
                            </m:e>
                          </m:nary>
                        </m:e>
                      </m:nary>
                    </m:oMath>
                  </m:oMathPara>
                </a14:m>
                <a:endParaRPr lang="en-CN" sz="3200" dirty="0"/>
              </a:p>
            </p:txBody>
          </p:sp>
        </mc:Choice>
        <mc:Fallback xmlns="">
          <p:sp>
            <p:nvSpPr>
              <p:cNvPr id="6" name="TextBox 5">
                <a:extLst>
                  <a:ext uri="{FF2B5EF4-FFF2-40B4-BE49-F238E27FC236}">
                    <a16:creationId xmlns:a16="http://schemas.microsoft.com/office/drawing/2014/main" id="{287E2FA2-0757-2B41-A5D8-82F4568E09B1}"/>
                  </a:ext>
                </a:extLst>
              </p:cNvPr>
              <p:cNvSpPr txBox="1">
                <a:spLocks noRot="1" noChangeAspect="1" noMove="1" noResize="1" noEditPoints="1" noAdjustHandles="1" noChangeArrowheads="1" noChangeShapeType="1" noTextEdit="1"/>
              </p:cNvSpPr>
              <p:nvPr/>
            </p:nvSpPr>
            <p:spPr>
              <a:xfrm>
                <a:off x="734292" y="2463867"/>
                <a:ext cx="11333018" cy="1498615"/>
              </a:xfrm>
              <a:prstGeom prst="rect">
                <a:avLst/>
              </a:prstGeom>
              <a:blipFill>
                <a:blip r:embed="rId2"/>
                <a:stretch>
                  <a:fillRect t="-104202" b="-155462"/>
                </a:stretch>
              </a:blipFill>
            </p:spPr>
            <p:txBody>
              <a:bodyPr/>
              <a:lstStyle/>
              <a:p>
                <a:r>
                  <a:rPr lang="en-CN">
                    <a:noFill/>
                  </a:rPr>
                  <a:t> </a:t>
                </a:r>
              </a:p>
            </p:txBody>
          </p:sp>
        </mc:Fallback>
      </mc:AlternateContent>
      <p:sp>
        <p:nvSpPr>
          <p:cNvPr id="10" name="TextBox 9">
            <a:extLst>
              <a:ext uri="{FF2B5EF4-FFF2-40B4-BE49-F238E27FC236}">
                <a16:creationId xmlns:a16="http://schemas.microsoft.com/office/drawing/2014/main" id="{FF74A812-4BFF-B440-A3FA-F59FA2AF5805}"/>
              </a:ext>
            </a:extLst>
          </p:cNvPr>
          <p:cNvSpPr txBox="1"/>
          <p:nvPr/>
        </p:nvSpPr>
        <p:spPr>
          <a:xfrm>
            <a:off x="446810" y="4188897"/>
            <a:ext cx="11620500" cy="1323439"/>
          </a:xfrm>
          <a:prstGeom prst="rect">
            <a:avLst/>
          </a:prstGeom>
          <a:noFill/>
        </p:spPr>
        <p:txBody>
          <a:bodyPr wrap="square" rtlCol="0">
            <a:spAutoFit/>
          </a:bodyPr>
          <a:lstStyle/>
          <a:p>
            <a:pPr marL="571500" indent="-571500">
              <a:buFont typeface="Arial" panose="020B0604020202020204" pitchFamily="34" charset="0"/>
              <a:buChar char="•"/>
            </a:pPr>
            <a:r>
              <a:rPr lang="en-CN" sz="4000" dirty="0"/>
              <a:t>Probability of having N particles, and being in the state “s”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7D13E06-F7D9-F347-9768-1CAE440310F6}"/>
                  </a:ext>
                </a:extLst>
              </p:cNvPr>
              <p:cNvSpPr txBox="1"/>
              <p:nvPr/>
            </p:nvSpPr>
            <p:spPr>
              <a:xfrm>
                <a:off x="3768436" y="5242962"/>
                <a:ext cx="4655127" cy="11169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FF0000"/>
                          </a:solidFill>
                          <a:latin typeface="Cambria Math" panose="02040503050406030204" pitchFamily="18" charset="0"/>
                        </a:rPr>
                        <m:t>𝑃</m:t>
                      </m:r>
                      <m:d>
                        <m:dPr>
                          <m:ctrlPr>
                            <a:rPr lang="en-US" sz="3200" b="0" i="1" smtClean="0">
                              <a:solidFill>
                                <a:srgbClr val="FF0000"/>
                              </a:solidFill>
                              <a:latin typeface="Cambria Math" panose="02040503050406030204" pitchFamily="18" charset="0"/>
                            </a:rPr>
                          </m:ctrlPr>
                        </m:dPr>
                        <m:e>
                          <m:r>
                            <a:rPr lang="en-US" sz="3200" b="0" i="1" smtClean="0">
                              <a:solidFill>
                                <a:srgbClr val="FF0000"/>
                              </a:solidFill>
                              <a:latin typeface="Cambria Math" panose="02040503050406030204" pitchFamily="18" charset="0"/>
                            </a:rPr>
                            <m:t>𝑁</m:t>
                          </m:r>
                          <m:r>
                            <a:rPr lang="en-US" sz="3200" b="0" i="1" smtClean="0">
                              <a:solidFill>
                                <a:srgbClr val="FF0000"/>
                              </a:solidFill>
                              <a:latin typeface="Cambria Math" panose="02040503050406030204" pitchFamily="18" charset="0"/>
                            </a:rPr>
                            <m:t>,</m:t>
                          </m:r>
                          <m:r>
                            <a:rPr lang="en-US" sz="3200" b="0" i="1" smtClean="0">
                              <a:solidFill>
                                <a:srgbClr val="FF0000"/>
                              </a:solidFill>
                              <a:latin typeface="Cambria Math" panose="02040503050406030204" pitchFamily="18" charset="0"/>
                            </a:rPr>
                            <m:t>𝑠</m:t>
                          </m:r>
                        </m:e>
                      </m:d>
                      <m:r>
                        <a:rPr lang="en-US" sz="3200" b="0" i="1" smtClean="0">
                          <a:solidFill>
                            <a:srgbClr val="FF0000"/>
                          </a:solidFill>
                          <a:latin typeface="Cambria Math" panose="02040503050406030204" pitchFamily="18" charset="0"/>
                        </a:rPr>
                        <m:t>=</m:t>
                      </m:r>
                      <m:f>
                        <m:fPr>
                          <m:ctrlPr>
                            <a:rPr lang="en-US" sz="3200" b="0" i="1" smtClean="0">
                              <a:solidFill>
                                <a:srgbClr val="FF0000"/>
                              </a:solidFill>
                              <a:latin typeface="Cambria Math" panose="02040503050406030204" pitchFamily="18" charset="0"/>
                            </a:rPr>
                          </m:ctrlPr>
                        </m:fPr>
                        <m:num>
                          <m:sSup>
                            <m:sSupPr>
                              <m:ctrlPr>
                                <a:rPr lang="en-US" sz="3200" i="1">
                                  <a:solidFill>
                                    <a:srgbClr val="FF0000"/>
                                  </a:solidFill>
                                  <a:latin typeface="Cambria Math" panose="02040503050406030204" pitchFamily="18" charset="0"/>
                                  <a:ea typeface="Cambria Math" panose="02040503050406030204" pitchFamily="18" charset="0"/>
                                </a:rPr>
                              </m:ctrlPr>
                            </m:sSupPr>
                            <m:e>
                              <m:r>
                                <a:rPr lang="en-US" sz="3200" i="1">
                                  <a:solidFill>
                                    <a:srgbClr val="FF0000"/>
                                  </a:solidFill>
                                  <a:latin typeface="Cambria Math" panose="02040503050406030204" pitchFamily="18" charset="0"/>
                                  <a:ea typeface="Cambria Math" panose="02040503050406030204" pitchFamily="18" charset="0"/>
                                </a:rPr>
                                <m:t>𝑒</m:t>
                              </m:r>
                            </m:e>
                            <m:sup>
                              <m:r>
                                <a:rPr lang="en-US" sz="3200" i="1">
                                  <a:solidFill>
                                    <a:srgbClr val="FF0000"/>
                                  </a:solidFill>
                                  <a:latin typeface="Cambria Math" panose="02040503050406030204" pitchFamily="18" charset="0"/>
                                  <a:ea typeface="Cambria Math" panose="02040503050406030204" pitchFamily="18" charset="0"/>
                                </a:rPr>
                                <m:t>(</m:t>
                              </m:r>
                              <m:r>
                                <a:rPr lang="en-US" sz="3200" i="1">
                                  <a:solidFill>
                                    <a:srgbClr val="FF0000"/>
                                  </a:solidFill>
                                  <a:latin typeface="Cambria Math" panose="02040503050406030204" pitchFamily="18" charset="0"/>
                                  <a:ea typeface="Cambria Math" panose="02040503050406030204" pitchFamily="18" charset="0"/>
                                </a:rPr>
                                <m:t>𝑁</m:t>
                              </m:r>
                              <m:r>
                                <a:rPr lang="en-US" sz="3200" i="1">
                                  <a:solidFill>
                                    <a:srgbClr val="FF0000"/>
                                  </a:solidFill>
                                  <a:latin typeface="Cambria Math" panose="02040503050406030204" pitchFamily="18" charset="0"/>
                                  <a:ea typeface="Cambria Math" panose="02040503050406030204" pitchFamily="18" charset="0"/>
                                </a:rPr>
                                <m:t>𝜇</m:t>
                              </m:r>
                              <m:r>
                                <a:rPr lang="en-US" sz="3200" i="1">
                                  <a:solidFill>
                                    <a:srgbClr val="FF0000"/>
                                  </a:solidFill>
                                  <a:latin typeface="Cambria Math" panose="02040503050406030204" pitchFamily="18" charset="0"/>
                                  <a:ea typeface="Cambria Math" panose="02040503050406030204" pitchFamily="18" charset="0"/>
                                </a:rPr>
                                <m:t>−</m:t>
                              </m:r>
                              <m:sSub>
                                <m:sSubPr>
                                  <m:ctrlPr>
                                    <a:rPr lang="en-US" sz="3200" i="1">
                                      <a:solidFill>
                                        <a:srgbClr val="FF0000"/>
                                      </a:solidFill>
                                      <a:latin typeface="Cambria Math" panose="02040503050406030204" pitchFamily="18" charset="0"/>
                                      <a:ea typeface="Cambria Math" panose="02040503050406030204" pitchFamily="18" charset="0"/>
                                    </a:rPr>
                                  </m:ctrlPr>
                                </m:sSubPr>
                                <m:e>
                                  <m:r>
                                    <a:rPr lang="en-US" sz="3200" i="1">
                                      <a:solidFill>
                                        <a:srgbClr val="FF0000"/>
                                      </a:solidFill>
                                      <a:latin typeface="Cambria Math" panose="02040503050406030204" pitchFamily="18" charset="0"/>
                                      <a:ea typeface="Cambria Math" panose="02040503050406030204" pitchFamily="18" charset="0"/>
                                    </a:rPr>
                                    <m:t>𝜀</m:t>
                                  </m:r>
                                </m:e>
                                <m:sub>
                                  <m:r>
                                    <a:rPr lang="en-US" sz="3200" i="1">
                                      <a:solidFill>
                                        <a:srgbClr val="FF0000"/>
                                      </a:solidFill>
                                      <a:latin typeface="Cambria Math" panose="02040503050406030204" pitchFamily="18" charset="0"/>
                                      <a:ea typeface="Cambria Math" panose="02040503050406030204" pitchFamily="18" charset="0"/>
                                    </a:rPr>
                                    <m:t>𝑠</m:t>
                                  </m:r>
                                  <m:r>
                                    <a:rPr lang="en-US" sz="3200" i="1">
                                      <a:solidFill>
                                        <a:srgbClr val="FF0000"/>
                                      </a:solidFill>
                                      <a:latin typeface="Cambria Math" panose="02040503050406030204" pitchFamily="18" charset="0"/>
                                      <a:ea typeface="Cambria Math" panose="02040503050406030204" pitchFamily="18" charset="0"/>
                                    </a:rPr>
                                    <m:t>(</m:t>
                                  </m:r>
                                  <m:r>
                                    <a:rPr lang="en-US" sz="3200" i="1">
                                      <a:solidFill>
                                        <a:srgbClr val="FF0000"/>
                                      </a:solidFill>
                                      <a:latin typeface="Cambria Math" panose="02040503050406030204" pitchFamily="18" charset="0"/>
                                      <a:ea typeface="Cambria Math" panose="02040503050406030204" pitchFamily="18" charset="0"/>
                                    </a:rPr>
                                    <m:t>𝑁</m:t>
                                  </m:r>
                                  <m:r>
                                    <a:rPr lang="en-US" sz="3200" i="1">
                                      <a:solidFill>
                                        <a:srgbClr val="FF0000"/>
                                      </a:solidFill>
                                      <a:latin typeface="Cambria Math" panose="02040503050406030204" pitchFamily="18" charset="0"/>
                                      <a:ea typeface="Cambria Math" panose="02040503050406030204" pitchFamily="18" charset="0"/>
                                    </a:rPr>
                                    <m:t>)</m:t>
                                  </m:r>
                                </m:sub>
                              </m:sSub>
                              <m:r>
                                <a:rPr lang="en-US" sz="3200" i="1">
                                  <a:solidFill>
                                    <a:srgbClr val="FF0000"/>
                                  </a:solidFill>
                                  <a:latin typeface="Cambria Math" panose="02040503050406030204" pitchFamily="18" charset="0"/>
                                  <a:ea typeface="Cambria Math" panose="02040503050406030204" pitchFamily="18" charset="0"/>
                                </a:rPr>
                                <m:t>)/</m:t>
                              </m:r>
                              <m:r>
                                <a:rPr lang="en-US" sz="3200" i="1">
                                  <a:solidFill>
                                    <a:srgbClr val="FF0000"/>
                                  </a:solidFill>
                                  <a:latin typeface="Cambria Math" panose="02040503050406030204" pitchFamily="18" charset="0"/>
                                  <a:ea typeface="Cambria Math" panose="02040503050406030204" pitchFamily="18" charset="0"/>
                                </a:rPr>
                                <m:t>𝜏</m:t>
                              </m:r>
                            </m:sup>
                          </m:sSup>
                        </m:num>
                        <m:den>
                          <m:r>
                            <a:rPr lang="en-US" sz="3200" b="0" i="1" smtClean="0">
                              <a:solidFill>
                                <a:srgbClr val="FF0000"/>
                              </a:solidFill>
                              <a:latin typeface="Cambria Math" panose="02040503050406030204" pitchFamily="18" charset="0"/>
                              <a:ea typeface="Cambria Math" panose="02040503050406030204" pitchFamily="18" charset="0"/>
                            </a:rPr>
                            <m:t>𝒵</m:t>
                          </m:r>
                        </m:den>
                      </m:f>
                    </m:oMath>
                  </m:oMathPara>
                </a14:m>
                <a:endParaRPr lang="en-CN" sz="3200" dirty="0"/>
              </a:p>
            </p:txBody>
          </p:sp>
        </mc:Choice>
        <mc:Fallback xmlns="">
          <p:sp>
            <p:nvSpPr>
              <p:cNvPr id="11" name="TextBox 10">
                <a:extLst>
                  <a:ext uri="{FF2B5EF4-FFF2-40B4-BE49-F238E27FC236}">
                    <a16:creationId xmlns:a16="http://schemas.microsoft.com/office/drawing/2014/main" id="{C7D13E06-F7D9-F347-9768-1CAE440310F6}"/>
                  </a:ext>
                </a:extLst>
              </p:cNvPr>
              <p:cNvSpPr txBox="1">
                <a:spLocks noRot="1" noChangeAspect="1" noMove="1" noResize="1" noEditPoints="1" noAdjustHandles="1" noChangeArrowheads="1" noChangeShapeType="1" noTextEdit="1"/>
              </p:cNvSpPr>
              <p:nvPr/>
            </p:nvSpPr>
            <p:spPr>
              <a:xfrm>
                <a:off x="3768436" y="5242962"/>
                <a:ext cx="4655127" cy="1116972"/>
              </a:xfrm>
              <a:prstGeom prst="rect">
                <a:avLst/>
              </a:prstGeom>
              <a:blipFill>
                <a:blip r:embed="rId3"/>
                <a:stretch>
                  <a:fillRect b="-6742"/>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9656FB51-442B-846E-02CD-486C36FF7F95}"/>
              </a:ext>
            </a:extLst>
          </p:cNvPr>
          <p:cNvSpPr txBox="1"/>
          <p:nvPr/>
        </p:nvSpPr>
        <p:spPr>
          <a:xfrm>
            <a:off x="374073" y="205748"/>
            <a:ext cx="4745182" cy="707886"/>
          </a:xfrm>
          <a:prstGeom prst="rect">
            <a:avLst/>
          </a:prstGeom>
          <a:noFill/>
        </p:spPr>
        <p:txBody>
          <a:bodyPr wrap="square" rtlCol="0">
            <a:spAutoFit/>
          </a:bodyPr>
          <a:lstStyle/>
          <a:p>
            <a:pPr marL="571500" indent="-571500">
              <a:buFont typeface="Arial" panose="020B0604020202020204" pitchFamily="34" charset="0"/>
              <a:buChar char="•"/>
            </a:pPr>
            <a:r>
              <a:rPr lang="en-CN" sz="4000" dirty="0"/>
              <a:t>Gibbs Factor</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A1E36FB-1285-1242-FA21-8558039B3E6F}"/>
                  </a:ext>
                </a:extLst>
              </p:cNvPr>
              <p:cNvSpPr txBox="1"/>
              <p:nvPr/>
            </p:nvSpPr>
            <p:spPr>
              <a:xfrm>
                <a:off x="3047999" y="836256"/>
                <a:ext cx="6096000" cy="7516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4000" b="0" i="1" smtClean="0">
                              <a:solidFill>
                                <a:srgbClr val="FF0000"/>
                              </a:solidFill>
                              <a:latin typeface="Cambria Math" panose="02040503050406030204" pitchFamily="18" charset="0"/>
                            </a:rPr>
                          </m:ctrlPr>
                        </m:sSupPr>
                        <m:e>
                          <m:r>
                            <a:rPr lang="en-US" sz="4000" b="0" i="1" smtClean="0">
                              <a:solidFill>
                                <a:srgbClr val="FF0000"/>
                              </a:solidFill>
                              <a:latin typeface="Cambria Math" panose="02040503050406030204" pitchFamily="18" charset="0"/>
                            </a:rPr>
                            <m:t>𝑒</m:t>
                          </m:r>
                        </m:e>
                        <m:sup>
                          <m:r>
                            <a:rPr lang="en-US"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rPr>
                            <m:t>𝑁</m:t>
                          </m:r>
                          <m:r>
                            <a:rPr lang="en-US" sz="4000" b="0" i="1" smtClean="0">
                              <a:solidFill>
                                <a:srgbClr val="FF0000"/>
                              </a:solidFill>
                              <a:latin typeface="Cambria Math" panose="02040503050406030204" pitchFamily="18" charset="0"/>
                              <a:ea typeface="Cambria Math" panose="02040503050406030204" pitchFamily="18" charset="0"/>
                            </a:rPr>
                            <m:t>𝜇</m:t>
                          </m:r>
                          <m:r>
                            <a:rPr lang="en-US" sz="4000" b="0" i="1" smtClean="0">
                              <a:solidFill>
                                <a:srgbClr val="FF0000"/>
                              </a:solidFill>
                              <a:latin typeface="Cambria Math" panose="02040503050406030204" pitchFamily="18" charset="0"/>
                              <a:ea typeface="Cambria Math" panose="02040503050406030204" pitchFamily="18" charset="0"/>
                            </a:rPr>
                            <m:t>−</m:t>
                          </m:r>
                          <m:sSub>
                            <m:sSubPr>
                              <m:ctrlPr>
                                <a:rPr lang="en-US" sz="4000" b="0" i="1" smtClean="0">
                                  <a:solidFill>
                                    <a:srgbClr val="FF0000"/>
                                  </a:solidFill>
                                  <a:latin typeface="Cambria Math" panose="02040503050406030204" pitchFamily="18" charset="0"/>
                                  <a:ea typeface="Cambria Math" panose="02040503050406030204" pitchFamily="18" charset="0"/>
                                </a:rPr>
                              </m:ctrlPr>
                            </m:sSubPr>
                            <m:e>
                              <m:r>
                                <a:rPr lang="en-US" sz="4000" b="0" i="1" smtClean="0">
                                  <a:solidFill>
                                    <a:srgbClr val="FF0000"/>
                                  </a:solidFill>
                                  <a:latin typeface="Cambria Math" panose="02040503050406030204" pitchFamily="18" charset="0"/>
                                  <a:ea typeface="Cambria Math" panose="02040503050406030204" pitchFamily="18" charset="0"/>
                                </a:rPr>
                                <m:t>𝜀</m:t>
                              </m:r>
                            </m:e>
                            <m:sub>
                              <m:r>
                                <a:rPr lang="en-US" sz="4000" b="0" i="1" smtClean="0">
                                  <a:solidFill>
                                    <a:srgbClr val="FF0000"/>
                                  </a:solidFill>
                                  <a:latin typeface="Cambria Math" panose="02040503050406030204" pitchFamily="18" charset="0"/>
                                  <a:ea typeface="Cambria Math" panose="02040503050406030204" pitchFamily="18" charset="0"/>
                                </a:rPr>
                                <m:t>𝑠</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𝑁</m:t>
                              </m:r>
                              <m:r>
                                <a:rPr lang="en-US" sz="4000" b="0" i="1" smtClean="0">
                                  <a:solidFill>
                                    <a:srgbClr val="FF0000"/>
                                  </a:solidFill>
                                  <a:latin typeface="Cambria Math" panose="02040503050406030204" pitchFamily="18" charset="0"/>
                                  <a:ea typeface="Cambria Math" panose="02040503050406030204" pitchFamily="18" charset="0"/>
                                </a:rPr>
                                <m:t>)</m:t>
                              </m:r>
                            </m:sub>
                          </m:sSub>
                          <m:r>
                            <a:rPr lang="en-US"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𝜏</m:t>
                          </m:r>
                        </m:sup>
                      </m:sSup>
                    </m:oMath>
                  </m:oMathPara>
                </a14:m>
                <a:endParaRPr lang="en-CN" sz="4000" dirty="0"/>
              </a:p>
            </p:txBody>
          </p:sp>
        </mc:Choice>
        <mc:Fallback xmlns="">
          <p:sp>
            <p:nvSpPr>
              <p:cNvPr id="3" name="TextBox 2">
                <a:extLst>
                  <a:ext uri="{FF2B5EF4-FFF2-40B4-BE49-F238E27FC236}">
                    <a16:creationId xmlns:a16="http://schemas.microsoft.com/office/drawing/2014/main" id="{6A1E36FB-1285-1242-FA21-8558039B3E6F}"/>
                  </a:ext>
                </a:extLst>
              </p:cNvPr>
              <p:cNvSpPr txBox="1">
                <a:spLocks noRot="1" noChangeAspect="1" noMove="1" noResize="1" noEditPoints="1" noAdjustHandles="1" noChangeArrowheads="1" noChangeShapeType="1" noTextEdit="1"/>
              </p:cNvSpPr>
              <p:nvPr/>
            </p:nvSpPr>
            <p:spPr>
              <a:xfrm>
                <a:off x="3047999" y="836256"/>
                <a:ext cx="6096000" cy="751681"/>
              </a:xfrm>
              <a:prstGeom prst="rect">
                <a:avLst/>
              </a:prstGeom>
              <a:blipFill>
                <a:blip r:embed="rId4"/>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208713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904AFE34-1A6A-D848-A675-F5A189C8DC34}"/>
              </a:ext>
            </a:extLst>
          </p:cNvPr>
          <p:cNvPicPr>
            <a:picLocks noChangeAspect="1"/>
          </p:cNvPicPr>
          <p:nvPr/>
        </p:nvPicPr>
        <p:blipFill>
          <a:blip r:embed="rId2"/>
          <a:stretch>
            <a:fillRect/>
          </a:stretch>
        </p:blipFill>
        <p:spPr>
          <a:xfrm>
            <a:off x="9996031" y="711321"/>
            <a:ext cx="2226879" cy="3595997"/>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FB0A48A-7AAE-F741-87B9-0AD9C270C9BC}"/>
                  </a:ext>
                </a:extLst>
              </p:cNvPr>
              <p:cNvSpPr txBox="1"/>
              <p:nvPr/>
            </p:nvSpPr>
            <p:spPr>
              <a:xfrm>
                <a:off x="2750126" y="526556"/>
                <a:ext cx="6691745" cy="7513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1</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𝑛</m:t>
                          </m:r>
                        </m:e>
                        <m:sub>
                          <m:r>
                            <a:rPr lang="en-US" sz="4000" b="0" i="1" smtClean="0">
                              <a:latin typeface="Cambria Math" panose="02040503050406030204" pitchFamily="18" charset="0"/>
                            </a:rPr>
                            <m:t>𝑄</m:t>
                          </m:r>
                        </m:sub>
                      </m:sSub>
                      <m:r>
                        <a:rPr lang="en-US" sz="4000" b="0" i="1" smtClean="0">
                          <a:latin typeface="Cambria Math" panose="02040503050406030204" pitchFamily="18" charset="0"/>
                        </a:rPr>
                        <m:t>𝑉</m:t>
                      </m:r>
                    </m:oMath>
                  </m:oMathPara>
                </a14:m>
                <a:endParaRPr lang="en-CN" sz="4000" dirty="0"/>
              </a:p>
            </p:txBody>
          </p:sp>
        </mc:Choice>
        <mc:Fallback xmlns="">
          <p:sp>
            <p:nvSpPr>
              <p:cNvPr id="2" name="TextBox 1">
                <a:extLst>
                  <a:ext uri="{FF2B5EF4-FFF2-40B4-BE49-F238E27FC236}">
                    <a16:creationId xmlns:a16="http://schemas.microsoft.com/office/drawing/2014/main" id="{3FB0A48A-7AAE-F741-87B9-0AD9C270C9BC}"/>
                  </a:ext>
                </a:extLst>
              </p:cNvPr>
              <p:cNvSpPr txBox="1">
                <a:spLocks noRot="1" noChangeAspect="1" noMove="1" noResize="1" noEditPoints="1" noAdjustHandles="1" noChangeArrowheads="1" noChangeShapeType="1" noTextEdit="1"/>
              </p:cNvSpPr>
              <p:nvPr/>
            </p:nvSpPr>
            <p:spPr>
              <a:xfrm>
                <a:off x="2750126" y="526556"/>
                <a:ext cx="6691745" cy="751360"/>
              </a:xfrm>
              <a:prstGeom prst="rect">
                <a:avLst/>
              </a:prstGeom>
              <a:blipFill>
                <a:blip r:embed="rId3"/>
                <a:stretch>
                  <a:fillRect b="-13333"/>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C4B640DA-91E0-B541-98F0-0035C894DA23}"/>
              </a:ext>
            </a:extLst>
          </p:cNvPr>
          <p:cNvSpPr txBox="1"/>
          <p:nvPr/>
        </p:nvSpPr>
        <p:spPr>
          <a:xfrm>
            <a:off x="193964" y="175553"/>
            <a:ext cx="10183091" cy="461665"/>
          </a:xfrm>
          <a:prstGeom prst="rect">
            <a:avLst/>
          </a:prstGeom>
          <a:noFill/>
        </p:spPr>
        <p:txBody>
          <a:bodyPr wrap="square" rtlCol="0">
            <a:spAutoFit/>
          </a:bodyPr>
          <a:lstStyle/>
          <a:p>
            <a:r>
              <a:rPr lang="en-CN" sz="2400" dirty="0"/>
              <a:t>The number of available single-particle states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F251F6E-2AEE-CD49-B80F-F4BC4347D51A}"/>
                  </a:ext>
                </a:extLst>
              </p:cNvPr>
              <p:cNvSpPr txBox="1"/>
              <p:nvPr/>
            </p:nvSpPr>
            <p:spPr>
              <a:xfrm>
                <a:off x="2750126" y="1296245"/>
                <a:ext cx="6691745" cy="7513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4000" i="1" smtClean="0">
                              <a:latin typeface="Cambria Math" panose="02040503050406030204" pitchFamily="18" charset="0"/>
                            </a:rPr>
                          </m:ctrlPr>
                        </m:sSubPr>
                        <m:e>
                          <m:r>
                            <a:rPr lang="en-US" sz="4000" b="0" i="1" smtClean="0">
                              <a:latin typeface="Cambria Math" panose="02040503050406030204" pitchFamily="18" charset="0"/>
                            </a:rPr>
                            <m:t>𝑍</m:t>
                          </m:r>
                        </m:e>
                        <m:sub>
                          <m:r>
                            <a:rPr lang="en-US" sz="4000" b="0" i="1" smtClean="0">
                              <a:latin typeface="Cambria Math" panose="02040503050406030204" pitchFamily="18" charset="0"/>
                            </a:rPr>
                            <m:t>1</m:t>
                          </m:r>
                        </m:sub>
                      </m:sSub>
                      <m:r>
                        <a:rPr lang="en-US" sz="4000" i="1">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𝑁</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𝑖</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𝑒</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𝑛</m:t>
                      </m:r>
                      <m:r>
                        <a:rPr lang="en-US" sz="4000" b="0" i="1" smtClean="0">
                          <a:latin typeface="Cambria Math" panose="02040503050406030204" pitchFamily="18" charset="0"/>
                          <a:ea typeface="Cambria Math" panose="02040503050406030204" pitchFamily="18" charset="0"/>
                        </a:rPr>
                        <m:t>≪</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𝑛</m:t>
                          </m:r>
                        </m:e>
                        <m:sub>
                          <m:r>
                            <a:rPr lang="en-US" sz="4000" b="0" i="1" smtClean="0">
                              <a:latin typeface="Cambria Math" panose="02040503050406030204" pitchFamily="18" charset="0"/>
                              <a:ea typeface="Cambria Math" panose="02040503050406030204" pitchFamily="18" charset="0"/>
                            </a:rPr>
                            <m:t>𝑄</m:t>
                          </m:r>
                        </m:sub>
                      </m:sSub>
                    </m:oMath>
                  </m:oMathPara>
                </a14:m>
                <a:endParaRPr lang="en-CN" sz="4000" dirty="0"/>
              </a:p>
            </p:txBody>
          </p:sp>
        </mc:Choice>
        <mc:Fallback xmlns="">
          <p:sp>
            <p:nvSpPr>
              <p:cNvPr id="4" name="TextBox 3">
                <a:extLst>
                  <a:ext uri="{FF2B5EF4-FFF2-40B4-BE49-F238E27FC236}">
                    <a16:creationId xmlns:a16="http://schemas.microsoft.com/office/drawing/2014/main" id="{DF251F6E-2AEE-CD49-B80F-F4BC4347D51A}"/>
                  </a:ext>
                </a:extLst>
              </p:cNvPr>
              <p:cNvSpPr txBox="1">
                <a:spLocks noRot="1" noChangeAspect="1" noMove="1" noResize="1" noEditPoints="1" noAdjustHandles="1" noChangeArrowheads="1" noChangeShapeType="1" noTextEdit="1"/>
              </p:cNvSpPr>
              <p:nvPr/>
            </p:nvSpPr>
            <p:spPr>
              <a:xfrm>
                <a:off x="2750126" y="1296245"/>
                <a:ext cx="6691745" cy="751360"/>
              </a:xfrm>
              <a:prstGeom prst="rect">
                <a:avLst/>
              </a:prstGeom>
              <a:blipFill>
                <a:blip r:embed="rId4"/>
                <a:stretch>
                  <a:fillRect b="-18333"/>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90EB1A3E-274F-3643-950D-1889AAEB3C51}"/>
              </a:ext>
            </a:extLst>
          </p:cNvPr>
          <p:cNvSpPr txBox="1"/>
          <p:nvPr/>
        </p:nvSpPr>
        <p:spPr>
          <a:xfrm>
            <a:off x="471052" y="2232271"/>
            <a:ext cx="11249891" cy="369332"/>
          </a:xfrm>
          <a:prstGeom prst="rect">
            <a:avLst/>
          </a:prstGeom>
          <a:noFill/>
        </p:spPr>
        <p:txBody>
          <a:bodyPr wrap="square" rtlCol="0">
            <a:spAutoFit/>
          </a:bodyPr>
          <a:lstStyle/>
          <a:p>
            <a:r>
              <a:rPr lang="en-US" dirty="0"/>
              <a:t>W</a:t>
            </a:r>
            <a:r>
              <a:rPr lang="en-CN" dirty="0"/>
              <a:t>hich says that the average distance between particles must be greater than the average de Broglie wavelength!!!</a:t>
            </a:r>
          </a:p>
        </p:txBody>
      </p:sp>
      <p:sp>
        <p:nvSpPr>
          <p:cNvPr id="6" name="Rectangle 5">
            <a:extLst>
              <a:ext uri="{FF2B5EF4-FFF2-40B4-BE49-F238E27FC236}">
                <a16:creationId xmlns:a16="http://schemas.microsoft.com/office/drawing/2014/main" id="{304CD578-68C8-4F49-883A-6BA97E375216}"/>
              </a:ext>
            </a:extLst>
          </p:cNvPr>
          <p:cNvSpPr/>
          <p:nvPr/>
        </p:nvSpPr>
        <p:spPr>
          <a:xfrm>
            <a:off x="2341418" y="2770909"/>
            <a:ext cx="2521527" cy="20504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8A71856E-5228-054D-A6E5-E57AD0A00E65}"/>
              </a:ext>
            </a:extLst>
          </p:cNvPr>
          <p:cNvSpPr/>
          <p:nvPr/>
        </p:nvSpPr>
        <p:spPr>
          <a:xfrm>
            <a:off x="7481454" y="2770908"/>
            <a:ext cx="2521527" cy="20504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Oval 7">
            <a:extLst>
              <a:ext uri="{FF2B5EF4-FFF2-40B4-BE49-F238E27FC236}">
                <a16:creationId xmlns:a16="http://schemas.microsoft.com/office/drawing/2014/main" id="{E7921513-9C48-F54C-AD0B-9450EB7649DB}"/>
              </a:ext>
            </a:extLst>
          </p:cNvPr>
          <p:cNvSpPr/>
          <p:nvPr/>
        </p:nvSpPr>
        <p:spPr>
          <a:xfrm>
            <a:off x="3186545" y="3034145"/>
            <a:ext cx="96982" cy="8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Oval 8">
            <a:extLst>
              <a:ext uri="{FF2B5EF4-FFF2-40B4-BE49-F238E27FC236}">
                <a16:creationId xmlns:a16="http://schemas.microsoft.com/office/drawing/2014/main" id="{CA8F1853-6FD6-E442-8B04-91ADB6AAA5DC}"/>
              </a:ext>
            </a:extLst>
          </p:cNvPr>
          <p:cNvSpPr/>
          <p:nvPr/>
        </p:nvSpPr>
        <p:spPr>
          <a:xfrm>
            <a:off x="2895599" y="3214253"/>
            <a:ext cx="96982" cy="8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Oval 9">
            <a:extLst>
              <a:ext uri="{FF2B5EF4-FFF2-40B4-BE49-F238E27FC236}">
                <a16:creationId xmlns:a16="http://schemas.microsoft.com/office/drawing/2014/main" id="{3F8A7A68-489D-9243-9848-0A79D23FED8F}"/>
              </a:ext>
            </a:extLst>
          </p:cNvPr>
          <p:cNvSpPr/>
          <p:nvPr/>
        </p:nvSpPr>
        <p:spPr>
          <a:xfrm>
            <a:off x="2923309" y="3713016"/>
            <a:ext cx="96982" cy="8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Oval 10">
            <a:extLst>
              <a:ext uri="{FF2B5EF4-FFF2-40B4-BE49-F238E27FC236}">
                <a16:creationId xmlns:a16="http://schemas.microsoft.com/office/drawing/2014/main" id="{FD424599-9E11-5C4A-836F-81D8DCC7512D}"/>
              </a:ext>
            </a:extLst>
          </p:cNvPr>
          <p:cNvSpPr/>
          <p:nvPr/>
        </p:nvSpPr>
        <p:spPr>
          <a:xfrm>
            <a:off x="3893127" y="3103418"/>
            <a:ext cx="96982" cy="8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Oval 11">
            <a:extLst>
              <a:ext uri="{FF2B5EF4-FFF2-40B4-BE49-F238E27FC236}">
                <a16:creationId xmlns:a16="http://schemas.microsoft.com/office/drawing/2014/main" id="{49147433-E096-FA40-B08A-817188A7C4B5}"/>
              </a:ext>
            </a:extLst>
          </p:cNvPr>
          <p:cNvSpPr/>
          <p:nvPr/>
        </p:nvSpPr>
        <p:spPr>
          <a:xfrm>
            <a:off x="3428999" y="4142509"/>
            <a:ext cx="96982" cy="8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Oval 12">
            <a:extLst>
              <a:ext uri="{FF2B5EF4-FFF2-40B4-BE49-F238E27FC236}">
                <a16:creationId xmlns:a16="http://schemas.microsoft.com/office/drawing/2014/main" id="{25E1643B-8688-A144-BE99-9680A16738C7}"/>
              </a:ext>
            </a:extLst>
          </p:cNvPr>
          <p:cNvSpPr/>
          <p:nvPr/>
        </p:nvSpPr>
        <p:spPr>
          <a:xfrm>
            <a:off x="3602181" y="3693427"/>
            <a:ext cx="96982" cy="8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Oval 13">
            <a:extLst>
              <a:ext uri="{FF2B5EF4-FFF2-40B4-BE49-F238E27FC236}">
                <a16:creationId xmlns:a16="http://schemas.microsoft.com/office/drawing/2014/main" id="{2225A7DD-2431-BB47-9BD8-D61B7CBEBDA9}"/>
              </a:ext>
            </a:extLst>
          </p:cNvPr>
          <p:cNvSpPr/>
          <p:nvPr/>
        </p:nvSpPr>
        <p:spPr>
          <a:xfrm>
            <a:off x="4274126" y="3394363"/>
            <a:ext cx="96982" cy="8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Oval 14">
            <a:extLst>
              <a:ext uri="{FF2B5EF4-FFF2-40B4-BE49-F238E27FC236}">
                <a16:creationId xmlns:a16="http://schemas.microsoft.com/office/drawing/2014/main" id="{70349FEF-2396-664A-9013-B6D2E9BD25C3}"/>
              </a:ext>
            </a:extLst>
          </p:cNvPr>
          <p:cNvSpPr/>
          <p:nvPr/>
        </p:nvSpPr>
        <p:spPr>
          <a:xfrm>
            <a:off x="4488872" y="4613563"/>
            <a:ext cx="96982" cy="8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6" name="Oval 15">
            <a:extLst>
              <a:ext uri="{FF2B5EF4-FFF2-40B4-BE49-F238E27FC236}">
                <a16:creationId xmlns:a16="http://schemas.microsoft.com/office/drawing/2014/main" id="{91249B22-B87C-4044-B8DF-FD26DD86D690}"/>
              </a:ext>
            </a:extLst>
          </p:cNvPr>
          <p:cNvSpPr/>
          <p:nvPr/>
        </p:nvSpPr>
        <p:spPr>
          <a:xfrm>
            <a:off x="8052954" y="2851167"/>
            <a:ext cx="505680" cy="5016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Oval 16">
            <a:extLst>
              <a:ext uri="{FF2B5EF4-FFF2-40B4-BE49-F238E27FC236}">
                <a16:creationId xmlns:a16="http://schemas.microsoft.com/office/drawing/2014/main" id="{7AC942AB-1301-8F4C-81C8-0BE566B6625A}"/>
              </a:ext>
            </a:extLst>
          </p:cNvPr>
          <p:cNvSpPr/>
          <p:nvPr/>
        </p:nvSpPr>
        <p:spPr>
          <a:xfrm>
            <a:off x="7685798" y="3142113"/>
            <a:ext cx="474518" cy="4877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8" name="Oval 17">
            <a:extLst>
              <a:ext uri="{FF2B5EF4-FFF2-40B4-BE49-F238E27FC236}">
                <a16:creationId xmlns:a16="http://schemas.microsoft.com/office/drawing/2014/main" id="{D30BFFC2-9E26-104E-9EE7-6C843ACF17E3}"/>
              </a:ext>
            </a:extLst>
          </p:cNvPr>
          <p:cNvSpPr/>
          <p:nvPr/>
        </p:nvSpPr>
        <p:spPr>
          <a:xfrm>
            <a:off x="7800098" y="3588327"/>
            <a:ext cx="505680" cy="554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9" name="Oval 18">
            <a:extLst>
              <a:ext uri="{FF2B5EF4-FFF2-40B4-BE49-F238E27FC236}">
                <a16:creationId xmlns:a16="http://schemas.microsoft.com/office/drawing/2014/main" id="{9B2605BC-778B-7940-A920-74C524C44367}"/>
              </a:ext>
            </a:extLst>
          </p:cNvPr>
          <p:cNvSpPr/>
          <p:nvPr/>
        </p:nvSpPr>
        <p:spPr>
          <a:xfrm>
            <a:off x="8596734" y="2851167"/>
            <a:ext cx="561110" cy="6263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0" name="Oval 19">
            <a:extLst>
              <a:ext uri="{FF2B5EF4-FFF2-40B4-BE49-F238E27FC236}">
                <a16:creationId xmlns:a16="http://schemas.microsoft.com/office/drawing/2014/main" id="{4CAC7B4B-E034-5E42-9904-270A7794A91E}"/>
              </a:ext>
            </a:extLst>
          </p:cNvPr>
          <p:cNvSpPr/>
          <p:nvPr/>
        </p:nvSpPr>
        <p:spPr>
          <a:xfrm>
            <a:off x="8305778" y="4150630"/>
            <a:ext cx="505680" cy="5541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1" name="Oval 20">
            <a:extLst>
              <a:ext uri="{FF2B5EF4-FFF2-40B4-BE49-F238E27FC236}">
                <a16:creationId xmlns:a16="http://schemas.microsoft.com/office/drawing/2014/main" id="{0E1FD1D4-B2F5-2D47-A87B-FD849F936EFE}"/>
              </a:ext>
            </a:extLst>
          </p:cNvPr>
          <p:cNvSpPr/>
          <p:nvPr/>
        </p:nvSpPr>
        <p:spPr>
          <a:xfrm>
            <a:off x="8478959" y="3546762"/>
            <a:ext cx="526483" cy="554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2" name="Oval 21">
            <a:extLst>
              <a:ext uri="{FF2B5EF4-FFF2-40B4-BE49-F238E27FC236}">
                <a16:creationId xmlns:a16="http://schemas.microsoft.com/office/drawing/2014/main" id="{4C17FDE0-A853-5342-A5B3-1A7C942A7773}"/>
              </a:ext>
            </a:extLst>
          </p:cNvPr>
          <p:cNvSpPr/>
          <p:nvPr/>
        </p:nvSpPr>
        <p:spPr>
          <a:xfrm>
            <a:off x="9116278" y="3546761"/>
            <a:ext cx="561109" cy="651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3" name="Oval 22">
            <a:extLst>
              <a:ext uri="{FF2B5EF4-FFF2-40B4-BE49-F238E27FC236}">
                <a16:creationId xmlns:a16="http://schemas.microsoft.com/office/drawing/2014/main" id="{5F688DB0-D725-FF4C-927B-E853AAC4B5F7}"/>
              </a:ext>
            </a:extLst>
          </p:cNvPr>
          <p:cNvSpPr/>
          <p:nvPr/>
        </p:nvSpPr>
        <p:spPr>
          <a:xfrm>
            <a:off x="9365651" y="4225637"/>
            <a:ext cx="637330" cy="6234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4" name="Right Arrow 23">
            <a:extLst>
              <a:ext uri="{FF2B5EF4-FFF2-40B4-BE49-F238E27FC236}">
                <a16:creationId xmlns:a16="http://schemas.microsoft.com/office/drawing/2014/main" id="{AC520EDE-82E6-9942-92F8-1DF8043AC7D3}"/>
              </a:ext>
            </a:extLst>
          </p:cNvPr>
          <p:cNvSpPr/>
          <p:nvPr/>
        </p:nvSpPr>
        <p:spPr>
          <a:xfrm>
            <a:off x="5285509" y="3588327"/>
            <a:ext cx="1683327" cy="554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TextBox 24">
            <a:extLst>
              <a:ext uri="{FF2B5EF4-FFF2-40B4-BE49-F238E27FC236}">
                <a16:creationId xmlns:a16="http://schemas.microsoft.com/office/drawing/2014/main" id="{D4D31F03-7557-8348-9900-EDD6CDDBA1A6}"/>
              </a:ext>
            </a:extLst>
          </p:cNvPr>
          <p:cNvSpPr txBox="1"/>
          <p:nvPr/>
        </p:nvSpPr>
        <p:spPr>
          <a:xfrm>
            <a:off x="502226" y="5214049"/>
            <a:ext cx="11249891" cy="646331"/>
          </a:xfrm>
          <a:prstGeom prst="rect">
            <a:avLst/>
          </a:prstGeom>
          <a:noFill/>
        </p:spPr>
        <p:txBody>
          <a:bodyPr wrap="square" rtlCol="0">
            <a:spAutoFit/>
          </a:bodyPr>
          <a:lstStyle/>
          <a:p>
            <a:r>
              <a:rPr lang="en-US" dirty="0"/>
              <a:t>If the gas is sufficiently dense, the wavefunction will start to touch and overlap. At this point it starts to matter whether the particles are fermions or bosons…the behavior will be much different from that of a normal gas.</a:t>
            </a:r>
            <a:endParaRPr lang="en-CN" dirty="0"/>
          </a:p>
        </p:txBody>
      </p:sp>
      <p:sp>
        <p:nvSpPr>
          <p:cNvPr id="26" name="TextBox 25">
            <a:extLst>
              <a:ext uri="{FF2B5EF4-FFF2-40B4-BE49-F238E27FC236}">
                <a16:creationId xmlns:a16="http://schemas.microsoft.com/office/drawing/2014/main" id="{C1DA38B2-4A5C-D344-840C-F13511FCABF9}"/>
              </a:ext>
            </a:extLst>
          </p:cNvPr>
          <p:cNvSpPr txBox="1"/>
          <p:nvPr/>
        </p:nvSpPr>
        <p:spPr>
          <a:xfrm>
            <a:off x="1911927" y="6012873"/>
            <a:ext cx="8285018" cy="369332"/>
          </a:xfrm>
          <a:prstGeom prst="rect">
            <a:avLst/>
          </a:prstGeom>
          <a:noFill/>
        </p:spPr>
        <p:txBody>
          <a:bodyPr wrap="square" rtlCol="0">
            <a:spAutoFit/>
          </a:bodyPr>
          <a:lstStyle/>
          <a:p>
            <a:r>
              <a:rPr lang="en-US" dirty="0"/>
              <a:t>V</a:t>
            </a:r>
            <a:r>
              <a:rPr lang="en-CN" dirty="0"/>
              <a:t>ery dense, very cold, very light particle, etc.</a:t>
            </a:r>
          </a:p>
        </p:txBody>
      </p:sp>
    </p:spTree>
    <p:extLst>
      <p:ext uri="{BB962C8B-B14F-4D97-AF65-F5344CB8AC3E}">
        <p14:creationId xmlns:p14="http://schemas.microsoft.com/office/powerpoint/2010/main" val="3858008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70349FEF-2396-664A-9013-B6D2E9BD25C3}"/>
              </a:ext>
            </a:extLst>
          </p:cNvPr>
          <p:cNvSpPr/>
          <p:nvPr/>
        </p:nvSpPr>
        <p:spPr>
          <a:xfrm>
            <a:off x="4488872" y="4613563"/>
            <a:ext cx="96982" cy="8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29" name="Picture 28">
            <a:extLst>
              <a:ext uri="{FF2B5EF4-FFF2-40B4-BE49-F238E27FC236}">
                <a16:creationId xmlns:a16="http://schemas.microsoft.com/office/drawing/2014/main" id="{49E119F4-47D6-8EB0-2158-E949D630A9F4}"/>
              </a:ext>
            </a:extLst>
          </p:cNvPr>
          <p:cNvPicPr>
            <a:picLocks noChangeAspect="1"/>
          </p:cNvPicPr>
          <p:nvPr/>
        </p:nvPicPr>
        <p:blipFill>
          <a:blip r:embed="rId2"/>
          <a:stretch>
            <a:fillRect/>
          </a:stretch>
        </p:blipFill>
        <p:spPr>
          <a:xfrm>
            <a:off x="2209800" y="4236754"/>
            <a:ext cx="7772400" cy="2249905"/>
          </a:xfrm>
          <a:prstGeom prst="rect">
            <a:avLst/>
          </a:prstGeom>
        </p:spPr>
      </p:pic>
      <p:pic>
        <p:nvPicPr>
          <p:cNvPr id="3" name="Picture 2">
            <a:extLst>
              <a:ext uri="{FF2B5EF4-FFF2-40B4-BE49-F238E27FC236}">
                <a16:creationId xmlns:a16="http://schemas.microsoft.com/office/drawing/2014/main" id="{8717DBE8-4B8B-6CC6-49F5-88CD0848B938}"/>
              </a:ext>
            </a:extLst>
          </p:cNvPr>
          <p:cNvPicPr>
            <a:picLocks noChangeAspect="1"/>
          </p:cNvPicPr>
          <p:nvPr/>
        </p:nvPicPr>
        <p:blipFill>
          <a:blip r:embed="rId3"/>
          <a:stretch>
            <a:fillRect/>
          </a:stretch>
        </p:blipFill>
        <p:spPr>
          <a:xfrm>
            <a:off x="3030313" y="53636"/>
            <a:ext cx="5602761" cy="3412823"/>
          </a:xfrm>
          <a:prstGeom prst="rect">
            <a:avLst/>
          </a:prstGeom>
        </p:spPr>
      </p:pic>
    </p:spTree>
    <p:extLst>
      <p:ext uri="{BB962C8B-B14F-4D97-AF65-F5344CB8AC3E}">
        <p14:creationId xmlns:p14="http://schemas.microsoft.com/office/powerpoint/2010/main" val="2092775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62BE4D4E-0E62-0142-8356-CFF10CCC6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021" y="435840"/>
            <a:ext cx="5777923" cy="577792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F59C7E9-033C-B84A-B616-8EDF57575374}"/>
              </a:ext>
            </a:extLst>
          </p:cNvPr>
          <p:cNvSpPr txBox="1"/>
          <p:nvPr/>
        </p:nvSpPr>
        <p:spPr>
          <a:xfrm>
            <a:off x="7065818" y="817418"/>
            <a:ext cx="4572000" cy="646331"/>
          </a:xfrm>
          <a:prstGeom prst="rect">
            <a:avLst/>
          </a:prstGeom>
          <a:noFill/>
        </p:spPr>
        <p:txBody>
          <a:bodyPr wrap="square" rtlCol="0">
            <a:spAutoFit/>
          </a:bodyPr>
          <a:lstStyle/>
          <a:p>
            <a:r>
              <a:rPr lang="en-CN" dirty="0"/>
              <a:t>追踪</a:t>
            </a:r>
          </a:p>
          <a:p>
            <a:r>
              <a:rPr lang="en-US" altLang="zh-CN" dirty="0"/>
              <a:t>2</a:t>
            </a:r>
            <a:r>
              <a:rPr lang="zh-CN" altLang="en-US" dirty="0"/>
              <a:t>*</a:t>
            </a:r>
            <a:r>
              <a:rPr lang="en-US" altLang="zh-CN" dirty="0"/>
              <a:t>2</a:t>
            </a:r>
            <a:r>
              <a:rPr lang="zh-CN" altLang="en-CN" dirty="0"/>
              <a:t>格子</a:t>
            </a:r>
            <a:endParaRPr lang="en-CN" dirty="0"/>
          </a:p>
        </p:txBody>
      </p:sp>
      <p:pic>
        <p:nvPicPr>
          <p:cNvPr id="3" name="Picture 2">
            <a:extLst>
              <a:ext uri="{FF2B5EF4-FFF2-40B4-BE49-F238E27FC236}">
                <a16:creationId xmlns:a16="http://schemas.microsoft.com/office/drawing/2014/main" id="{C61FA163-D118-DF42-9728-E19DE5BC3751}"/>
              </a:ext>
            </a:extLst>
          </p:cNvPr>
          <p:cNvPicPr>
            <a:picLocks noChangeAspect="1"/>
          </p:cNvPicPr>
          <p:nvPr/>
        </p:nvPicPr>
        <p:blipFill>
          <a:blip r:embed="rId3"/>
          <a:stretch>
            <a:fillRect/>
          </a:stretch>
        </p:blipFill>
        <p:spPr>
          <a:xfrm>
            <a:off x="6096000" y="2540615"/>
            <a:ext cx="6096000" cy="1568371"/>
          </a:xfrm>
          <a:prstGeom prst="rect">
            <a:avLst/>
          </a:prstGeom>
        </p:spPr>
      </p:pic>
    </p:spTree>
    <p:extLst>
      <p:ext uri="{BB962C8B-B14F-4D97-AF65-F5344CB8AC3E}">
        <p14:creationId xmlns:p14="http://schemas.microsoft.com/office/powerpoint/2010/main" val="1142249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ED4E1B6-D4E8-7B41-9377-F3C9881B5AC0}"/>
                  </a:ext>
                </a:extLst>
              </p:cNvPr>
              <p:cNvSpPr txBox="1"/>
              <p:nvPr/>
            </p:nvSpPr>
            <p:spPr>
              <a:xfrm>
                <a:off x="304800" y="207818"/>
                <a:ext cx="11291455" cy="646331"/>
              </a:xfrm>
              <a:prstGeom prst="rect">
                <a:avLst/>
              </a:prstGeom>
              <a:noFill/>
            </p:spPr>
            <p:txBody>
              <a:bodyPr wrap="square" rtlCol="0">
                <a:spAutoFit/>
              </a:bodyPr>
              <a:lstStyle/>
              <a:p>
                <a:r>
                  <a:rPr lang="en-US" dirty="0"/>
                  <a:t>Let’s concentrate on just one single-particle state of a system(a</a:t>
                </a:r>
                <a:r>
                  <a:rPr lang="en-CN" dirty="0"/>
                  <a:t> particle in a box), whose energy when occupied by a single particle is </a:t>
                </a:r>
                <a14:m>
                  <m:oMath xmlns:m="http://schemas.openxmlformats.org/officeDocument/2006/math">
                    <m:r>
                      <a:rPr lang="en-CN" i="1" smtClean="0">
                        <a:latin typeface="Cambria Math" panose="02040503050406030204" pitchFamily="18" charset="0"/>
                        <a:ea typeface="Cambria Math" panose="02040503050406030204" pitchFamily="18" charset="0"/>
                      </a:rPr>
                      <m:t>𝜀</m:t>
                    </m:r>
                  </m:oMath>
                </a14:m>
                <a:r>
                  <a:rPr lang="en-CN" dirty="0"/>
                  <a:t>. </a:t>
                </a:r>
              </a:p>
            </p:txBody>
          </p:sp>
        </mc:Choice>
        <mc:Fallback xmlns="">
          <p:sp>
            <p:nvSpPr>
              <p:cNvPr id="2" name="TextBox 1">
                <a:extLst>
                  <a:ext uri="{FF2B5EF4-FFF2-40B4-BE49-F238E27FC236}">
                    <a16:creationId xmlns:a16="http://schemas.microsoft.com/office/drawing/2014/main" id="{3ED4E1B6-D4E8-7B41-9377-F3C9881B5AC0}"/>
                  </a:ext>
                </a:extLst>
              </p:cNvPr>
              <p:cNvSpPr txBox="1">
                <a:spLocks noRot="1" noChangeAspect="1" noMove="1" noResize="1" noEditPoints="1" noAdjustHandles="1" noChangeArrowheads="1" noChangeShapeType="1" noTextEdit="1"/>
              </p:cNvSpPr>
              <p:nvPr/>
            </p:nvSpPr>
            <p:spPr>
              <a:xfrm>
                <a:off x="304800" y="207818"/>
                <a:ext cx="11291455" cy="646331"/>
              </a:xfrm>
              <a:prstGeom prst="rect">
                <a:avLst/>
              </a:prstGeom>
              <a:blipFill>
                <a:blip r:embed="rId2"/>
                <a:stretch>
                  <a:fillRect l="-450" t="-3846" b="-15385"/>
                </a:stretch>
              </a:blipFill>
            </p:spPr>
            <p:txBody>
              <a:bodyPr/>
              <a:lstStyle/>
              <a:p>
                <a:r>
                  <a:rPr lang="en-CN">
                    <a:noFill/>
                  </a:rPr>
                  <a:t> </a:t>
                </a:r>
              </a:p>
            </p:txBody>
          </p:sp>
        </mc:Fallback>
      </mc:AlternateContent>
      <p:pic>
        <p:nvPicPr>
          <p:cNvPr id="4" name="Picture 3">
            <a:extLst>
              <a:ext uri="{FF2B5EF4-FFF2-40B4-BE49-F238E27FC236}">
                <a16:creationId xmlns:a16="http://schemas.microsoft.com/office/drawing/2014/main" id="{26BE0168-BA1E-C64D-9523-E4F1219C7D92}"/>
              </a:ext>
            </a:extLst>
          </p:cNvPr>
          <p:cNvPicPr>
            <a:picLocks noChangeAspect="1"/>
          </p:cNvPicPr>
          <p:nvPr/>
        </p:nvPicPr>
        <p:blipFill>
          <a:blip r:embed="rId3"/>
          <a:stretch>
            <a:fillRect/>
          </a:stretch>
        </p:blipFill>
        <p:spPr>
          <a:xfrm>
            <a:off x="235527" y="1516805"/>
            <a:ext cx="11720945" cy="4186607"/>
          </a:xfrm>
          <a:prstGeom prst="rect">
            <a:avLst/>
          </a:prstGeom>
        </p:spPr>
      </p:pic>
    </p:spTree>
    <p:extLst>
      <p:ext uri="{BB962C8B-B14F-4D97-AF65-F5344CB8AC3E}">
        <p14:creationId xmlns:p14="http://schemas.microsoft.com/office/powerpoint/2010/main" val="2491602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10B314-2BCD-134F-A19B-77C825E9C40F}"/>
              </a:ext>
            </a:extLst>
          </p:cNvPr>
          <p:cNvSpPr txBox="1"/>
          <p:nvPr/>
        </p:nvSpPr>
        <p:spPr>
          <a:xfrm>
            <a:off x="595745" y="0"/>
            <a:ext cx="10584873" cy="707886"/>
          </a:xfrm>
          <a:prstGeom prst="rect">
            <a:avLst/>
          </a:prstGeom>
          <a:noFill/>
        </p:spPr>
        <p:txBody>
          <a:bodyPr wrap="square" rtlCol="0">
            <a:spAutoFit/>
          </a:bodyPr>
          <a:lstStyle/>
          <a:p>
            <a:pPr algn="ctr"/>
            <a:r>
              <a:rPr lang="en-CN" sz="4000" dirty="0"/>
              <a:t>Fermi-Dirac Distribution function</a:t>
            </a:r>
          </a:p>
        </p:txBody>
      </p:sp>
      <p:pic>
        <p:nvPicPr>
          <p:cNvPr id="4" name="Picture 3">
            <a:extLst>
              <a:ext uri="{FF2B5EF4-FFF2-40B4-BE49-F238E27FC236}">
                <a16:creationId xmlns:a16="http://schemas.microsoft.com/office/drawing/2014/main" id="{B611BB19-A84C-874E-9698-B9348EB71184}"/>
              </a:ext>
            </a:extLst>
          </p:cNvPr>
          <p:cNvPicPr>
            <a:picLocks noChangeAspect="1"/>
          </p:cNvPicPr>
          <p:nvPr/>
        </p:nvPicPr>
        <p:blipFill>
          <a:blip r:embed="rId2"/>
          <a:stretch>
            <a:fillRect/>
          </a:stretch>
        </p:blipFill>
        <p:spPr>
          <a:xfrm>
            <a:off x="2218169" y="2980032"/>
            <a:ext cx="7755659" cy="3704195"/>
          </a:xfrm>
          <a:prstGeom prst="rect">
            <a:avLst/>
          </a:prstGeom>
        </p:spPr>
      </p:pic>
      <p:pic>
        <p:nvPicPr>
          <p:cNvPr id="6" name="Picture 5">
            <a:extLst>
              <a:ext uri="{FF2B5EF4-FFF2-40B4-BE49-F238E27FC236}">
                <a16:creationId xmlns:a16="http://schemas.microsoft.com/office/drawing/2014/main" id="{797CFBA2-228E-1641-B404-16BDBC11E1F6}"/>
              </a:ext>
            </a:extLst>
          </p:cNvPr>
          <p:cNvPicPr>
            <a:picLocks noChangeAspect="1"/>
          </p:cNvPicPr>
          <p:nvPr/>
        </p:nvPicPr>
        <p:blipFill>
          <a:blip r:embed="rId3"/>
          <a:stretch>
            <a:fillRect/>
          </a:stretch>
        </p:blipFill>
        <p:spPr>
          <a:xfrm>
            <a:off x="0" y="1357014"/>
            <a:ext cx="12192000" cy="973890"/>
          </a:xfrm>
          <a:prstGeom prst="rect">
            <a:avLst/>
          </a:prstGeom>
        </p:spPr>
      </p:pic>
    </p:spTree>
    <p:extLst>
      <p:ext uri="{BB962C8B-B14F-4D97-AF65-F5344CB8AC3E}">
        <p14:creationId xmlns:p14="http://schemas.microsoft.com/office/powerpoint/2010/main" val="175808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C55214-A009-7E46-B8D8-0D890A58C16A}"/>
              </a:ext>
            </a:extLst>
          </p:cNvPr>
          <p:cNvSpPr txBox="1"/>
          <p:nvPr/>
        </p:nvSpPr>
        <p:spPr>
          <a:xfrm>
            <a:off x="415636" y="387927"/>
            <a:ext cx="4475019" cy="369332"/>
          </a:xfrm>
          <a:prstGeom prst="rect">
            <a:avLst/>
          </a:prstGeom>
          <a:noFill/>
        </p:spPr>
        <p:txBody>
          <a:bodyPr wrap="square" rtlCol="0">
            <a:spAutoFit/>
          </a:bodyPr>
          <a:lstStyle/>
          <a:p>
            <a:r>
              <a:rPr lang="en-CN" dirty="0"/>
              <a:t>Grand Canonical Ensemble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CC5A3AC-AB18-184C-99C9-9BCF96856929}"/>
                  </a:ext>
                </a:extLst>
              </p:cNvPr>
              <p:cNvSpPr txBox="1"/>
              <p:nvPr/>
            </p:nvSpPr>
            <p:spPr>
              <a:xfrm>
                <a:off x="1219200" y="757259"/>
                <a:ext cx="6179127" cy="369332"/>
              </a:xfrm>
              <a:prstGeom prst="rect">
                <a:avLst/>
              </a:prstGeom>
              <a:noFill/>
            </p:spPr>
            <p:txBody>
              <a:bodyPr wrap="square" rtlCol="0">
                <a:spAutoFit/>
              </a:bodyPr>
              <a:lstStyle/>
              <a:p>
                <a:r>
                  <a:rPr lang="en-US" altLang="zh-CN" dirty="0"/>
                  <a:t>1</a:t>
                </a:r>
                <a:r>
                  <a:rPr lang="zh-CN" altLang="en-US" dirty="0"/>
                  <a:t>，一个轨道（态），能量标记为</a:t>
                </a:r>
                <a14:m>
                  <m:oMath xmlns:m="http://schemas.openxmlformats.org/officeDocument/2006/math">
                    <m:r>
                      <a:rPr lang="zh-CN" altLang="en-US" i="1" smtClean="0">
                        <a:latin typeface="Cambria Math" panose="02040503050406030204" pitchFamily="18" charset="0"/>
                      </a:rPr>
                      <m:t>𝜀</m:t>
                    </m:r>
                  </m:oMath>
                </a14:m>
                <a:endParaRPr lang="en-CN" dirty="0"/>
              </a:p>
            </p:txBody>
          </p:sp>
        </mc:Choice>
        <mc:Fallback xmlns="">
          <p:sp>
            <p:nvSpPr>
              <p:cNvPr id="3" name="TextBox 2">
                <a:extLst>
                  <a:ext uri="{FF2B5EF4-FFF2-40B4-BE49-F238E27FC236}">
                    <a16:creationId xmlns:a16="http://schemas.microsoft.com/office/drawing/2014/main" id="{3CC5A3AC-AB18-184C-99C9-9BCF96856929}"/>
                  </a:ext>
                </a:extLst>
              </p:cNvPr>
              <p:cNvSpPr txBox="1">
                <a:spLocks noRot="1" noChangeAspect="1" noMove="1" noResize="1" noEditPoints="1" noAdjustHandles="1" noChangeArrowheads="1" noChangeShapeType="1" noTextEdit="1"/>
              </p:cNvSpPr>
              <p:nvPr/>
            </p:nvSpPr>
            <p:spPr>
              <a:xfrm>
                <a:off x="1219200" y="757259"/>
                <a:ext cx="6179127" cy="369332"/>
              </a:xfrm>
              <a:prstGeom prst="rect">
                <a:avLst/>
              </a:prstGeom>
              <a:blipFill>
                <a:blip r:embed="rId2"/>
                <a:stretch>
                  <a:fillRect l="-821" t="-6667" b="-26667"/>
                </a:stretch>
              </a:blipFill>
            </p:spPr>
            <p:txBody>
              <a:bodyPr/>
              <a:lstStyle/>
              <a:p>
                <a:r>
                  <a:rPr lang="en-CN">
                    <a:noFill/>
                  </a:rPr>
                  <a:t> </a:t>
                </a:r>
              </a:p>
            </p:txBody>
          </p:sp>
        </mc:Fallback>
      </mc:AlternateContent>
      <p:cxnSp>
        <p:nvCxnSpPr>
          <p:cNvPr id="5" name="Straight Connector 4">
            <a:extLst>
              <a:ext uri="{FF2B5EF4-FFF2-40B4-BE49-F238E27FC236}">
                <a16:creationId xmlns:a16="http://schemas.microsoft.com/office/drawing/2014/main" id="{AFE52EBD-994A-E54E-B247-B64A3A7D786F}"/>
              </a:ext>
            </a:extLst>
          </p:cNvPr>
          <p:cNvCxnSpPr/>
          <p:nvPr/>
        </p:nvCxnSpPr>
        <p:spPr>
          <a:xfrm>
            <a:off x="3269673" y="1676400"/>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8031088-A74E-344E-838B-8984657885D5}"/>
              </a:ext>
            </a:extLst>
          </p:cNvPr>
          <p:cNvCxnSpPr/>
          <p:nvPr/>
        </p:nvCxnSpPr>
        <p:spPr>
          <a:xfrm>
            <a:off x="6609907" y="1676400"/>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560914C-E61D-D449-B491-D785547797B1}"/>
                  </a:ext>
                </a:extLst>
              </p:cNvPr>
              <p:cNvSpPr txBox="1"/>
              <p:nvPr/>
            </p:nvSpPr>
            <p:spPr>
              <a:xfrm>
                <a:off x="1565564" y="1981200"/>
                <a:ext cx="8271163" cy="3982052"/>
              </a:xfrm>
              <a:prstGeom prst="rect">
                <a:avLst/>
              </a:prstGeom>
              <a:noFill/>
            </p:spPr>
            <p:txBody>
              <a:bodyPr wrap="square" rtlCol="0">
                <a:spAutoFit/>
              </a:bodyPr>
              <a:lstStyle/>
              <a:p>
                <a:r>
                  <a:rPr lang="en-CN" dirty="0"/>
                  <a:t>粒子数</a:t>
                </a:r>
                <a:r>
                  <a:rPr lang="zh-CN" altLang="en-US" dirty="0"/>
                  <a:t>                                 </a:t>
                </a:r>
                <a:r>
                  <a:rPr lang="en-US" altLang="zh-CN" dirty="0"/>
                  <a:t>0</a:t>
                </a:r>
                <a:r>
                  <a:rPr lang="zh-CN" altLang="en-US" dirty="0"/>
                  <a:t>                                                              </a:t>
                </a:r>
                <a:r>
                  <a:rPr lang="en-US" altLang="zh-CN" dirty="0"/>
                  <a:t>1</a:t>
                </a:r>
                <a:endParaRPr lang="en-CN" dirty="0"/>
              </a:p>
              <a:p>
                <a:r>
                  <a:rPr lang="en-CN" dirty="0"/>
                  <a:t>能量</a:t>
                </a:r>
                <a:r>
                  <a:rPr lang="zh-CN" altLang="en-US" dirty="0"/>
                  <a:t>                                     </a:t>
                </a:r>
                <a:r>
                  <a:rPr lang="en-US" altLang="zh-CN" dirty="0"/>
                  <a:t>0</a:t>
                </a:r>
                <a:r>
                  <a:rPr lang="zh-CN" altLang="en-US" dirty="0"/>
                  <a:t>                                                              </a:t>
                </a:r>
                <a14:m>
                  <m:oMath xmlns:m="http://schemas.openxmlformats.org/officeDocument/2006/math">
                    <m:r>
                      <a:rPr lang="zh-CN" altLang="en-US" i="1" smtClean="0">
                        <a:latin typeface="Cambria Math" panose="02040503050406030204" pitchFamily="18" charset="0"/>
                      </a:rPr>
                      <m:t>𝜀</m:t>
                    </m:r>
                  </m:oMath>
                </a14:m>
                <a:endParaRPr lang="en-US" altLang="zh-CN" dirty="0"/>
              </a:p>
              <a:p>
                <a:r>
                  <a:rPr lang="en-US" altLang="zh-CN" dirty="0"/>
                  <a:t>Gibbs</a:t>
                </a:r>
                <a:r>
                  <a:rPr lang="zh-CN" altLang="en-US" dirty="0"/>
                  <a:t> </a:t>
                </a:r>
                <a:r>
                  <a:rPr lang="en-US" altLang="zh-CN" dirty="0"/>
                  <a:t>Factor</a:t>
                </a:r>
                <a:r>
                  <a:rPr lang="zh-CN" altLang="en-US" dirty="0"/>
                  <a:t>                        </a:t>
                </a:r>
                <a:r>
                  <a:rPr lang="en-US" altLang="zh-CN" dirty="0"/>
                  <a:t>1</a:t>
                </a:r>
                <a:r>
                  <a:rPr lang="zh-CN" altLang="en-US" dirty="0"/>
                  <a:t>                                                            </a:t>
                </a:r>
                <a14:m>
                  <m:oMath xmlns:m="http://schemas.openxmlformats.org/officeDocument/2006/math">
                    <m:r>
                      <a:rPr lang="zh-CN" altLang="en-US" i="1" smtClean="0">
                        <a:latin typeface="Cambria Math" panose="02040503050406030204" pitchFamily="18" charset="0"/>
                      </a:rPr>
                      <m:t>𝜆</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sup>
                    </m:sSup>
                  </m:oMath>
                </a14:m>
                <a:endParaRPr lang="en-US" altLang="zh-CN" dirty="0"/>
              </a:p>
              <a:p>
                <a:endParaRPr lang="en-US" altLang="zh-CN" dirty="0"/>
              </a:p>
              <a:p>
                <a:r>
                  <a:rPr lang="en-US" altLang="zh-CN" dirty="0"/>
                  <a:t>Gibbs Sum</a:t>
                </a:r>
              </a:p>
              <a:p>
                <a:pPr algn="ctr"/>
                <a14:m>
                  <m:oMath xmlns:m="http://schemas.openxmlformats.org/officeDocument/2006/math">
                    <m:r>
                      <a:rPr lang="zh-CN" altLang="en-US" i="1" smtClean="0">
                        <a:latin typeface="Cambria Math" panose="02040503050406030204" pitchFamily="18" charset="0"/>
                      </a:rPr>
                      <m:t>𝒵</m:t>
                    </m:r>
                    <m:r>
                      <a:rPr lang="en-US" altLang="zh-CN" b="0" i="1" smtClean="0">
                        <a:latin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oMath>
                </a14:m>
                <a:r>
                  <a:rPr lang="zh-CN" altLang="en-US" dirty="0"/>
                  <a:t> </a:t>
                </a:r>
                <a:endParaRPr lang="en-US" altLang="zh-CN" dirty="0"/>
              </a:p>
              <a:p>
                <a:pPr algn="ctr"/>
                <a:endParaRPr lang="en-US" altLang="zh-CN" dirty="0"/>
              </a:p>
              <a:p>
                <a:r>
                  <a:rPr lang="en-US" altLang="zh-CN" dirty="0"/>
                  <a:t>Average number of particles in this state(the occupancy of the state)</a:t>
                </a:r>
              </a:p>
              <a:p>
                <a:pPr algn="ct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𝜀</m:t>
                          </m:r>
                          <m:r>
                            <a:rPr lang="en-US" altLang="zh-CN" b="0" i="1" smtClean="0">
                              <a:latin typeface="Cambria Math" panose="02040503050406030204" pitchFamily="18" charset="0"/>
                            </a:rPr>
                            <m:t>)</m:t>
                          </m:r>
                        </m:e>
                      </m:d>
                      <m:r>
                        <a:rPr lang="en-US" altLang="zh-CN" i="1">
                          <a:latin typeface="Cambria Math" panose="02040503050406030204" pitchFamily="18" charset="0"/>
                          <a:ea typeface="Cambria Math" panose="02040503050406030204" pitchFamily="18" charset="0"/>
                        </a:rPr>
                        <m:t>≡</m:t>
                      </m:r>
                      <m:acc>
                        <m:accPr>
                          <m:chr m:val="̅"/>
                          <m:ctrlPr>
                            <a:rPr lang="en-US" altLang="zh-CN" i="1" smtClean="0">
                              <a:latin typeface="Cambria Math" panose="02040503050406030204" pitchFamily="18" charset="0"/>
                              <a:ea typeface="Cambria Math" panose="02040503050406030204" pitchFamily="18" charset="0"/>
                            </a:rPr>
                          </m:ctrlPr>
                        </m:accPr>
                        <m:e>
                          <m:r>
                            <a:rPr lang="en-US" altLang="zh-CN" b="0" i="1" smtClean="0">
                              <a:latin typeface="Cambria Math" panose="02040503050406030204" pitchFamily="18" charset="0"/>
                              <a:ea typeface="Cambria Math" panose="02040503050406030204" pitchFamily="18" charset="0"/>
                            </a:rPr>
                            <m:t>𝑛</m:t>
                          </m:r>
                        </m:e>
                      </m:acc>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𝑛</m:t>
                          </m:r>
                        </m:sub>
                        <m:sup/>
                        <m:e>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num>
                            <m:den>
                              <m:r>
                                <a:rPr lang="en-US" altLang="zh-CN" b="0" i="1" smtClean="0">
                                  <a:latin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𝜇</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rPr>
                                <m:t>+1</m:t>
                              </m:r>
                            </m:den>
                          </m:f>
                        </m:e>
                      </m:nary>
                    </m:oMath>
                  </m:oMathPara>
                </a14:m>
                <a:endParaRPr lang="en-US" altLang="zh-CN" dirty="0"/>
              </a:p>
              <a:p>
                <a:pPr algn="ctr"/>
                <a:endParaRPr lang="en-US" altLang="zh-CN" dirty="0"/>
              </a:p>
              <a:p>
                <a:r>
                  <a:rPr lang="en-US" altLang="zh-CN" dirty="0"/>
                  <a:t>F-D distribution function</a:t>
                </a:r>
              </a:p>
              <a:p>
                <a:pPr algn="ctr"/>
                <a14:m>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𝜀</m:t>
                        </m:r>
                      </m:e>
                    </m:d>
                    <m:r>
                      <a:rPr lang="en-US" altLang="zh-CN" b="0" i="1" smtClean="0">
                        <a:latin typeface="Cambria Math" panose="02040503050406030204" pitchFamily="18" charset="0"/>
                      </a:rPr>
                      <m:t>=</m:t>
                    </m:r>
                  </m:oMath>
                </a14:m>
                <a:r>
                  <a:rPr lang="en-US" altLang="zh-CN" dirty="0"/>
                  <a:t> </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𝜇</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i="1">
                            <a:latin typeface="Cambria Math" panose="02040503050406030204" pitchFamily="18" charset="0"/>
                          </a:rPr>
                          <m:t>+1</m:t>
                        </m:r>
                      </m:den>
                    </m:f>
                  </m:oMath>
                </a14:m>
                <a:r>
                  <a:rPr lang="zh-CN" altLang="en-US" dirty="0"/>
                  <a:t>                   </a:t>
                </a:r>
                <a:endParaRPr lang="en-CN" dirty="0"/>
              </a:p>
            </p:txBody>
          </p:sp>
        </mc:Choice>
        <mc:Fallback xmlns="">
          <p:sp>
            <p:nvSpPr>
              <p:cNvPr id="7" name="TextBox 6">
                <a:extLst>
                  <a:ext uri="{FF2B5EF4-FFF2-40B4-BE49-F238E27FC236}">
                    <a16:creationId xmlns:a16="http://schemas.microsoft.com/office/drawing/2014/main" id="{7560914C-E61D-D449-B491-D785547797B1}"/>
                  </a:ext>
                </a:extLst>
              </p:cNvPr>
              <p:cNvSpPr txBox="1">
                <a:spLocks noRot="1" noChangeAspect="1" noMove="1" noResize="1" noEditPoints="1" noAdjustHandles="1" noChangeArrowheads="1" noChangeShapeType="1" noTextEdit="1"/>
              </p:cNvSpPr>
              <p:nvPr/>
            </p:nvSpPr>
            <p:spPr>
              <a:xfrm>
                <a:off x="1565564" y="1981200"/>
                <a:ext cx="8271163" cy="3982052"/>
              </a:xfrm>
              <a:prstGeom prst="rect">
                <a:avLst/>
              </a:prstGeom>
              <a:blipFill>
                <a:blip r:embed="rId3"/>
                <a:stretch>
                  <a:fillRect l="-613" t="-637" b="-8599"/>
                </a:stretch>
              </a:blipFill>
            </p:spPr>
            <p:txBody>
              <a:bodyPr/>
              <a:lstStyle/>
              <a:p>
                <a:r>
                  <a:rPr lang="en-CN">
                    <a:noFill/>
                  </a:rPr>
                  <a:t> </a:t>
                </a:r>
              </a:p>
            </p:txBody>
          </p:sp>
        </mc:Fallback>
      </mc:AlternateContent>
      <p:sp>
        <p:nvSpPr>
          <p:cNvPr id="8" name="Oval 7">
            <a:extLst>
              <a:ext uri="{FF2B5EF4-FFF2-40B4-BE49-F238E27FC236}">
                <a16:creationId xmlns:a16="http://schemas.microsoft.com/office/drawing/2014/main" id="{7D632581-0D75-024F-AE23-130B222E1ECB}"/>
              </a:ext>
            </a:extLst>
          </p:cNvPr>
          <p:cNvSpPr/>
          <p:nvPr/>
        </p:nvSpPr>
        <p:spPr>
          <a:xfrm>
            <a:off x="7301347" y="1544782"/>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415232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BDBA143-6A64-D145-8B96-5E5A3426D204}"/>
                  </a:ext>
                </a:extLst>
              </p:cNvPr>
              <p:cNvSpPr txBox="1"/>
              <p:nvPr/>
            </p:nvSpPr>
            <p:spPr>
              <a:xfrm>
                <a:off x="346363" y="244640"/>
                <a:ext cx="6179127" cy="369332"/>
              </a:xfrm>
              <a:prstGeom prst="rect">
                <a:avLst/>
              </a:prstGeom>
              <a:noFill/>
            </p:spPr>
            <p:txBody>
              <a:bodyPr wrap="square" rtlCol="0">
                <a:spAutoFit/>
              </a:bodyPr>
              <a:lstStyle/>
              <a:p>
                <a:r>
                  <a:rPr lang="en-US" altLang="zh-CN" dirty="0"/>
                  <a:t>2</a:t>
                </a:r>
                <a:r>
                  <a:rPr lang="zh-CN" altLang="en-US" dirty="0"/>
                  <a:t>，两个轨道（态</a:t>
                </a:r>
                <a:r>
                  <a:rPr lang="en-US" altLang="zh-CN" dirty="0"/>
                  <a:t>s</a:t>
                </a:r>
                <a:r>
                  <a:rPr lang="zh-CN" altLang="en-US" dirty="0"/>
                  <a:t>），能量标记为</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2</m:t>
                        </m:r>
                      </m:sub>
                    </m:sSub>
                  </m:oMath>
                </a14:m>
                <a:endParaRPr lang="en-CN" dirty="0"/>
              </a:p>
            </p:txBody>
          </p:sp>
        </mc:Choice>
        <mc:Fallback xmlns="">
          <p:sp>
            <p:nvSpPr>
              <p:cNvPr id="2" name="TextBox 1">
                <a:extLst>
                  <a:ext uri="{FF2B5EF4-FFF2-40B4-BE49-F238E27FC236}">
                    <a16:creationId xmlns:a16="http://schemas.microsoft.com/office/drawing/2014/main" id="{3BDBA143-6A64-D145-8B96-5E5A3426D204}"/>
                  </a:ext>
                </a:extLst>
              </p:cNvPr>
              <p:cNvSpPr txBox="1">
                <a:spLocks noRot="1" noChangeAspect="1" noMove="1" noResize="1" noEditPoints="1" noAdjustHandles="1" noChangeArrowheads="1" noChangeShapeType="1" noTextEdit="1"/>
              </p:cNvSpPr>
              <p:nvPr/>
            </p:nvSpPr>
            <p:spPr>
              <a:xfrm>
                <a:off x="346363" y="244640"/>
                <a:ext cx="6179127" cy="369332"/>
              </a:xfrm>
              <a:prstGeom prst="rect">
                <a:avLst/>
              </a:prstGeom>
              <a:blipFill>
                <a:blip r:embed="rId2"/>
                <a:stretch>
                  <a:fillRect l="-821" t="-6667" b="-26667"/>
                </a:stretch>
              </a:blipFill>
            </p:spPr>
            <p:txBody>
              <a:bodyPr/>
              <a:lstStyle/>
              <a:p>
                <a:r>
                  <a:rPr lang="en-CN">
                    <a:noFill/>
                  </a:rPr>
                  <a:t> </a:t>
                </a:r>
              </a:p>
            </p:txBody>
          </p:sp>
        </mc:Fallback>
      </mc:AlternateContent>
      <p:cxnSp>
        <p:nvCxnSpPr>
          <p:cNvPr id="3" name="Straight Connector 2">
            <a:extLst>
              <a:ext uri="{FF2B5EF4-FFF2-40B4-BE49-F238E27FC236}">
                <a16:creationId xmlns:a16="http://schemas.microsoft.com/office/drawing/2014/main" id="{C84C6E24-3641-D046-BFB1-22648DB2AFCF}"/>
              </a:ext>
            </a:extLst>
          </p:cNvPr>
          <p:cNvCxnSpPr/>
          <p:nvPr/>
        </p:nvCxnSpPr>
        <p:spPr>
          <a:xfrm>
            <a:off x="1427021" y="1593273"/>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067C5CF-D5F3-5A46-817A-2F2A8EB708C3}"/>
              </a:ext>
            </a:extLst>
          </p:cNvPr>
          <p:cNvCxnSpPr/>
          <p:nvPr/>
        </p:nvCxnSpPr>
        <p:spPr>
          <a:xfrm>
            <a:off x="4046816" y="1593273"/>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A1C7D01-82F8-564E-B1E3-FADDD28707EE}"/>
              </a:ext>
            </a:extLst>
          </p:cNvPr>
          <p:cNvCxnSpPr/>
          <p:nvPr/>
        </p:nvCxnSpPr>
        <p:spPr>
          <a:xfrm>
            <a:off x="6968836" y="1593273"/>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778EDF0-B568-3042-B01D-46F5EC676AFC}"/>
              </a:ext>
            </a:extLst>
          </p:cNvPr>
          <p:cNvCxnSpPr/>
          <p:nvPr/>
        </p:nvCxnSpPr>
        <p:spPr>
          <a:xfrm>
            <a:off x="10309070" y="1593273"/>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F22E50C1-80A4-C244-92C9-8A38DCB84EDC}"/>
              </a:ext>
            </a:extLst>
          </p:cNvPr>
          <p:cNvSpPr/>
          <p:nvPr/>
        </p:nvSpPr>
        <p:spPr>
          <a:xfrm>
            <a:off x="11000510" y="1461655"/>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9" name="Straight Connector 8">
            <a:extLst>
              <a:ext uri="{FF2B5EF4-FFF2-40B4-BE49-F238E27FC236}">
                <a16:creationId xmlns:a16="http://schemas.microsoft.com/office/drawing/2014/main" id="{1791FB57-1594-A248-BE1E-951717AB35BF}"/>
              </a:ext>
            </a:extLst>
          </p:cNvPr>
          <p:cNvCxnSpPr/>
          <p:nvPr/>
        </p:nvCxnSpPr>
        <p:spPr>
          <a:xfrm>
            <a:off x="1427021" y="2423638"/>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9E5B459-B03C-0F4E-A064-E5C3C584A2F0}"/>
              </a:ext>
            </a:extLst>
          </p:cNvPr>
          <p:cNvCxnSpPr/>
          <p:nvPr/>
        </p:nvCxnSpPr>
        <p:spPr>
          <a:xfrm>
            <a:off x="4046816" y="2423638"/>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216BB71E-C3E6-1A4C-B5BE-8229A81E84B6}"/>
              </a:ext>
            </a:extLst>
          </p:cNvPr>
          <p:cNvSpPr/>
          <p:nvPr/>
        </p:nvSpPr>
        <p:spPr>
          <a:xfrm>
            <a:off x="4738256" y="2292020"/>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2" name="Straight Connector 11">
            <a:extLst>
              <a:ext uri="{FF2B5EF4-FFF2-40B4-BE49-F238E27FC236}">
                <a16:creationId xmlns:a16="http://schemas.microsoft.com/office/drawing/2014/main" id="{C372E9DD-0B04-BF46-8CB8-6B15F56969CD}"/>
              </a:ext>
            </a:extLst>
          </p:cNvPr>
          <p:cNvCxnSpPr/>
          <p:nvPr/>
        </p:nvCxnSpPr>
        <p:spPr>
          <a:xfrm>
            <a:off x="6968836" y="2423638"/>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A595755-8DD1-6548-B415-0F84DE2ADE16}"/>
              </a:ext>
            </a:extLst>
          </p:cNvPr>
          <p:cNvCxnSpPr/>
          <p:nvPr/>
        </p:nvCxnSpPr>
        <p:spPr>
          <a:xfrm>
            <a:off x="10309070" y="2423638"/>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0BCC60C7-3F27-C248-BBE0-6C0729CBF377}"/>
              </a:ext>
            </a:extLst>
          </p:cNvPr>
          <p:cNvSpPr/>
          <p:nvPr/>
        </p:nvSpPr>
        <p:spPr>
          <a:xfrm>
            <a:off x="11000510" y="2292020"/>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Oval 14">
            <a:extLst>
              <a:ext uri="{FF2B5EF4-FFF2-40B4-BE49-F238E27FC236}">
                <a16:creationId xmlns:a16="http://schemas.microsoft.com/office/drawing/2014/main" id="{A1CD6D21-4A0E-0D4E-BD54-DAADD821C11F}"/>
              </a:ext>
            </a:extLst>
          </p:cNvPr>
          <p:cNvSpPr/>
          <p:nvPr/>
        </p:nvSpPr>
        <p:spPr>
          <a:xfrm>
            <a:off x="7647709" y="1433946"/>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F36B9C5-C9BD-7840-8F75-0D526A4B43FD}"/>
                  </a:ext>
                </a:extLst>
              </p:cNvPr>
              <p:cNvSpPr txBox="1"/>
              <p:nvPr/>
            </p:nvSpPr>
            <p:spPr>
              <a:xfrm>
                <a:off x="110836" y="2236600"/>
                <a:ext cx="48490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1</m:t>
                          </m:r>
                        </m:sub>
                      </m:sSub>
                    </m:oMath>
                  </m:oMathPara>
                </a14:m>
                <a:endParaRPr lang="en-CN" dirty="0"/>
              </a:p>
            </p:txBody>
          </p:sp>
        </mc:Choice>
        <mc:Fallback xmlns="">
          <p:sp>
            <p:nvSpPr>
              <p:cNvPr id="16" name="TextBox 15">
                <a:extLst>
                  <a:ext uri="{FF2B5EF4-FFF2-40B4-BE49-F238E27FC236}">
                    <a16:creationId xmlns:a16="http://schemas.microsoft.com/office/drawing/2014/main" id="{6F36B9C5-C9BD-7840-8F75-0D526A4B43FD}"/>
                  </a:ext>
                </a:extLst>
              </p:cNvPr>
              <p:cNvSpPr txBox="1">
                <a:spLocks noRot="1" noChangeAspect="1" noMove="1" noResize="1" noEditPoints="1" noAdjustHandles="1" noChangeArrowheads="1" noChangeShapeType="1" noTextEdit="1"/>
              </p:cNvSpPr>
              <p:nvPr/>
            </p:nvSpPr>
            <p:spPr>
              <a:xfrm>
                <a:off x="110836" y="2236600"/>
                <a:ext cx="484909" cy="369332"/>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0DE4577-F691-CD41-B1F7-5FE1CCCF94DD}"/>
                  </a:ext>
                </a:extLst>
              </p:cNvPr>
              <p:cNvSpPr txBox="1"/>
              <p:nvPr/>
            </p:nvSpPr>
            <p:spPr>
              <a:xfrm>
                <a:off x="97625" y="1380898"/>
                <a:ext cx="48490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2</m:t>
                          </m:r>
                        </m:sub>
                      </m:sSub>
                    </m:oMath>
                  </m:oMathPara>
                </a14:m>
                <a:endParaRPr lang="en-CN" dirty="0"/>
              </a:p>
            </p:txBody>
          </p:sp>
        </mc:Choice>
        <mc:Fallback xmlns="">
          <p:sp>
            <p:nvSpPr>
              <p:cNvPr id="17" name="TextBox 16">
                <a:extLst>
                  <a:ext uri="{FF2B5EF4-FFF2-40B4-BE49-F238E27FC236}">
                    <a16:creationId xmlns:a16="http://schemas.microsoft.com/office/drawing/2014/main" id="{00DE4577-F691-CD41-B1F7-5FE1CCCF94DD}"/>
                  </a:ext>
                </a:extLst>
              </p:cNvPr>
              <p:cNvSpPr txBox="1">
                <a:spLocks noRot="1" noChangeAspect="1" noMove="1" noResize="1" noEditPoints="1" noAdjustHandles="1" noChangeArrowheads="1" noChangeShapeType="1" noTextEdit="1"/>
              </p:cNvSpPr>
              <p:nvPr/>
            </p:nvSpPr>
            <p:spPr>
              <a:xfrm>
                <a:off x="97625" y="1380898"/>
                <a:ext cx="484909" cy="369332"/>
              </a:xfrm>
              <a:prstGeom prst="rect">
                <a:avLst/>
              </a:prstGeom>
              <a:blipFill>
                <a:blip r:embed="rId4"/>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211DC51-9F54-EF4F-A57C-01F14684E33A}"/>
                  </a:ext>
                </a:extLst>
              </p:cNvPr>
              <p:cNvSpPr txBox="1"/>
              <p:nvPr/>
            </p:nvSpPr>
            <p:spPr>
              <a:xfrm>
                <a:off x="0" y="2875948"/>
                <a:ext cx="12039600" cy="3241015"/>
              </a:xfrm>
              <a:prstGeom prst="rect">
                <a:avLst/>
              </a:prstGeom>
              <a:noFill/>
            </p:spPr>
            <p:txBody>
              <a:bodyPr wrap="square">
                <a:spAutoFit/>
              </a:bodyPr>
              <a:lstStyle/>
              <a:p>
                <a:r>
                  <a:rPr lang="en-CN" dirty="0"/>
                  <a:t>粒子数</a:t>
                </a:r>
                <a:r>
                  <a:rPr lang="zh-CN" altLang="en-US" dirty="0"/>
                  <a:t>                                 </a:t>
                </a:r>
                <a:r>
                  <a:rPr lang="en-US" altLang="zh-CN" dirty="0"/>
                  <a:t>0</a:t>
                </a:r>
                <a:r>
                  <a:rPr lang="zh-CN" altLang="en-US" dirty="0"/>
                  <a:t>                                          </a:t>
                </a:r>
                <a:r>
                  <a:rPr lang="en-US" altLang="zh-CN" dirty="0"/>
                  <a:t>1                                                     1                                                              2</a:t>
                </a:r>
                <a:endParaRPr lang="en-CN" dirty="0"/>
              </a:p>
              <a:p>
                <a:r>
                  <a:rPr lang="en-CN" dirty="0"/>
                  <a:t>能量</a:t>
                </a:r>
                <a:r>
                  <a:rPr lang="zh-CN" altLang="en-US" dirty="0"/>
                  <a:t>                                     </a:t>
                </a:r>
                <a:r>
                  <a:rPr lang="en-US" altLang="zh-CN" dirty="0"/>
                  <a:t>0</a:t>
                </a:r>
                <a:r>
                  <a:rPr lang="zh-CN" altLang="en-US" dirty="0"/>
                  <a:t>                                          </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2</m:t>
                        </m:r>
                      </m:sub>
                    </m:sSub>
                  </m:oMath>
                </a14:m>
                <a:r>
                  <a:rPr lang="en-US" altLang="zh-CN" dirty="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𝜀</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𝜀</m:t>
                        </m:r>
                      </m:e>
                      <m:sub>
                        <m:r>
                          <a:rPr lang="en-US" altLang="zh-CN" b="0" i="1" dirty="0" smtClean="0">
                            <a:latin typeface="Cambria Math" panose="02040503050406030204" pitchFamily="18" charset="0"/>
                          </a:rPr>
                          <m:t>2</m:t>
                        </m:r>
                      </m:sub>
                    </m:sSub>
                  </m:oMath>
                </a14:m>
                <a:endParaRPr lang="en-US" altLang="zh-CN" dirty="0"/>
              </a:p>
              <a:p>
                <a:r>
                  <a:rPr lang="en-US" altLang="zh-CN" dirty="0"/>
                  <a:t>Gibbs</a:t>
                </a:r>
                <a:r>
                  <a:rPr lang="zh-CN" altLang="en-US" dirty="0"/>
                  <a:t> </a:t>
                </a:r>
                <a:r>
                  <a:rPr lang="en-US" altLang="zh-CN" dirty="0"/>
                  <a:t>Factor</a:t>
                </a:r>
                <a:r>
                  <a:rPr lang="zh-CN" altLang="en-US" dirty="0"/>
                  <a:t>                        </a:t>
                </a:r>
                <a:r>
                  <a:rPr lang="en-US" altLang="zh-CN" dirty="0"/>
                  <a:t>1</a:t>
                </a:r>
                <a:r>
                  <a:rPr lang="zh-CN" altLang="en-US" dirty="0"/>
                  <a:t>                                      </a:t>
                </a:r>
                <a:r>
                  <a:rPr lang="en-US" altLang="zh-CN" dirty="0"/>
                  <a:t> </a:t>
                </a:r>
                <a14:m>
                  <m:oMath xmlns:m="http://schemas.openxmlformats.org/officeDocument/2006/math">
                    <m:r>
                      <a:rPr lang="zh-CN" altLang="en-US" i="1" smtClean="0">
                        <a:latin typeface="Cambria Math" panose="02040503050406030204" pitchFamily="18" charset="0"/>
                      </a:rPr>
                      <m:t>𝜆</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                                         </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                                              </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𝜆</m:t>
                        </m:r>
                      </m:e>
                      <m:sup>
                        <m:r>
                          <a:rPr lang="en-US" altLang="zh-CN" b="0" i="1" smtClean="0">
                            <a:latin typeface="Cambria Math" panose="02040503050406030204" pitchFamily="18" charset="0"/>
                            <a:ea typeface="Cambria Math" panose="02040503050406030204" pitchFamily="18" charset="0"/>
                          </a:rPr>
                          <m:t>2</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oMath>
                </a14:m>
                <a:endParaRPr lang="en-US" altLang="zh-CN" dirty="0"/>
              </a:p>
              <a:p>
                <a:endParaRPr lang="en-US" altLang="zh-CN" dirty="0"/>
              </a:p>
              <a:p>
                <a:r>
                  <a:rPr lang="en-US" altLang="zh-CN" dirty="0"/>
                  <a:t>Gibbs Sum</a:t>
                </a:r>
              </a:p>
              <a:p>
                <a:pPr algn="ct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𝒵</m:t>
                      </m:r>
                      <m:r>
                        <a:rPr lang="en-US" altLang="zh-CN" b="0" i="1" smtClean="0">
                          <a:latin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i="1">
                          <a:latin typeface="Cambria Math" panose="02040503050406030204" pitchFamily="18" charset="0"/>
                        </a:rPr>
                        <m:t>+</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i="1">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𝜆</m:t>
                          </m:r>
                        </m:e>
                        <m:sup>
                          <m:r>
                            <a:rPr lang="en-US" altLang="zh-CN" b="0" i="1" smtClean="0">
                              <a:latin typeface="Cambria Math" panose="02040503050406030204" pitchFamily="18" charset="0"/>
                            </a:rPr>
                            <m:t>2</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e>
                      </m:d>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e>
                      </m:d>
                    </m:oMath>
                  </m:oMathPara>
                </a14:m>
                <a:endParaRPr lang="en-US" altLang="zh-CN" dirty="0"/>
              </a:p>
              <a:p>
                <a:pPr algn="ctr"/>
                <a:endParaRPr lang="en-US" altLang="zh-CN" dirty="0"/>
              </a:p>
              <a:p>
                <a:r>
                  <a:rPr lang="en-US" altLang="zh-CN" dirty="0"/>
                  <a:t>Average number of particles in </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oMath>
                </a14:m>
                <a:r>
                  <a:rPr lang="en-US" altLang="zh-CN" dirty="0"/>
                  <a:t> state(the occupancy of the state)</a:t>
                </a:r>
              </a:p>
              <a:p>
                <a:pPr algn="ct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ea typeface="Cambria Math" panose="02040503050406030204" pitchFamily="18" charset="0"/>
                        </a:rPr>
                        <m:t>=</m:t>
                      </m:r>
                      <m:d>
                        <m:dPr>
                          <m:begChr m:val="⟨"/>
                          <m:endChr m:val="⟩"/>
                          <m:ctrlPr>
                            <a:rPr lang="zh-CN" altLang="en-US"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𝜆</m:t>
                              </m:r>
                            </m:e>
                            <m:sup>
                              <m:r>
                                <a:rPr lang="en-US" altLang="zh-CN" i="1">
                                  <a:latin typeface="Cambria Math" panose="02040503050406030204" pitchFamily="18" charset="0"/>
                                  <a:ea typeface="Cambria Math" panose="02040503050406030204" pitchFamily="18" charset="0"/>
                                </a:rPr>
                                <m:t>2</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num>
                        <m:den>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e>
                          </m:d>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e>
                          </m:d>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𝜇</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rPr>
                            <m:t>+1</m:t>
                          </m:r>
                        </m:den>
                      </m:f>
                    </m:oMath>
                  </m:oMathPara>
                </a14:m>
                <a:endParaRPr lang="en-US" altLang="zh-CN" dirty="0"/>
              </a:p>
              <a:p>
                <a:pPr algn="ctr"/>
                <a:endParaRPr lang="en-US" altLang="zh-CN" dirty="0"/>
              </a:p>
            </p:txBody>
          </p:sp>
        </mc:Choice>
        <mc:Fallback xmlns="">
          <p:sp>
            <p:nvSpPr>
              <p:cNvPr id="19" name="TextBox 18">
                <a:extLst>
                  <a:ext uri="{FF2B5EF4-FFF2-40B4-BE49-F238E27FC236}">
                    <a16:creationId xmlns:a16="http://schemas.microsoft.com/office/drawing/2014/main" id="{F211DC51-9F54-EF4F-A57C-01F14684E33A}"/>
                  </a:ext>
                </a:extLst>
              </p:cNvPr>
              <p:cNvSpPr txBox="1">
                <a:spLocks noRot="1" noChangeAspect="1" noMove="1" noResize="1" noEditPoints="1" noAdjustHandles="1" noChangeArrowheads="1" noChangeShapeType="1" noTextEdit="1"/>
              </p:cNvSpPr>
              <p:nvPr/>
            </p:nvSpPr>
            <p:spPr>
              <a:xfrm>
                <a:off x="0" y="2875948"/>
                <a:ext cx="12039600" cy="3241015"/>
              </a:xfrm>
              <a:prstGeom prst="rect">
                <a:avLst/>
              </a:prstGeom>
              <a:blipFill>
                <a:blip r:embed="rId5"/>
                <a:stretch>
                  <a:fillRect l="-421" t="-781"/>
                </a:stretch>
              </a:blipFill>
            </p:spPr>
            <p:txBody>
              <a:bodyPr/>
              <a:lstStyle/>
              <a:p>
                <a:r>
                  <a:rPr lang="en-CN">
                    <a:noFill/>
                  </a:rPr>
                  <a:t> </a:t>
                </a:r>
              </a:p>
            </p:txBody>
          </p:sp>
        </mc:Fallback>
      </mc:AlternateContent>
    </p:spTree>
    <p:extLst>
      <p:ext uri="{BB962C8B-B14F-4D97-AF65-F5344CB8AC3E}">
        <p14:creationId xmlns:p14="http://schemas.microsoft.com/office/powerpoint/2010/main" val="2824499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81365AE-62D0-744F-8A37-348344293909}"/>
                  </a:ext>
                </a:extLst>
              </p:cNvPr>
              <p:cNvSpPr txBox="1"/>
              <p:nvPr/>
            </p:nvSpPr>
            <p:spPr>
              <a:xfrm>
                <a:off x="346363" y="244640"/>
                <a:ext cx="6179127" cy="369332"/>
              </a:xfrm>
              <a:prstGeom prst="rect">
                <a:avLst/>
              </a:prstGeom>
              <a:noFill/>
            </p:spPr>
            <p:txBody>
              <a:bodyPr wrap="square" rtlCol="0">
                <a:spAutoFit/>
              </a:bodyPr>
              <a:lstStyle/>
              <a:p>
                <a:r>
                  <a:rPr lang="en-US" altLang="zh-CN" dirty="0"/>
                  <a:t>3</a:t>
                </a:r>
                <a:r>
                  <a:rPr lang="zh-CN" altLang="en-US" dirty="0"/>
                  <a:t>，任意个轨道（态</a:t>
                </a:r>
                <a:r>
                  <a:rPr lang="en-US" altLang="zh-CN" dirty="0"/>
                  <a:t>s</a:t>
                </a:r>
                <a:r>
                  <a:rPr lang="zh-CN" altLang="en-US" dirty="0"/>
                  <a:t>），能量标记为</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𝑖</m:t>
                        </m:r>
                      </m:sub>
                    </m:sSub>
                  </m:oMath>
                </a14:m>
                <a:endParaRPr lang="en-CN" dirty="0"/>
              </a:p>
            </p:txBody>
          </p:sp>
        </mc:Choice>
        <mc:Fallback xmlns="">
          <p:sp>
            <p:nvSpPr>
              <p:cNvPr id="2" name="TextBox 1">
                <a:extLst>
                  <a:ext uri="{FF2B5EF4-FFF2-40B4-BE49-F238E27FC236}">
                    <a16:creationId xmlns:a16="http://schemas.microsoft.com/office/drawing/2014/main" id="{581365AE-62D0-744F-8A37-348344293909}"/>
                  </a:ext>
                </a:extLst>
              </p:cNvPr>
              <p:cNvSpPr txBox="1">
                <a:spLocks noRot="1" noChangeAspect="1" noMove="1" noResize="1" noEditPoints="1" noAdjustHandles="1" noChangeArrowheads="1" noChangeShapeType="1" noTextEdit="1"/>
              </p:cNvSpPr>
              <p:nvPr/>
            </p:nvSpPr>
            <p:spPr>
              <a:xfrm>
                <a:off x="346363" y="244640"/>
                <a:ext cx="6179127" cy="369332"/>
              </a:xfrm>
              <a:prstGeom prst="rect">
                <a:avLst/>
              </a:prstGeom>
              <a:blipFill>
                <a:blip r:embed="rId2"/>
                <a:stretch>
                  <a:fillRect l="-821"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F8047F0-12BE-0A4F-8CBF-4F172C193D38}"/>
                  </a:ext>
                </a:extLst>
              </p:cNvPr>
              <p:cNvSpPr txBox="1"/>
              <p:nvPr/>
            </p:nvSpPr>
            <p:spPr>
              <a:xfrm>
                <a:off x="3048000" y="1822085"/>
                <a:ext cx="6096000" cy="24729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4000" i="1" smtClean="0">
                          <a:latin typeface="Cambria Math" panose="02040503050406030204" pitchFamily="18" charset="0"/>
                        </a:rPr>
                        <m:t>𝒵</m:t>
                      </m:r>
                      <m:r>
                        <a:rPr lang="en-US" altLang="zh-CN" sz="4000" b="0" i="1" smtClean="0">
                          <a:latin typeface="Cambria Math" panose="02040503050406030204" pitchFamily="18" charset="0"/>
                          <a:ea typeface="Cambria Math" panose="02040503050406030204" pitchFamily="18" charset="0"/>
                        </a:rPr>
                        <m:t>=</m:t>
                      </m:r>
                      <m:nary>
                        <m:naryPr>
                          <m:chr m:val="∏"/>
                          <m:supHide m:val="on"/>
                          <m:ctrlPr>
                            <a:rPr lang="en-US" altLang="zh-CN" sz="4000" b="0" i="1" smtClean="0">
                              <a:latin typeface="Cambria Math" panose="02040503050406030204" pitchFamily="18" charset="0"/>
                              <a:ea typeface="Cambria Math" panose="02040503050406030204" pitchFamily="18" charset="0"/>
                            </a:rPr>
                          </m:ctrlPr>
                        </m:naryPr>
                        <m:sub>
                          <m:r>
                            <m:rPr>
                              <m:brk m:alnAt="7"/>
                            </m:rPr>
                            <a:rPr lang="en-US" altLang="zh-CN" sz="4000" b="0" i="1" smtClean="0">
                              <a:latin typeface="Cambria Math" panose="02040503050406030204" pitchFamily="18" charset="0"/>
                              <a:ea typeface="Cambria Math" panose="02040503050406030204" pitchFamily="18" charset="0"/>
                            </a:rPr>
                            <m:t>𝑖</m:t>
                          </m:r>
                        </m:sub>
                        <m:sup/>
                        <m:e>
                          <m:d>
                            <m:dPr>
                              <m:ctrlPr>
                                <a:rPr lang="en-US" altLang="zh-CN" sz="4000" i="1">
                                  <a:latin typeface="Cambria Math" panose="02040503050406030204" pitchFamily="18" charset="0"/>
                                  <a:ea typeface="Cambria Math" panose="02040503050406030204" pitchFamily="18" charset="0"/>
                                </a:rPr>
                              </m:ctrlPr>
                            </m:dPr>
                            <m:e>
                              <m:r>
                                <a:rPr lang="en-US" altLang="zh-CN" sz="4000" i="1">
                                  <a:latin typeface="Cambria Math" panose="02040503050406030204" pitchFamily="18" charset="0"/>
                                  <a:ea typeface="Cambria Math" panose="02040503050406030204" pitchFamily="18" charset="0"/>
                                </a:rPr>
                                <m:t>1+</m:t>
                              </m:r>
                              <m:r>
                                <a:rPr lang="zh-CN" altLang="en-US" sz="4000" i="1">
                                  <a:latin typeface="Cambria Math" panose="02040503050406030204" pitchFamily="18" charset="0"/>
                                </a:rPr>
                                <m:t>𝜆</m:t>
                              </m:r>
                              <m:sSup>
                                <m:sSupPr>
                                  <m:ctrlPr>
                                    <a:rPr lang="en-US" altLang="zh-CN" sz="4000" i="1">
                                      <a:latin typeface="Cambria Math" panose="02040503050406030204" pitchFamily="18" charset="0"/>
                                    </a:rPr>
                                  </m:ctrlPr>
                                </m:sSupPr>
                                <m:e>
                                  <m:r>
                                    <a:rPr lang="en-US" altLang="zh-CN" sz="4000" i="1">
                                      <a:latin typeface="Cambria Math" panose="02040503050406030204" pitchFamily="18" charset="0"/>
                                    </a:rPr>
                                    <m:t>𝑒</m:t>
                                  </m:r>
                                </m:e>
                                <m:sup>
                                  <m:r>
                                    <a:rPr lang="en-US" altLang="zh-CN" sz="4000" i="1">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ea typeface="Cambria Math" panose="02040503050406030204" pitchFamily="18" charset="0"/>
                                        </a:rPr>
                                        <m:t>𝑖</m:t>
                                      </m:r>
                                    </m:sub>
                                  </m:sSub>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𝜏</m:t>
                                  </m:r>
                                </m:sup>
                              </m:sSup>
                            </m:e>
                          </m:d>
                        </m:e>
                      </m:nary>
                    </m:oMath>
                  </m:oMathPara>
                </a14:m>
                <a:endParaRPr lang="en-CN" sz="4000" dirty="0"/>
              </a:p>
              <a:p>
                <a:pPr algn="ctr"/>
                <a14:m>
                  <m:oMath xmlns:m="http://schemas.openxmlformats.org/officeDocument/2006/math">
                    <m:r>
                      <a:rPr lang="en-US" altLang="zh-CN" sz="4000" i="1">
                        <a:latin typeface="Cambria Math" panose="02040503050406030204" pitchFamily="18" charset="0"/>
                      </a:rPr>
                      <m:t>𝑓</m:t>
                    </m:r>
                    <m:d>
                      <m:dPr>
                        <m:ctrlPr>
                          <a:rPr lang="en-US" altLang="zh-CN" sz="4000" i="1">
                            <a:latin typeface="Cambria Math" panose="02040503050406030204" pitchFamily="18" charset="0"/>
                          </a:rPr>
                        </m:ctrlPr>
                      </m:dPr>
                      <m:e>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e>
                    </m:d>
                    <m:r>
                      <a:rPr lang="en-US" altLang="zh-CN" sz="4000" i="1">
                        <a:latin typeface="Cambria Math" panose="02040503050406030204" pitchFamily="18" charset="0"/>
                      </a:rPr>
                      <m:t>=</m:t>
                    </m:r>
                  </m:oMath>
                </a14:m>
                <a:r>
                  <a:rPr lang="en-US" altLang="zh-CN" sz="4000" dirty="0"/>
                  <a:t> </a:t>
                </a:r>
                <a14:m>
                  <m:oMath xmlns:m="http://schemas.openxmlformats.org/officeDocument/2006/math">
                    <m:f>
                      <m:fPr>
                        <m:ctrlPr>
                          <a:rPr lang="en-US" altLang="zh-CN" sz="4000" i="1">
                            <a:latin typeface="Cambria Math" panose="02040503050406030204" pitchFamily="18" charset="0"/>
                          </a:rPr>
                        </m:ctrlPr>
                      </m:fPr>
                      <m:num>
                        <m:r>
                          <a:rPr lang="en-US" altLang="zh-CN" sz="4000" i="1">
                            <a:latin typeface="Cambria Math" panose="02040503050406030204" pitchFamily="18" charset="0"/>
                          </a:rPr>
                          <m:t>1</m:t>
                        </m:r>
                      </m:num>
                      <m:den>
                        <m:sSup>
                          <m:sSupPr>
                            <m:ctrlPr>
                              <a:rPr lang="en-US" altLang="zh-CN" sz="4000" i="1">
                                <a:latin typeface="Cambria Math" panose="02040503050406030204" pitchFamily="18" charset="0"/>
                              </a:rPr>
                            </m:ctrlPr>
                          </m:sSupPr>
                          <m:e>
                            <m:r>
                              <a:rPr lang="en-US" altLang="zh-CN" sz="4000" i="1">
                                <a:latin typeface="Cambria Math" panose="02040503050406030204" pitchFamily="18" charset="0"/>
                              </a:rPr>
                              <m:t>𝑒</m:t>
                            </m:r>
                          </m:e>
                          <m:sup>
                            <m:r>
                              <a:rPr lang="en-US" altLang="zh-CN" sz="4000" i="1">
                                <a:latin typeface="Cambria Math" panose="02040503050406030204" pitchFamily="18" charset="0"/>
                              </a:rPr>
                              <m:t>(</m:t>
                            </m:r>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𝜇</m:t>
                            </m:r>
                            <m:r>
                              <a:rPr lang="en-US" altLang="zh-CN" sz="4000" i="1">
                                <a:latin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𝜏</m:t>
                            </m:r>
                          </m:sup>
                        </m:sSup>
                        <m:r>
                          <a:rPr lang="en-US" altLang="zh-CN" sz="4000" i="1">
                            <a:latin typeface="Cambria Math" panose="02040503050406030204" pitchFamily="18" charset="0"/>
                          </a:rPr>
                          <m:t>+1</m:t>
                        </m:r>
                      </m:den>
                    </m:f>
                  </m:oMath>
                </a14:m>
                <a:endParaRPr lang="en-CN" sz="4000" dirty="0"/>
              </a:p>
            </p:txBody>
          </p:sp>
        </mc:Choice>
        <mc:Fallback xmlns="">
          <p:sp>
            <p:nvSpPr>
              <p:cNvPr id="4" name="TextBox 3">
                <a:extLst>
                  <a:ext uri="{FF2B5EF4-FFF2-40B4-BE49-F238E27FC236}">
                    <a16:creationId xmlns:a16="http://schemas.microsoft.com/office/drawing/2014/main" id="{2F8047F0-12BE-0A4F-8CBF-4F172C193D38}"/>
                  </a:ext>
                </a:extLst>
              </p:cNvPr>
              <p:cNvSpPr txBox="1">
                <a:spLocks noRot="1" noChangeAspect="1" noMove="1" noResize="1" noEditPoints="1" noAdjustHandles="1" noChangeArrowheads="1" noChangeShapeType="1" noTextEdit="1"/>
              </p:cNvSpPr>
              <p:nvPr/>
            </p:nvSpPr>
            <p:spPr>
              <a:xfrm>
                <a:off x="3048000" y="1822085"/>
                <a:ext cx="6096000" cy="2472985"/>
              </a:xfrm>
              <a:prstGeom prst="rect">
                <a:avLst/>
              </a:prstGeom>
              <a:blipFill>
                <a:blip r:embed="rId3"/>
                <a:stretch>
                  <a:fillRect l="-3333" t="-87755" b="-84694"/>
                </a:stretch>
              </a:blipFill>
            </p:spPr>
            <p:txBody>
              <a:bodyPr/>
              <a:lstStyle/>
              <a:p>
                <a:r>
                  <a:rPr lang="en-CN">
                    <a:noFill/>
                  </a:rPr>
                  <a:t> </a:t>
                </a:r>
              </a:p>
            </p:txBody>
          </p:sp>
        </mc:Fallback>
      </mc:AlternateContent>
    </p:spTree>
    <p:extLst>
      <p:ext uri="{BB962C8B-B14F-4D97-AF65-F5344CB8AC3E}">
        <p14:creationId xmlns:p14="http://schemas.microsoft.com/office/powerpoint/2010/main" val="3946957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10B314-2BCD-134F-A19B-77C825E9C40F}"/>
              </a:ext>
            </a:extLst>
          </p:cNvPr>
          <p:cNvSpPr txBox="1"/>
          <p:nvPr/>
        </p:nvSpPr>
        <p:spPr>
          <a:xfrm>
            <a:off x="595745" y="0"/>
            <a:ext cx="10584873" cy="707886"/>
          </a:xfrm>
          <a:prstGeom prst="rect">
            <a:avLst/>
          </a:prstGeom>
          <a:noFill/>
        </p:spPr>
        <p:txBody>
          <a:bodyPr wrap="square" rtlCol="0">
            <a:spAutoFit/>
          </a:bodyPr>
          <a:lstStyle/>
          <a:p>
            <a:pPr algn="ctr"/>
            <a:r>
              <a:rPr lang="en-CN" sz="4000"/>
              <a:t>Bose-Einstein </a:t>
            </a:r>
            <a:r>
              <a:rPr lang="en-CN" sz="4000" dirty="0"/>
              <a:t>Distribution function</a:t>
            </a:r>
          </a:p>
        </p:txBody>
      </p:sp>
      <p:pic>
        <p:nvPicPr>
          <p:cNvPr id="5" name="Picture 4">
            <a:extLst>
              <a:ext uri="{FF2B5EF4-FFF2-40B4-BE49-F238E27FC236}">
                <a16:creationId xmlns:a16="http://schemas.microsoft.com/office/drawing/2014/main" id="{80F3049D-2780-844C-AA20-3C29BFC2BDB7}"/>
              </a:ext>
            </a:extLst>
          </p:cNvPr>
          <p:cNvPicPr>
            <a:picLocks noChangeAspect="1"/>
          </p:cNvPicPr>
          <p:nvPr/>
        </p:nvPicPr>
        <p:blipFill>
          <a:blip r:embed="rId2"/>
          <a:stretch>
            <a:fillRect/>
          </a:stretch>
        </p:blipFill>
        <p:spPr>
          <a:xfrm>
            <a:off x="254000" y="1234359"/>
            <a:ext cx="11938000" cy="609600"/>
          </a:xfrm>
          <a:prstGeom prst="rect">
            <a:avLst/>
          </a:prstGeom>
        </p:spPr>
      </p:pic>
      <p:pic>
        <p:nvPicPr>
          <p:cNvPr id="1026" name="Picture 2">
            <a:extLst>
              <a:ext uri="{FF2B5EF4-FFF2-40B4-BE49-F238E27FC236}">
                <a16:creationId xmlns:a16="http://schemas.microsoft.com/office/drawing/2014/main" id="{1F924E1E-D0D1-B243-8642-74452DC185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964" y="2254827"/>
            <a:ext cx="2794000" cy="3733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A8059D0-A91E-CB48-BACB-0683EEF066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3038" y="2318327"/>
            <a:ext cx="2794000" cy="367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393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C55214-A009-7E46-B8D8-0D890A58C16A}"/>
              </a:ext>
            </a:extLst>
          </p:cNvPr>
          <p:cNvSpPr txBox="1"/>
          <p:nvPr/>
        </p:nvSpPr>
        <p:spPr>
          <a:xfrm>
            <a:off x="415636" y="387927"/>
            <a:ext cx="4475019" cy="369332"/>
          </a:xfrm>
          <a:prstGeom prst="rect">
            <a:avLst/>
          </a:prstGeom>
          <a:noFill/>
        </p:spPr>
        <p:txBody>
          <a:bodyPr wrap="square" rtlCol="0">
            <a:spAutoFit/>
          </a:bodyPr>
          <a:lstStyle/>
          <a:p>
            <a:r>
              <a:rPr lang="en-CN" dirty="0"/>
              <a:t>Grand Canonical Ensemble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CC5A3AC-AB18-184C-99C9-9BCF96856929}"/>
                  </a:ext>
                </a:extLst>
              </p:cNvPr>
              <p:cNvSpPr txBox="1"/>
              <p:nvPr/>
            </p:nvSpPr>
            <p:spPr>
              <a:xfrm>
                <a:off x="1219200" y="757259"/>
                <a:ext cx="6179127" cy="369332"/>
              </a:xfrm>
              <a:prstGeom prst="rect">
                <a:avLst/>
              </a:prstGeom>
              <a:noFill/>
            </p:spPr>
            <p:txBody>
              <a:bodyPr wrap="square" rtlCol="0">
                <a:spAutoFit/>
              </a:bodyPr>
              <a:lstStyle/>
              <a:p>
                <a:r>
                  <a:rPr lang="en-US" altLang="zh-CN" dirty="0"/>
                  <a:t>1</a:t>
                </a:r>
                <a:r>
                  <a:rPr lang="zh-CN" altLang="en-US" dirty="0"/>
                  <a:t>，一个轨道（态），能量标记为</a:t>
                </a:r>
                <a14:m>
                  <m:oMath xmlns:m="http://schemas.openxmlformats.org/officeDocument/2006/math">
                    <m:r>
                      <a:rPr lang="zh-CN" altLang="en-US" i="1" smtClean="0">
                        <a:latin typeface="Cambria Math" panose="02040503050406030204" pitchFamily="18" charset="0"/>
                      </a:rPr>
                      <m:t>𝜀</m:t>
                    </m:r>
                  </m:oMath>
                </a14:m>
                <a:endParaRPr lang="en-CN" dirty="0"/>
              </a:p>
            </p:txBody>
          </p:sp>
        </mc:Choice>
        <mc:Fallback xmlns="">
          <p:sp>
            <p:nvSpPr>
              <p:cNvPr id="3" name="TextBox 2">
                <a:extLst>
                  <a:ext uri="{FF2B5EF4-FFF2-40B4-BE49-F238E27FC236}">
                    <a16:creationId xmlns:a16="http://schemas.microsoft.com/office/drawing/2014/main" id="{3CC5A3AC-AB18-184C-99C9-9BCF96856929}"/>
                  </a:ext>
                </a:extLst>
              </p:cNvPr>
              <p:cNvSpPr txBox="1">
                <a:spLocks noRot="1" noChangeAspect="1" noMove="1" noResize="1" noEditPoints="1" noAdjustHandles="1" noChangeArrowheads="1" noChangeShapeType="1" noTextEdit="1"/>
              </p:cNvSpPr>
              <p:nvPr/>
            </p:nvSpPr>
            <p:spPr>
              <a:xfrm>
                <a:off x="1219200" y="757259"/>
                <a:ext cx="6179127" cy="369332"/>
              </a:xfrm>
              <a:prstGeom prst="rect">
                <a:avLst/>
              </a:prstGeom>
              <a:blipFill>
                <a:blip r:embed="rId2"/>
                <a:stretch>
                  <a:fillRect l="-821" t="-6667" b="-26667"/>
                </a:stretch>
              </a:blipFill>
            </p:spPr>
            <p:txBody>
              <a:bodyPr/>
              <a:lstStyle/>
              <a:p>
                <a:r>
                  <a:rPr lang="en-CN">
                    <a:noFill/>
                  </a:rPr>
                  <a:t> </a:t>
                </a:r>
              </a:p>
            </p:txBody>
          </p:sp>
        </mc:Fallback>
      </mc:AlternateContent>
      <p:cxnSp>
        <p:nvCxnSpPr>
          <p:cNvPr id="5" name="Straight Connector 4">
            <a:extLst>
              <a:ext uri="{FF2B5EF4-FFF2-40B4-BE49-F238E27FC236}">
                <a16:creationId xmlns:a16="http://schemas.microsoft.com/office/drawing/2014/main" id="{AFE52EBD-994A-E54E-B247-B64A3A7D786F}"/>
              </a:ext>
            </a:extLst>
          </p:cNvPr>
          <p:cNvCxnSpPr/>
          <p:nvPr/>
        </p:nvCxnSpPr>
        <p:spPr>
          <a:xfrm>
            <a:off x="1427014" y="1690255"/>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8031088-A74E-344E-838B-8984657885D5}"/>
              </a:ext>
            </a:extLst>
          </p:cNvPr>
          <p:cNvCxnSpPr/>
          <p:nvPr/>
        </p:nvCxnSpPr>
        <p:spPr>
          <a:xfrm>
            <a:off x="3437211" y="1676400"/>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560914C-E61D-D449-B491-D785547797B1}"/>
                  </a:ext>
                </a:extLst>
              </p:cNvPr>
              <p:cNvSpPr txBox="1"/>
              <p:nvPr/>
            </p:nvSpPr>
            <p:spPr>
              <a:xfrm>
                <a:off x="55417" y="1981200"/>
                <a:ext cx="12136583" cy="4902561"/>
              </a:xfrm>
              <a:prstGeom prst="rect">
                <a:avLst/>
              </a:prstGeom>
              <a:noFill/>
            </p:spPr>
            <p:txBody>
              <a:bodyPr wrap="square" rtlCol="0">
                <a:spAutoFit/>
              </a:bodyPr>
              <a:lstStyle/>
              <a:p>
                <a:r>
                  <a:rPr lang="en-CN" dirty="0"/>
                  <a:t>粒子数</a:t>
                </a:r>
                <a:r>
                  <a:rPr lang="zh-CN" altLang="en-US" dirty="0"/>
                  <a:t>                      </a:t>
                </a:r>
                <a:r>
                  <a:rPr lang="en-US" altLang="zh-CN" dirty="0"/>
                  <a:t>    0</a:t>
                </a:r>
                <a:r>
                  <a:rPr lang="zh-CN" altLang="en-US" dirty="0"/>
                  <a:t>                                  </a:t>
                </a:r>
                <a:r>
                  <a:rPr lang="en-US" altLang="zh-CN" dirty="0"/>
                  <a:t> 1</a:t>
                </a:r>
                <a:r>
                  <a:rPr lang="en-CN" altLang="zh-CN" dirty="0"/>
                  <a:t>                                     2                                  3                         …n…</a:t>
                </a:r>
                <a:endParaRPr lang="en-CN" dirty="0"/>
              </a:p>
              <a:p>
                <a:r>
                  <a:rPr lang="en-CN" dirty="0"/>
                  <a:t>能量</a:t>
                </a:r>
                <a:r>
                  <a:rPr lang="zh-CN" altLang="en-US" dirty="0"/>
                  <a:t>                            </a:t>
                </a:r>
                <a:r>
                  <a:rPr lang="en-US" altLang="zh-CN" dirty="0"/>
                  <a:t>  0</a:t>
                </a:r>
                <a:r>
                  <a:rPr lang="zh-CN" altLang="en-US" dirty="0"/>
                  <a:t>                                 </a:t>
                </a:r>
                <a:r>
                  <a:rPr lang="en-US" altLang="zh-CN" dirty="0"/>
                  <a:t> </a:t>
                </a:r>
                <a14:m>
                  <m:oMath xmlns:m="http://schemas.openxmlformats.org/officeDocument/2006/math">
                    <m:r>
                      <a:rPr lang="en-US" altLang="zh-CN" b="0" i="0" smtClean="0">
                        <a:latin typeface="Cambria Math" panose="02040503050406030204" pitchFamily="18" charset="0"/>
                      </a:rPr>
                      <m:t>  </m:t>
                    </m:r>
                    <m:r>
                      <a:rPr lang="zh-CN" altLang="en-US" i="1" smtClean="0">
                        <a:latin typeface="Cambria Math" panose="02040503050406030204" pitchFamily="18" charset="0"/>
                      </a:rPr>
                      <m:t>𝜀</m:t>
                    </m:r>
                  </m:oMath>
                </a14:m>
                <a:r>
                  <a:rPr lang="en-US" altLang="zh-CN" dirty="0"/>
                  <a:t>                                   </a:t>
                </a:r>
                <a14:m>
                  <m:oMath xmlns:m="http://schemas.openxmlformats.org/officeDocument/2006/math">
                    <m:r>
                      <a:rPr lang="en-US" altLang="zh-CN" b="0" i="1" dirty="0" smtClean="0">
                        <a:latin typeface="Cambria Math" panose="02040503050406030204" pitchFamily="18" charset="0"/>
                      </a:rPr>
                      <m:t>2</m:t>
                    </m:r>
                    <m:r>
                      <a:rPr lang="en-US" altLang="zh-CN" b="0" i="1" dirty="0" smtClean="0">
                        <a:latin typeface="Cambria Math" panose="02040503050406030204" pitchFamily="18" charset="0"/>
                        <a:ea typeface="Cambria Math" panose="02040503050406030204" pitchFamily="18" charset="0"/>
                      </a:rPr>
                      <m:t>𝜀</m:t>
                    </m:r>
                  </m:oMath>
                </a14:m>
                <a:r>
                  <a:rPr lang="en-US" altLang="zh-CN" dirty="0"/>
                  <a:t>                               </a:t>
                </a:r>
                <a14:m>
                  <m:oMath xmlns:m="http://schemas.openxmlformats.org/officeDocument/2006/math">
                    <m:r>
                      <a:rPr lang="en-US" altLang="zh-CN" b="0" i="1" dirty="0" smtClean="0">
                        <a:latin typeface="Cambria Math" panose="02040503050406030204" pitchFamily="18" charset="0"/>
                      </a:rPr>
                      <m:t>3</m:t>
                    </m:r>
                    <m:r>
                      <a:rPr lang="en-US" altLang="zh-CN" b="0" i="1" dirty="0" smtClean="0">
                        <a:latin typeface="Cambria Math" panose="02040503050406030204" pitchFamily="18" charset="0"/>
                        <a:ea typeface="Cambria Math" panose="02040503050406030204" pitchFamily="18" charset="0"/>
                      </a:rPr>
                      <m:t>𝜀</m:t>
                    </m:r>
                  </m:oMath>
                </a14:m>
                <a:r>
                  <a:rPr lang="en-US" altLang="zh-CN" dirty="0"/>
                  <a:t>                         …</a:t>
                </a:r>
                <a14:m>
                  <m:oMath xmlns:m="http://schemas.openxmlformats.org/officeDocument/2006/math">
                    <m:r>
                      <a:rPr lang="en-US" altLang="zh-CN" b="0" i="1" dirty="0" smtClean="0">
                        <a:latin typeface="Cambria Math" panose="02040503050406030204" pitchFamily="18" charset="0"/>
                      </a:rPr>
                      <m:t>𝑛</m:t>
                    </m:r>
                    <m:r>
                      <a:rPr lang="en-US" altLang="zh-CN" b="0" i="1" dirty="0" smtClean="0">
                        <a:latin typeface="Cambria Math" panose="02040503050406030204" pitchFamily="18" charset="0"/>
                        <a:ea typeface="Cambria Math" panose="02040503050406030204" pitchFamily="18" charset="0"/>
                      </a:rPr>
                      <m:t>𝜀</m:t>
                    </m:r>
                  </m:oMath>
                </a14:m>
                <a:r>
                  <a:rPr lang="en-US" altLang="zh-CN" dirty="0"/>
                  <a:t>…</a:t>
                </a:r>
              </a:p>
              <a:p>
                <a:r>
                  <a:rPr lang="en-US" altLang="zh-CN" dirty="0"/>
                  <a:t>Gibbs</a:t>
                </a:r>
                <a:r>
                  <a:rPr lang="zh-CN" altLang="en-US" dirty="0"/>
                  <a:t> </a:t>
                </a:r>
                <a:r>
                  <a:rPr lang="en-US" altLang="zh-CN" dirty="0"/>
                  <a:t>Factor</a:t>
                </a:r>
                <a:r>
                  <a:rPr lang="zh-CN" altLang="en-US" dirty="0"/>
                  <a:t>            </a:t>
                </a:r>
                <a:r>
                  <a:rPr lang="en-US" altLang="zh-CN" dirty="0"/>
                  <a:t>     1</a:t>
                </a:r>
                <a:r>
                  <a:rPr lang="zh-CN" altLang="en-US" dirty="0"/>
                  <a:t>                            </a:t>
                </a:r>
                <a:r>
                  <a:rPr lang="en-US" altLang="zh-CN" dirty="0"/>
                  <a:t> </a:t>
                </a:r>
                <a14:m>
                  <m:oMath xmlns:m="http://schemas.openxmlformats.org/officeDocument/2006/math">
                    <m:r>
                      <a:rPr lang="en-US" altLang="zh-CN" b="0" i="0" smtClean="0">
                        <a:latin typeface="Cambria Math" panose="02040503050406030204" pitchFamily="18" charset="0"/>
                      </a:rPr>
                      <m:t>  </m:t>
                    </m:r>
                    <m:r>
                      <a:rPr lang="zh-CN" altLang="en-US" i="1" smtClean="0">
                        <a:latin typeface="Cambria Math" panose="02040503050406030204" pitchFamily="18" charset="0"/>
                      </a:rPr>
                      <m:t>𝜆</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𝜀</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sup>
                    </m:sSup>
                  </m:oMath>
                </a14:m>
                <a:r>
                  <a:rPr lang="en-US" altLang="zh-CN" dirty="0"/>
                  <a:t>                            </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ea typeface="Cambria Math" panose="02040503050406030204" pitchFamily="18" charset="0"/>
                          </a:rPr>
                          <m:t>𝜆</m:t>
                        </m:r>
                      </m:e>
                      <m:sup>
                        <m:r>
                          <a:rPr lang="en-US" altLang="zh-CN" b="0" i="1" dirty="0" smtClean="0">
                            <a:latin typeface="Cambria Math" panose="02040503050406030204" pitchFamily="18" charset="0"/>
                          </a:rPr>
                          <m:t>2</m:t>
                        </m:r>
                      </m:sup>
                    </m:sSup>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𝑒</m:t>
                        </m:r>
                      </m:e>
                      <m:sup>
                        <m:r>
                          <a:rPr lang="en-US" altLang="zh-CN" b="0" i="1" dirty="0" smtClean="0">
                            <a:latin typeface="Cambria Math" panose="02040503050406030204" pitchFamily="18" charset="0"/>
                          </a:rPr>
                          <m:t>−2</m:t>
                        </m:r>
                        <m:r>
                          <a:rPr lang="en-US" altLang="zh-CN" b="0" i="1" dirty="0" smtClean="0">
                            <a:latin typeface="Cambria Math" panose="02040503050406030204" pitchFamily="18" charset="0"/>
                            <a:ea typeface="Cambria Math" panose="02040503050406030204" pitchFamily="18" charset="0"/>
                          </a:rPr>
                          <m:t>𝜀</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𝜏</m:t>
                        </m:r>
                      </m:sup>
                    </m:sSup>
                  </m:oMath>
                </a14:m>
                <a:r>
                  <a:rPr lang="en-US" altLang="zh-CN" dirty="0"/>
                  <a:t>                     </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ea typeface="Cambria Math" panose="02040503050406030204" pitchFamily="18" charset="0"/>
                          </a:rPr>
                          <m:t>𝜆</m:t>
                        </m:r>
                      </m:e>
                      <m:sup>
                        <m:r>
                          <a:rPr lang="en-US" altLang="zh-CN" b="0" i="1" dirty="0" smtClean="0">
                            <a:latin typeface="Cambria Math" panose="02040503050406030204" pitchFamily="18" charset="0"/>
                          </a:rPr>
                          <m:t>3</m:t>
                        </m:r>
                      </m:sup>
                    </m:sSup>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𝑒</m:t>
                        </m:r>
                      </m:e>
                      <m:sup>
                        <m:r>
                          <a:rPr lang="en-US" altLang="zh-CN" b="0" i="1" dirty="0" smtClean="0">
                            <a:latin typeface="Cambria Math" panose="02040503050406030204" pitchFamily="18" charset="0"/>
                          </a:rPr>
                          <m:t>−3</m:t>
                        </m:r>
                        <m:r>
                          <a:rPr lang="en-US" altLang="zh-CN" b="0" i="1" dirty="0" smtClean="0">
                            <a:latin typeface="Cambria Math" panose="02040503050406030204" pitchFamily="18" charset="0"/>
                            <a:ea typeface="Cambria Math" panose="02040503050406030204" pitchFamily="18" charset="0"/>
                          </a:rPr>
                          <m:t>𝜀</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𝜏</m:t>
                        </m:r>
                      </m:sup>
                    </m:sSup>
                  </m:oMath>
                </a14:m>
                <a:r>
                  <a:rPr lang="en-US" altLang="zh-CN" dirty="0"/>
                  <a:t>              …</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ea typeface="Cambria Math" panose="02040503050406030204" pitchFamily="18" charset="0"/>
                          </a:rPr>
                          <m:t>𝜆</m:t>
                        </m:r>
                      </m:e>
                      <m:sup>
                        <m:r>
                          <a:rPr lang="en-US" altLang="zh-CN" b="0" i="1" dirty="0" smtClean="0">
                            <a:latin typeface="Cambria Math" panose="02040503050406030204" pitchFamily="18" charset="0"/>
                          </a:rPr>
                          <m:t>𝑛</m:t>
                        </m:r>
                      </m:sup>
                    </m:sSup>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𝑒</m:t>
                        </m:r>
                      </m:e>
                      <m: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𝑛</m:t>
                        </m:r>
                        <m:r>
                          <a:rPr lang="en-US" altLang="zh-CN" b="0" i="1" dirty="0" smtClean="0">
                            <a:latin typeface="Cambria Math" panose="02040503050406030204" pitchFamily="18" charset="0"/>
                            <a:ea typeface="Cambria Math" panose="02040503050406030204" pitchFamily="18" charset="0"/>
                          </a:rPr>
                          <m:t>𝜀</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𝜏</m:t>
                        </m:r>
                      </m:sup>
                    </m:sSup>
                  </m:oMath>
                </a14:m>
                <a:r>
                  <a:rPr lang="en-US" altLang="zh-CN" dirty="0"/>
                  <a:t>…</a:t>
                </a:r>
              </a:p>
              <a:p>
                <a:endParaRPr lang="en-US" altLang="zh-CN" dirty="0"/>
              </a:p>
              <a:p>
                <a:r>
                  <a:rPr lang="en-US" altLang="zh-CN" dirty="0"/>
                  <a:t>Gibbs Sum</a:t>
                </a:r>
              </a:p>
              <a:p>
                <a:pPr algn="ctr"/>
                <a14:m>
                  <m:oMath xmlns:m="http://schemas.openxmlformats.org/officeDocument/2006/math">
                    <m:r>
                      <a:rPr lang="zh-CN" altLang="en-US" i="1" smtClean="0">
                        <a:latin typeface="Cambria Math" panose="02040503050406030204" pitchFamily="18" charset="0"/>
                      </a:rPr>
                      <m:t>𝒵</m:t>
                    </m:r>
                    <m:r>
                      <a:rPr lang="en-US" altLang="zh-CN" b="0" i="1" smtClean="0">
                        <a:latin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2</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−2</m:t>
                        </m:r>
                        <m:r>
                          <a:rPr lang="en-US" altLang="zh-CN" i="1" dirty="0">
                            <a:latin typeface="Cambria Math" panose="02040503050406030204" pitchFamily="18" charset="0"/>
                            <a:ea typeface="Cambria Math" panose="02040503050406030204" pitchFamily="18" charset="0"/>
                          </a:rPr>
                          <m:t>𝜀</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𝜏</m:t>
                        </m:r>
                      </m:sup>
                    </m:sSup>
                    <m:r>
                      <a:rPr lang="en-US" altLang="zh-CN" b="0" i="1" dirty="0" smtClean="0">
                        <a:latin typeface="Cambria Math" panose="02040503050406030204" pitchFamily="18" charset="0"/>
                        <a:ea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3</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−3</m:t>
                        </m:r>
                        <m:r>
                          <a:rPr lang="en-US" altLang="zh-CN" i="1" dirty="0">
                            <a:latin typeface="Cambria Math" panose="02040503050406030204" pitchFamily="18" charset="0"/>
                            <a:ea typeface="Cambria Math" panose="02040503050406030204" pitchFamily="18" charset="0"/>
                          </a:rPr>
                          <m:t>𝜀</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𝜏</m:t>
                        </m:r>
                      </m:sup>
                    </m:sSup>
                  </m:oMath>
                </a14:m>
                <a:r>
                  <a:rPr lang="en-US" altLang="zh-CN" dirty="0"/>
                  <a:t>+…+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𝑛</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ea typeface="Cambria Math" panose="02040503050406030204" pitchFamily="18" charset="0"/>
                          </a:rPr>
                          <m:t>𝜀</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𝜏</m:t>
                        </m:r>
                      </m:sup>
                    </m:sSup>
                  </m:oMath>
                </a14:m>
                <a:r>
                  <a:rPr lang="en-US" altLang="zh-CN" dirty="0"/>
                  <a:t>+…</a:t>
                </a:r>
              </a:p>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den>
                      </m:f>
                    </m:oMath>
                  </m:oMathPara>
                </a14:m>
                <a:endParaRPr lang="en-US" altLang="zh-CN" dirty="0"/>
              </a:p>
              <a:p>
                <a:pPr algn="ctr"/>
                <a:endParaRPr lang="en-US" altLang="zh-CN" dirty="0"/>
              </a:p>
              <a:p>
                <a:r>
                  <a:rPr lang="en-US" altLang="zh-CN" dirty="0"/>
                  <a:t>Average number of particles in this state(the occupancy of the state)</a:t>
                </a:r>
              </a:p>
              <a:p>
                <a:pPr algn="ct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𝜀</m:t>
                          </m:r>
                          <m:r>
                            <a:rPr lang="en-US" altLang="zh-CN" b="0" i="1" smtClean="0">
                              <a:latin typeface="Cambria Math" panose="02040503050406030204" pitchFamily="18" charset="0"/>
                            </a:rPr>
                            <m:t>)</m:t>
                          </m:r>
                        </m:e>
                      </m:d>
                      <m:r>
                        <a:rPr lang="en-US" altLang="zh-CN" i="1">
                          <a:latin typeface="Cambria Math" panose="02040503050406030204" pitchFamily="18" charset="0"/>
                          <a:ea typeface="Cambria Math" panose="02040503050406030204" pitchFamily="18" charset="0"/>
                        </a:rPr>
                        <m:t>≡</m:t>
                      </m:r>
                      <m:acc>
                        <m:accPr>
                          <m:chr m:val="̅"/>
                          <m:ctrlPr>
                            <a:rPr lang="en-US" altLang="zh-CN" i="1" smtClean="0">
                              <a:latin typeface="Cambria Math" panose="02040503050406030204" pitchFamily="18" charset="0"/>
                              <a:ea typeface="Cambria Math" panose="02040503050406030204" pitchFamily="18" charset="0"/>
                            </a:rPr>
                          </m:ctrlPr>
                        </m:accPr>
                        <m:e>
                          <m:r>
                            <a:rPr lang="en-US" altLang="zh-CN" b="0" i="1" smtClean="0">
                              <a:latin typeface="Cambria Math" panose="02040503050406030204" pitchFamily="18" charset="0"/>
                              <a:ea typeface="Cambria Math" panose="02040503050406030204" pitchFamily="18" charset="0"/>
                            </a:rPr>
                            <m:t>𝑛</m:t>
                          </m:r>
                        </m:e>
                      </m:acc>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𝑛</m:t>
                          </m:r>
                        </m:sub>
                        <m:sup/>
                        <m:e>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+2</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2</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−2</m:t>
                                  </m:r>
                                  <m:r>
                                    <a:rPr lang="en-US" altLang="zh-CN" i="1" dirty="0">
                                      <a:latin typeface="Cambria Math" panose="02040503050406030204" pitchFamily="18" charset="0"/>
                                      <a:ea typeface="Cambria Math" panose="02040503050406030204" pitchFamily="18" charset="0"/>
                                    </a:rPr>
                                    <m:t>𝜀</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𝜏</m:t>
                                  </m:r>
                                </m:sup>
                              </m:sSup>
                              <m:r>
                                <a:rPr lang="en-US" altLang="zh-CN" b="0" i="1" dirty="0" smtClean="0">
                                  <a:latin typeface="Cambria Math" panose="02040503050406030204" pitchFamily="18" charset="0"/>
                                  <a:ea typeface="Cambria Math" panose="02040503050406030204" pitchFamily="18" charset="0"/>
                                </a:rPr>
                                <m:t>+3</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3</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−3</m:t>
                                  </m:r>
                                  <m:r>
                                    <a:rPr lang="en-US" altLang="zh-CN" i="1" dirty="0">
                                      <a:latin typeface="Cambria Math" panose="02040503050406030204" pitchFamily="18" charset="0"/>
                                      <a:ea typeface="Cambria Math" panose="02040503050406030204" pitchFamily="18" charset="0"/>
                                    </a:rPr>
                                    <m:t>𝜀</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𝜏</m:t>
                                  </m:r>
                                </m:sup>
                              </m:sSup>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𝑛</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𝑛</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m:t>
                                  </m:r>
                                  <m:f>
                                    <m:fPr>
                                      <m:ctrlPr>
                                        <a:rPr lang="en-US" altLang="zh-CN" i="1" dirty="0">
                                          <a:latin typeface="Cambria Math" panose="02040503050406030204" pitchFamily="18" charset="0"/>
                                          <a:ea typeface="Cambria Math" panose="02040503050406030204" pitchFamily="18" charset="0"/>
                                        </a:rPr>
                                      </m:ctrlPr>
                                    </m:fPr>
                                    <m:num>
                                      <m:r>
                                        <a:rPr lang="en-US" altLang="zh-CN" i="1" dirty="0">
                                          <a:latin typeface="Cambria Math" panose="02040503050406030204" pitchFamily="18" charset="0"/>
                                        </a:rPr>
                                        <m:t>𝑛</m:t>
                                      </m:r>
                                      <m:r>
                                        <a:rPr lang="en-US" altLang="zh-CN" i="1" dirty="0">
                                          <a:latin typeface="Cambria Math" panose="02040503050406030204" pitchFamily="18" charset="0"/>
                                          <a:ea typeface="Cambria Math" panose="02040503050406030204" pitchFamily="18" charset="0"/>
                                        </a:rPr>
                                        <m:t>𝜀</m:t>
                                      </m:r>
                                    </m:num>
                                    <m:den>
                                      <m:r>
                                        <a:rPr lang="en-US" altLang="zh-CN" i="1" dirty="0">
                                          <a:latin typeface="Cambria Math" panose="02040503050406030204" pitchFamily="18" charset="0"/>
                                          <a:ea typeface="Cambria Math" panose="02040503050406030204" pitchFamily="18" charset="0"/>
                                        </a:rPr>
                                        <m:t>𝜏</m:t>
                                      </m:r>
                                    </m:den>
                                  </m:f>
                                </m:sup>
                              </m:sSup>
                              <m:r>
                                <a:rPr lang="en-US" altLang="zh-CN" b="0" i="1" dirty="0" smtClean="0">
                                  <a:latin typeface="Cambria Math" panose="02040503050406030204" pitchFamily="18" charset="0"/>
                                  <a:ea typeface="Cambria Math" panose="02040503050406030204" pitchFamily="18" charset="0"/>
                                </a:rPr>
                                <m:t>+…</m:t>
                              </m:r>
                            </m:num>
                            <m:den>
                              <m:r>
                                <a:rPr lang="zh-CN" altLang="en-US" i="1">
                                  <a:latin typeface="Cambria Math" panose="02040503050406030204" pitchFamily="18" charset="0"/>
                                </a:rPr>
                                <m:t>𝒵</m:t>
                              </m:r>
                            </m:den>
                          </m:f>
                        </m:e>
                      </m:nary>
                    </m:oMath>
                  </m:oMathPara>
                </a14:m>
                <a:endParaRPr lang="en-US" altLang="zh-CN" dirty="0"/>
              </a:p>
              <a:p>
                <a:pPr algn="ctr"/>
                <a14:m>
                  <m:oMath xmlns:m="http://schemas.openxmlformats.org/officeDocument/2006/math">
                    <m:r>
                      <a:rPr lang="en-US" altLang="zh-CN" b="0" i="1" smtClean="0">
                        <a:latin typeface="Cambria Math" panose="02040503050406030204" pitchFamily="18" charset="0"/>
                      </a:rPr>
                      <m:t>=</m:t>
                    </m:r>
                  </m:oMath>
                </a14:m>
                <a:r>
                  <a:rPr lang="en-US" altLang="zh-CN" dirty="0"/>
                  <a:t> </a:t>
                </a:r>
                <a14:m>
                  <m:oMath xmlns:m="http://schemas.openxmlformats.org/officeDocument/2006/math">
                    <m:f>
                      <m:fPr>
                        <m:ctrlPr>
                          <a:rPr lang="en-US" altLang="zh-CN" i="1">
                            <a:latin typeface="Cambria Math" panose="02040503050406030204" pitchFamily="18" charset="0"/>
                          </a:rPr>
                        </m:ctrlPr>
                      </m:fPr>
                      <m:num>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m:t>
                            </m:r>
                          </m:num>
                          <m:den>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𝜀</m:t>
                                </m:r>
                              </m:num>
                              <m:den>
                                <m:r>
                                  <a:rPr lang="en-US" altLang="zh-CN" b="0" i="1" smtClean="0">
                                    <a:latin typeface="Cambria Math" panose="02040503050406030204" pitchFamily="18" charset="0"/>
                                    <a:ea typeface="Cambria Math" panose="02040503050406030204" pitchFamily="18" charset="0"/>
                                  </a:rPr>
                                  <m:t>𝜏</m:t>
                                </m:r>
                              </m:den>
                            </m:f>
                          </m:den>
                        </m:f>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i="1">
                                <a:latin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𝜀</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i="1">
                                <a:latin typeface="Cambria Math" panose="02040503050406030204" pitchFamily="18" charset="0"/>
                                <a:ea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2</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−2</m:t>
                                </m:r>
                                <m:r>
                                  <a:rPr lang="en-US" altLang="zh-CN" i="1" dirty="0">
                                    <a:latin typeface="Cambria Math" panose="02040503050406030204" pitchFamily="18" charset="0"/>
                                    <a:ea typeface="Cambria Math" panose="02040503050406030204" pitchFamily="18" charset="0"/>
                                  </a:rPr>
                                  <m:t>𝜀</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𝜏</m:t>
                                </m:r>
                              </m:sup>
                            </m:sSup>
                            <m:r>
                              <a:rPr lang="en-US" altLang="zh-CN" i="1" dirty="0">
                                <a:latin typeface="Cambria Math" panose="02040503050406030204" pitchFamily="18" charset="0"/>
                                <a:ea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3</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−3</m:t>
                                </m:r>
                                <m:r>
                                  <a:rPr lang="en-US" altLang="zh-CN" i="1" dirty="0">
                                    <a:latin typeface="Cambria Math" panose="02040503050406030204" pitchFamily="18" charset="0"/>
                                    <a:ea typeface="Cambria Math" panose="02040503050406030204" pitchFamily="18" charset="0"/>
                                  </a:rPr>
                                  <m:t>𝜀</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𝜏</m:t>
                                </m:r>
                              </m:sup>
                            </m:sSup>
                            <m:r>
                              <m:rPr>
                                <m:nor/>
                              </m:rPr>
                              <a:rPr lang="en-US" altLang="zh-CN" dirty="0"/>
                              <m:t>+…+ </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𝑛</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ea typeface="Cambria Math" panose="02040503050406030204" pitchFamily="18" charset="0"/>
                                  </a:rPr>
                                  <m:t>𝜀</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𝜏</m:t>
                                </m:r>
                              </m:sup>
                            </m:sSup>
                            <m:r>
                              <m:rPr>
                                <m:nor/>
                              </m:rPr>
                              <a:rPr lang="en-US" altLang="zh-CN" dirty="0"/>
                              <m:t>+…</m:t>
                            </m:r>
                          </m:e>
                        </m:d>
                      </m:num>
                      <m:den>
                        <m:r>
                          <a:rPr lang="zh-CN" altLang="en-US" i="1">
                            <a:latin typeface="Cambria Math" panose="02040503050406030204" pitchFamily="18" charset="0"/>
                          </a:rPr>
                          <m:t>𝒵</m:t>
                        </m:r>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m:t>
                        </m:r>
                      </m:num>
                      <m:den>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 </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𝜀</m:t>
                            </m:r>
                          </m:num>
                          <m:den>
                            <m:r>
                              <a:rPr lang="en-US" altLang="zh-CN" i="1">
                                <a:latin typeface="Cambria Math" panose="02040503050406030204" pitchFamily="18" charset="0"/>
                                <a:ea typeface="Cambria Math" panose="02040503050406030204" pitchFamily="18" charset="0"/>
                              </a:rPr>
                              <m:t>𝜏</m:t>
                            </m:r>
                          </m:den>
                        </m:f>
                      </m:den>
                    </m:f>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log</m:t>
                        </m:r>
                      </m:fName>
                      <m:e>
                        <m:r>
                          <a:rPr lang="zh-CN" altLang="en-US" i="1">
                            <a:latin typeface="Cambria Math" panose="02040503050406030204" pitchFamily="18" charset="0"/>
                          </a:rPr>
                          <m:t>𝒵</m:t>
                        </m:r>
                      </m:e>
                    </m:func>
                  </m:oMath>
                </a14:m>
                <a:endParaRPr lang="en-US" altLang="zh-CN" dirty="0"/>
              </a:p>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solidFill>
                                <a:srgbClr val="FF0000"/>
                              </a:solidFill>
                              <a:latin typeface="Cambria Math" panose="02040503050406030204" pitchFamily="18" charset="0"/>
                            </a:rPr>
                          </m:ctrlPr>
                        </m:fPr>
                        <m:num>
                          <m:r>
                            <a:rPr lang="en-US" altLang="zh-CN" b="0" i="1" smtClean="0">
                              <a:solidFill>
                                <a:srgbClr val="FF0000"/>
                              </a:solidFill>
                              <a:latin typeface="Cambria Math" panose="02040503050406030204" pitchFamily="18" charset="0"/>
                            </a:rPr>
                            <m:t>1</m:t>
                          </m:r>
                        </m:num>
                        <m:den>
                          <m:sSup>
                            <m:sSupPr>
                              <m:ctrlPr>
                                <a:rPr lang="en-US" altLang="zh-CN" b="0" i="1" smtClean="0">
                                  <a:solidFill>
                                    <a:srgbClr val="FF0000"/>
                                  </a:solidFill>
                                  <a:latin typeface="Cambria Math" panose="02040503050406030204" pitchFamily="18" charset="0"/>
                                </a:rPr>
                              </m:ctrlPr>
                            </m:sSupPr>
                            <m:e>
                              <m:r>
                                <a:rPr lang="en-US" altLang="zh-CN" b="0" i="1" smtClean="0">
                                  <a:solidFill>
                                    <a:srgbClr val="FF0000"/>
                                  </a:solidFill>
                                  <a:latin typeface="Cambria Math" panose="02040503050406030204" pitchFamily="18" charset="0"/>
                                </a:rPr>
                                <m:t>𝑒</m:t>
                              </m:r>
                            </m:e>
                            <m:sup>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𝜀</m:t>
                              </m:r>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𝜇</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𝜏</m:t>
                              </m:r>
                            </m:sup>
                          </m:sSup>
                          <m:r>
                            <a:rPr lang="en-US" altLang="zh-CN" b="0" i="1" smtClean="0">
                              <a:solidFill>
                                <a:srgbClr val="FF0000"/>
                              </a:solidFill>
                              <a:latin typeface="Cambria Math" panose="02040503050406030204" pitchFamily="18" charset="0"/>
                              <a:ea typeface="Cambria Math" panose="02040503050406030204" pitchFamily="18" charset="0"/>
                            </a:rPr>
                            <m:t>+1</m:t>
                          </m:r>
                        </m:den>
                      </m:f>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𝑓</m:t>
                      </m:r>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𝜀</m:t>
                      </m:r>
                      <m:r>
                        <a:rPr lang="en-US" altLang="zh-CN" b="0" i="1" smtClean="0">
                          <a:solidFill>
                            <a:srgbClr val="FF0000"/>
                          </a:solidFill>
                          <a:latin typeface="Cambria Math" panose="02040503050406030204" pitchFamily="18" charset="0"/>
                          <a:ea typeface="Cambria Math" panose="02040503050406030204" pitchFamily="18" charset="0"/>
                        </a:rPr>
                        <m:t>)</m:t>
                      </m:r>
                    </m:oMath>
                  </m:oMathPara>
                </a14:m>
                <a:endParaRPr lang="en-US" altLang="zh-CN" dirty="0"/>
              </a:p>
            </p:txBody>
          </p:sp>
        </mc:Choice>
        <mc:Fallback xmlns="">
          <p:sp>
            <p:nvSpPr>
              <p:cNvPr id="7" name="TextBox 6">
                <a:extLst>
                  <a:ext uri="{FF2B5EF4-FFF2-40B4-BE49-F238E27FC236}">
                    <a16:creationId xmlns:a16="http://schemas.microsoft.com/office/drawing/2014/main" id="{7560914C-E61D-D449-B491-D785547797B1}"/>
                  </a:ext>
                </a:extLst>
              </p:cNvPr>
              <p:cNvSpPr txBox="1">
                <a:spLocks noRot="1" noChangeAspect="1" noMove="1" noResize="1" noEditPoints="1" noAdjustHandles="1" noChangeArrowheads="1" noChangeShapeType="1" noTextEdit="1"/>
              </p:cNvSpPr>
              <p:nvPr/>
            </p:nvSpPr>
            <p:spPr>
              <a:xfrm>
                <a:off x="55417" y="1981200"/>
                <a:ext cx="12136583" cy="4902561"/>
              </a:xfrm>
              <a:prstGeom prst="rect">
                <a:avLst/>
              </a:prstGeom>
              <a:blipFill>
                <a:blip r:embed="rId3"/>
                <a:stretch>
                  <a:fillRect l="-418" t="-518" b="-1036"/>
                </a:stretch>
              </a:blipFill>
            </p:spPr>
            <p:txBody>
              <a:bodyPr/>
              <a:lstStyle/>
              <a:p>
                <a:r>
                  <a:rPr lang="en-CN">
                    <a:noFill/>
                  </a:rPr>
                  <a:t> </a:t>
                </a:r>
              </a:p>
            </p:txBody>
          </p:sp>
        </mc:Fallback>
      </mc:AlternateContent>
      <p:sp>
        <p:nvSpPr>
          <p:cNvPr id="8" name="Oval 7">
            <a:extLst>
              <a:ext uri="{FF2B5EF4-FFF2-40B4-BE49-F238E27FC236}">
                <a16:creationId xmlns:a16="http://schemas.microsoft.com/office/drawing/2014/main" id="{7D632581-0D75-024F-AE23-130B222E1ECB}"/>
              </a:ext>
            </a:extLst>
          </p:cNvPr>
          <p:cNvSpPr/>
          <p:nvPr/>
        </p:nvSpPr>
        <p:spPr>
          <a:xfrm>
            <a:off x="4107871" y="1544782"/>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9" name="Straight Connector 8">
            <a:extLst>
              <a:ext uri="{FF2B5EF4-FFF2-40B4-BE49-F238E27FC236}">
                <a16:creationId xmlns:a16="http://schemas.microsoft.com/office/drawing/2014/main" id="{88469A0A-5A72-0743-95D3-876A3CC18750}"/>
              </a:ext>
            </a:extLst>
          </p:cNvPr>
          <p:cNvCxnSpPr/>
          <p:nvPr/>
        </p:nvCxnSpPr>
        <p:spPr>
          <a:xfrm>
            <a:off x="5418411" y="1676400"/>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E2EE2376-5E5C-084C-B839-125703D959FF}"/>
              </a:ext>
            </a:extLst>
          </p:cNvPr>
          <p:cNvSpPr/>
          <p:nvPr/>
        </p:nvSpPr>
        <p:spPr>
          <a:xfrm>
            <a:off x="6089071" y="1544782"/>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1" name="Straight Connector 10">
            <a:extLst>
              <a:ext uri="{FF2B5EF4-FFF2-40B4-BE49-F238E27FC236}">
                <a16:creationId xmlns:a16="http://schemas.microsoft.com/office/drawing/2014/main" id="{A24F92C6-2D86-B84B-BE14-E55CE67D3D09}"/>
              </a:ext>
            </a:extLst>
          </p:cNvPr>
          <p:cNvCxnSpPr/>
          <p:nvPr/>
        </p:nvCxnSpPr>
        <p:spPr>
          <a:xfrm>
            <a:off x="7399611" y="1676400"/>
            <a:ext cx="162098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CAE67158-A146-FA48-A557-4BE15E62C895}"/>
              </a:ext>
            </a:extLst>
          </p:cNvPr>
          <p:cNvSpPr/>
          <p:nvPr/>
        </p:nvSpPr>
        <p:spPr>
          <a:xfrm>
            <a:off x="8070271" y="1544782"/>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Oval 12">
            <a:extLst>
              <a:ext uri="{FF2B5EF4-FFF2-40B4-BE49-F238E27FC236}">
                <a16:creationId xmlns:a16="http://schemas.microsoft.com/office/drawing/2014/main" id="{0DDE591E-8E27-4043-ADC3-1EE711779CB1}"/>
              </a:ext>
            </a:extLst>
          </p:cNvPr>
          <p:cNvSpPr/>
          <p:nvPr/>
        </p:nvSpPr>
        <p:spPr>
          <a:xfrm>
            <a:off x="6432614" y="1544782"/>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Oval 13">
            <a:extLst>
              <a:ext uri="{FF2B5EF4-FFF2-40B4-BE49-F238E27FC236}">
                <a16:creationId xmlns:a16="http://schemas.microsoft.com/office/drawing/2014/main" id="{552A2D87-0128-DD4E-BEBF-9EA3725E888B}"/>
              </a:ext>
            </a:extLst>
          </p:cNvPr>
          <p:cNvSpPr/>
          <p:nvPr/>
        </p:nvSpPr>
        <p:spPr>
          <a:xfrm>
            <a:off x="7726728" y="1558637"/>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Oval 14">
            <a:extLst>
              <a:ext uri="{FF2B5EF4-FFF2-40B4-BE49-F238E27FC236}">
                <a16:creationId xmlns:a16="http://schemas.microsoft.com/office/drawing/2014/main" id="{018A3734-F51B-9140-B900-D2D66152D73D}"/>
              </a:ext>
            </a:extLst>
          </p:cNvPr>
          <p:cNvSpPr/>
          <p:nvPr/>
        </p:nvSpPr>
        <p:spPr>
          <a:xfrm>
            <a:off x="8485781" y="1544782"/>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TextBox 3">
            <a:extLst>
              <a:ext uri="{FF2B5EF4-FFF2-40B4-BE49-F238E27FC236}">
                <a16:creationId xmlns:a16="http://schemas.microsoft.com/office/drawing/2014/main" id="{08803354-BF49-F746-A989-F15BF537F152}"/>
              </a:ext>
            </a:extLst>
          </p:cNvPr>
          <p:cNvSpPr txBox="1"/>
          <p:nvPr/>
        </p:nvSpPr>
        <p:spPr>
          <a:xfrm>
            <a:off x="9418266" y="1438686"/>
            <a:ext cx="1842655" cy="369332"/>
          </a:xfrm>
          <a:prstGeom prst="rect">
            <a:avLst/>
          </a:prstGeom>
          <a:noFill/>
        </p:spPr>
        <p:txBody>
          <a:bodyPr wrap="square" rtlCol="0">
            <a:spAutoFit/>
          </a:bodyPr>
          <a:lstStyle/>
          <a:p>
            <a:r>
              <a:rPr lang="en-CN" dirty="0"/>
              <a:t>……</a:t>
            </a:r>
          </a:p>
        </p:txBody>
      </p:sp>
    </p:spTree>
    <p:extLst>
      <p:ext uri="{BB962C8B-B14F-4D97-AF65-F5344CB8AC3E}">
        <p14:creationId xmlns:p14="http://schemas.microsoft.com/office/powerpoint/2010/main" val="162642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BDBA143-6A64-D145-8B96-5E5A3426D204}"/>
                  </a:ext>
                </a:extLst>
              </p:cNvPr>
              <p:cNvSpPr txBox="1"/>
              <p:nvPr/>
            </p:nvSpPr>
            <p:spPr>
              <a:xfrm>
                <a:off x="346363" y="244640"/>
                <a:ext cx="6179127" cy="369332"/>
              </a:xfrm>
              <a:prstGeom prst="rect">
                <a:avLst/>
              </a:prstGeom>
              <a:noFill/>
            </p:spPr>
            <p:txBody>
              <a:bodyPr wrap="square" rtlCol="0">
                <a:spAutoFit/>
              </a:bodyPr>
              <a:lstStyle/>
              <a:p>
                <a:r>
                  <a:rPr lang="en-US" altLang="zh-CN" dirty="0"/>
                  <a:t>2</a:t>
                </a:r>
                <a:r>
                  <a:rPr lang="zh-CN" altLang="en-US" dirty="0"/>
                  <a:t>，两个轨道（态</a:t>
                </a:r>
                <a:r>
                  <a:rPr lang="en-US" altLang="zh-CN" dirty="0"/>
                  <a:t>s</a:t>
                </a:r>
                <a:r>
                  <a:rPr lang="zh-CN" altLang="en-US" dirty="0"/>
                  <a:t>），能量标记为</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2</m:t>
                        </m:r>
                      </m:sub>
                    </m:sSub>
                  </m:oMath>
                </a14:m>
                <a:endParaRPr lang="en-CN" dirty="0"/>
              </a:p>
            </p:txBody>
          </p:sp>
        </mc:Choice>
        <mc:Fallback xmlns="">
          <p:sp>
            <p:nvSpPr>
              <p:cNvPr id="2" name="TextBox 1">
                <a:extLst>
                  <a:ext uri="{FF2B5EF4-FFF2-40B4-BE49-F238E27FC236}">
                    <a16:creationId xmlns:a16="http://schemas.microsoft.com/office/drawing/2014/main" id="{3BDBA143-6A64-D145-8B96-5E5A3426D204}"/>
                  </a:ext>
                </a:extLst>
              </p:cNvPr>
              <p:cNvSpPr txBox="1">
                <a:spLocks noRot="1" noChangeAspect="1" noMove="1" noResize="1" noEditPoints="1" noAdjustHandles="1" noChangeArrowheads="1" noChangeShapeType="1" noTextEdit="1"/>
              </p:cNvSpPr>
              <p:nvPr/>
            </p:nvSpPr>
            <p:spPr>
              <a:xfrm>
                <a:off x="346363" y="244640"/>
                <a:ext cx="6179127" cy="369332"/>
              </a:xfrm>
              <a:prstGeom prst="rect">
                <a:avLst/>
              </a:prstGeom>
              <a:blipFill>
                <a:blip r:embed="rId2"/>
                <a:stretch>
                  <a:fillRect l="-821" t="-6667" b="-26667"/>
                </a:stretch>
              </a:blipFill>
            </p:spPr>
            <p:txBody>
              <a:bodyPr/>
              <a:lstStyle/>
              <a:p>
                <a:r>
                  <a:rPr lang="en-CN">
                    <a:noFill/>
                  </a:rPr>
                  <a:t> </a:t>
                </a:r>
              </a:p>
            </p:txBody>
          </p:sp>
        </mc:Fallback>
      </mc:AlternateContent>
      <p:cxnSp>
        <p:nvCxnSpPr>
          <p:cNvPr id="3" name="Straight Connector 2">
            <a:extLst>
              <a:ext uri="{FF2B5EF4-FFF2-40B4-BE49-F238E27FC236}">
                <a16:creationId xmlns:a16="http://schemas.microsoft.com/office/drawing/2014/main" id="{C84C6E24-3641-D046-BFB1-22648DB2AFCF}"/>
              </a:ext>
            </a:extLst>
          </p:cNvPr>
          <p:cNvCxnSpPr>
            <a:cxnSpLocks/>
          </p:cNvCxnSpPr>
          <p:nvPr/>
        </p:nvCxnSpPr>
        <p:spPr>
          <a:xfrm>
            <a:off x="1427021" y="1593273"/>
            <a:ext cx="88668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067C5CF-D5F3-5A46-817A-2F2A8EB708C3}"/>
              </a:ext>
            </a:extLst>
          </p:cNvPr>
          <p:cNvCxnSpPr>
            <a:cxnSpLocks/>
          </p:cNvCxnSpPr>
          <p:nvPr/>
        </p:nvCxnSpPr>
        <p:spPr>
          <a:xfrm>
            <a:off x="2827616" y="1593273"/>
            <a:ext cx="8299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A1C7D01-82F8-564E-B1E3-FADDD28707EE}"/>
              </a:ext>
            </a:extLst>
          </p:cNvPr>
          <p:cNvCxnSpPr>
            <a:cxnSpLocks/>
          </p:cNvCxnSpPr>
          <p:nvPr/>
        </p:nvCxnSpPr>
        <p:spPr>
          <a:xfrm>
            <a:off x="3930017" y="1586346"/>
            <a:ext cx="90682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778EDF0-B568-3042-B01D-46F5EC676AFC}"/>
              </a:ext>
            </a:extLst>
          </p:cNvPr>
          <p:cNvCxnSpPr>
            <a:cxnSpLocks/>
          </p:cNvCxnSpPr>
          <p:nvPr/>
        </p:nvCxnSpPr>
        <p:spPr>
          <a:xfrm>
            <a:off x="5141324" y="1593273"/>
            <a:ext cx="81049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F22E50C1-80A4-C244-92C9-8A38DCB84EDC}"/>
              </a:ext>
            </a:extLst>
          </p:cNvPr>
          <p:cNvSpPr/>
          <p:nvPr/>
        </p:nvSpPr>
        <p:spPr>
          <a:xfrm>
            <a:off x="5658494" y="2301958"/>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9" name="Straight Connector 8">
            <a:extLst>
              <a:ext uri="{FF2B5EF4-FFF2-40B4-BE49-F238E27FC236}">
                <a16:creationId xmlns:a16="http://schemas.microsoft.com/office/drawing/2014/main" id="{1791FB57-1594-A248-BE1E-951717AB35BF}"/>
              </a:ext>
            </a:extLst>
          </p:cNvPr>
          <p:cNvCxnSpPr>
            <a:cxnSpLocks/>
          </p:cNvCxnSpPr>
          <p:nvPr/>
        </p:nvCxnSpPr>
        <p:spPr>
          <a:xfrm>
            <a:off x="1427021" y="2423638"/>
            <a:ext cx="88668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9E5B459-B03C-0F4E-A064-E5C3C584A2F0}"/>
              </a:ext>
            </a:extLst>
          </p:cNvPr>
          <p:cNvCxnSpPr>
            <a:cxnSpLocks/>
          </p:cNvCxnSpPr>
          <p:nvPr/>
        </p:nvCxnSpPr>
        <p:spPr>
          <a:xfrm>
            <a:off x="2827616" y="2423638"/>
            <a:ext cx="8299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216BB71E-C3E6-1A4C-B5BE-8229A81E84B6}"/>
              </a:ext>
            </a:extLst>
          </p:cNvPr>
          <p:cNvSpPr/>
          <p:nvPr/>
        </p:nvSpPr>
        <p:spPr>
          <a:xfrm>
            <a:off x="3110990" y="2292020"/>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2" name="Straight Connector 11">
            <a:extLst>
              <a:ext uri="{FF2B5EF4-FFF2-40B4-BE49-F238E27FC236}">
                <a16:creationId xmlns:a16="http://schemas.microsoft.com/office/drawing/2014/main" id="{C372E9DD-0B04-BF46-8CB8-6B15F56969CD}"/>
              </a:ext>
            </a:extLst>
          </p:cNvPr>
          <p:cNvCxnSpPr>
            <a:cxnSpLocks/>
          </p:cNvCxnSpPr>
          <p:nvPr/>
        </p:nvCxnSpPr>
        <p:spPr>
          <a:xfrm>
            <a:off x="3930017" y="2441141"/>
            <a:ext cx="90682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A595755-8DD1-6548-B415-0F84DE2ADE16}"/>
              </a:ext>
            </a:extLst>
          </p:cNvPr>
          <p:cNvCxnSpPr>
            <a:cxnSpLocks/>
          </p:cNvCxnSpPr>
          <p:nvPr/>
        </p:nvCxnSpPr>
        <p:spPr>
          <a:xfrm>
            <a:off x="5141324" y="2423638"/>
            <a:ext cx="878476" cy="1731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0BCC60C7-3F27-C248-BBE0-6C0729CBF377}"/>
              </a:ext>
            </a:extLst>
          </p:cNvPr>
          <p:cNvSpPr/>
          <p:nvPr/>
        </p:nvSpPr>
        <p:spPr>
          <a:xfrm>
            <a:off x="5297188" y="2309339"/>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Oval 14">
            <a:extLst>
              <a:ext uri="{FF2B5EF4-FFF2-40B4-BE49-F238E27FC236}">
                <a16:creationId xmlns:a16="http://schemas.microsoft.com/office/drawing/2014/main" id="{A1CD6D21-4A0E-0D4E-BD54-DAADD821C11F}"/>
              </a:ext>
            </a:extLst>
          </p:cNvPr>
          <p:cNvSpPr/>
          <p:nvPr/>
        </p:nvSpPr>
        <p:spPr>
          <a:xfrm>
            <a:off x="4251813" y="1466213"/>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F36B9C5-C9BD-7840-8F75-0D526A4B43FD}"/>
                  </a:ext>
                </a:extLst>
              </p:cNvPr>
              <p:cNvSpPr txBox="1"/>
              <p:nvPr/>
            </p:nvSpPr>
            <p:spPr>
              <a:xfrm>
                <a:off x="110836" y="2236600"/>
                <a:ext cx="48490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1</m:t>
                          </m:r>
                        </m:sub>
                      </m:sSub>
                    </m:oMath>
                  </m:oMathPara>
                </a14:m>
                <a:endParaRPr lang="en-CN" dirty="0"/>
              </a:p>
            </p:txBody>
          </p:sp>
        </mc:Choice>
        <mc:Fallback xmlns="">
          <p:sp>
            <p:nvSpPr>
              <p:cNvPr id="16" name="TextBox 15">
                <a:extLst>
                  <a:ext uri="{FF2B5EF4-FFF2-40B4-BE49-F238E27FC236}">
                    <a16:creationId xmlns:a16="http://schemas.microsoft.com/office/drawing/2014/main" id="{6F36B9C5-C9BD-7840-8F75-0D526A4B43FD}"/>
                  </a:ext>
                </a:extLst>
              </p:cNvPr>
              <p:cNvSpPr txBox="1">
                <a:spLocks noRot="1" noChangeAspect="1" noMove="1" noResize="1" noEditPoints="1" noAdjustHandles="1" noChangeArrowheads="1" noChangeShapeType="1" noTextEdit="1"/>
              </p:cNvSpPr>
              <p:nvPr/>
            </p:nvSpPr>
            <p:spPr>
              <a:xfrm>
                <a:off x="110836" y="2236600"/>
                <a:ext cx="484909" cy="369332"/>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0DE4577-F691-CD41-B1F7-5FE1CCCF94DD}"/>
                  </a:ext>
                </a:extLst>
              </p:cNvPr>
              <p:cNvSpPr txBox="1"/>
              <p:nvPr/>
            </p:nvSpPr>
            <p:spPr>
              <a:xfrm>
                <a:off x="97625" y="1380898"/>
                <a:ext cx="48490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2</m:t>
                          </m:r>
                        </m:sub>
                      </m:sSub>
                    </m:oMath>
                  </m:oMathPara>
                </a14:m>
                <a:endParaRPr lang="en-CN" dirty="0"/>
              </a:p>
            </p:txBody>
          </p:sp>
        </mc:Choice>
        <mc:Fallback xmlns="">
          <p:sp>
            <p:nvSpPr>
              <p:cNvPr id="17" name="TextBox 16">
                <a:extLst>
                  <a:ext uri="{FF2B5EF4-FFF2-40B4-BE49-F238E27FC236}">
                    <a16:creationId xmlns:a16="http://schemas.microsoft.com/office/drawing/2014/main" id="{00DE4577-F691-CD41-B1F7-5FE1CCCF94DD}"/>
                  </a:ext>
                </a:extLst>
              </p:cNvPr>
              <p:cNvSpPr txBox="1">
                <a:spLocks noRot="1" noChangeAspect="1" noMove="1" noResize="1" noEditPoints="1" noAdjustHandles="1" noChangeArrowheads="1" noChangeShapeType="1" noTextEdit="1"/>
              </p:cNvSpPr>
              <p:nvPr/>
            </p:nvSpPr>
            <p:spPr>
              <a:xfrm>
                <a:off x="97625" y="1380898"/>
                <a:ext cx="484909" cy="369332"/>
              </a:xfrm>
              <a:prstGeom prst="rect">
                <a:avLst/>
              </a:prstGeom>
              <a:blipFill>
                <a:blip r:embed="rId4"/>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211DC51-9F54-EF4F-A57C-01F14684E33A}"/>
                  </a:ext>
                </a:extLst>
              </p:cNvPr>
              <p:cNvSpPr txBox="1"/>
              <p:nvPr/>
            </p:nvSpPr>
            <p:spPr>
              <a:xfrm>
                <a:off x="0" y="2875948"/>
                <a:ext cx="12039600" cy="969304"/>
              </a:xfrm>
              <a:prstGeom prst="rect">
                <a:avLst/>
              </a:prstGeom>
              <a:noFill/>
            </p:spPr>
            <p:txBody>
              <a:bodyPr wrap="square">
                <a:spAutoFit/>
              </a:bodyPr>
              <a:lstStyle/>
              <a:p>
                <a:r>
                  <a:rPr lang="en-US" altLang="zh-CN" dirty="0"/>
                  <a:t>Gibbs Sum</a:t>
                </a:r>
              </a:p>
              <a:p>
                <a:pPr algn="ct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𝒵</m:t>
                      </m:r>
                      <m:r>
                        <a:rPr lang="en-US" altLang="zh-CN" b="0" i="1" smtClean="0">
                          <a:latin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i="1">
                          <a:latin typeface="Cambria Math" panose="02040503050406030204" pitchFamily="18" charset="0"/>
                        </a:rPr>
                        <m:t>+</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i="1">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𝜆</m:t>
                          </m:r>
                        </m:e>
                        <m:sup>
                          <m:r>
                            <a:rPr lang="en-US" altLang="zh-CN" b="0" i="1" smtClean="0">
                              <a:latin typeface="Cambria Math" panose="02040503050406030204" pitchFamily="18" charset="0"/>
                            </a:rPr>
                            <m:t>2</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2</m:t>
                              </m:r>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𝜆</m:t>
                          </m:r>
                        </m:e>
                        <m:sup>
                          <m:r>
                            <a:rPr lang="en-US" altLang="zh-CN" i="1">
                              <a:latin typeface="Cambria Math" panose="02040503050406030204" pitchFamily="18" charset="0"/>
                            </a:rPr>
                            <m:t>2</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𝜆</m:t>
                          </m:r>
                        </m:e>
                        <m:sup>
                          <m:r>
                            <a:rPr lang="en-US" altLang="zh-CN" i="1">
                              <a:latin typeface="Cambria Math" panose="02040503050406030204" pitchFamily="18" charset="0"/>
                            </a:rPr>
                            <m:t>2</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b="0" i="1" smtClean="0">
                              <a:latin typeface="Cambria Math" panose="02040503050406030204" pitchFamily="18" charset="0"/>
                            </a:rPr>
                            <m:t>2</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m:t>
                      </m:r>
                    </m:oMath>
                  </m:oMathPara>
                </a14:m>
                <a:endParaRPr lang="en-US" altLang="zh-CN"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𝜀</m:t>
                              </m:r>
                              <m:r>
                                <a:rPr lang="en-US" altLang="zh-CN" b="0" i="1" smtClean="0">
                                  <a:latin typeface="Cambria Math" panose="02040503050406030204" pitchFamily="18" charset="0"/>
                                  <a:ea typeface="Cambria Math" panose="02040503050406030204" pitchFamily="18" charset="0"/>
                                </a:rPr>
                                <m:t>1</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i="1">
                              <a:latin typeface="Cambria Math" panose="02040503050406030204" pitchFamily="18" charset="0"/>
                              <a:ea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2</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−2</m:t>
                              </m:r>
                              <m:r>
                                <a:rPr lang="en-US" altLang="zh-CN" i="1" dirty="0">
                                  <a:latin typeface="Cambria Math" panose="02040503050406030204" pitchFamily="18" charset="0"/>
                                  <a:ea typeface="Cambria Math" panose="02040503050406030204" pitchFamily="18" charset="0"/>
                                </a:rPr>
                                <m:t>𝜀</m:t>
                              </m:r>
                              <m:r>
                                <a:rPr lang="en-US" altLang="zh-CN" b="0" i="1" dirty="0" smtClean="0">
                                  <a:latin typeface="Cambria Math" panose="02040503050406030204" pitchFamily="18" charset="0"/>
                                  <a:ea typeface="Cambria Math" panose="02040503050406030204" pitchFamily="18" charset="0"/>
                                </a:rPr>
                                <m:t>1</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𝜏</m:t>
                              </m:r>
                            </m:sup>
                          </m:sSup>
                          <m:r>
                            <a:rPr lang="en-US" altLang="zh-CN" b="0" i="1" dirty="0" smtClean="0">
                              <a:latin typeface="Cambria Math" panose="02040503050406030204" pitchFamily="18" charset="0"/>
                              <a:ea typeface="Cambria Math" panose="02040503050406030204" pitchFamily="18" charset="0"/>
                            </a:rPr>
                            <m:t>+…</m:t>
                          </m:r>
                        </m:e>
                      </m:d>
                      <m:d>
                        <m:dPr>
                          <m:ctrlPr>
                            <a:rPr lang="en-US" altLang="zh-CN" b="0" i="1" smtClean="0">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rPr>
                            <m:t>1+</m:t>
                          </m:r>
                          <m:r>
                            <a:rPr lang="zh-CN" altLang="en-US" i="1">
                              <a:latin typeface="Cambria Math" panose="02040503050406030204" pitchFamily="18" charset="0"/>
                            </a:rPr>
                            <m:t>𝜆</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𝜀</m:t>
                              </m:r>
                              <m:r>
                                <a:rPr lang="en-US" altLang="zh-CN" b="0" i="1" smtClean="0">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r>
                            <a:rPr lang="en-US" altLang="zh-CN" i="1">
                              <a:latin typeface="Cambria Math" panose="02040503050406030204" pitchFamily="18" charset="0"/>
                              <a:ea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𝜆</m:t>
                              </m:r>
                            </m:e>
                            <m:sup>
                              <m:r>
                                <a:rPr lang="en-US" altLang="zh-CN" i="1" dirty="0">
                                  <a:latin typeface="Cambria Math" panose="02040503050406030204" pitchFamily="18" charset="0"/>
                                </a:rPr>
                                <m:t>2</m:t>
                              </m:r>
                            </m:sup>
                          </m:sSup>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𝑒</m:t>
                              </m:r>
                            </m:e>
                            <m:sup>
                              <m:r>
                                <a:rPr lang="en-US" altLang="zh-CN" i="1" dirty="0">
                                  <a:latin typeface="Cambria Math" panose="02040503050406030204" pitchFamily="18" charset="0"/>
                                </a:rPr>
                                <m:t>−2</m:t>
                              </m:r>
                              <m:r>
                                <a:rPr lang="en-US" altLang="zh-CN" i="1" dirty="0">
                                  <a:latin typeface="Cambria Math" panose="02040503050406030204" pitchFamily="18" charset="0"/>
                                  <a:ea typeface="Cambria Math" panose="02040503050406030204" pitchFamily="18" charset="0"/>
                                </a:rPr>
                                <m:t>𝜀</m:t>
                              </m:r>
                              <m:r>
                                <a:rPr lang="en-US" altLang="zh-CN" b="0" i="1" dirty="0" smtClean="0">
                                  <a:latin typeface="Cambria Math" panose="02040503050406030204" pitchFamily="18" charset="0"/>
                                  <a:ea typeface="Cambria Math" panose="02040503050406030204" pitchFamily="18" charset="0"/>
                                </a:rPr>
                                <m:t>2</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𝜏</m:t>
                              </m:r>
                            </m:sup>
                          </m:sSup>
                          <m:r>
                            <a:rPr lang="en-US" altLang="zh-CN" b="0" i="1" dirty="0" smtClean="0">
                              <a:latin typeface="Cambria Math" panose="02040503050406030204" pitchFamily="18" charset="0"/>
                              <a:ea typeface="Cambria Math" panose="02040503050406030204" pitchFamily="18" charset="0"/>
                            </a:rPr>
                            <m:t>+…</m:t>
                          </m:r>
                        </m:e>
                      </m:d>
                    </m:oMath>
                  </m:oMathPara>
                </a14:m>
                <a:endParaRPr lang="en-US" altLang="zh-CN" dirty="0"/>
              </a:p>
            </p:txBody>
          </p:sp>
        </mc:Choice>
        <mc:Fallback xmlns="">
          <p:sp>
            <p:nvSpPr>
              <p:cNvPr id="19" name="TextBox 18">
                <a:extLst>
                  <a:ext uri="{FF2B5EF4-FFF2-40B4-BE49-F238E27FC236}">
                    <a16:creationId xmlns:a16="http://schemas.microsoft.com/office/drawing/2014/main" id="{F211DC51-9F54-EF4F-A57C-01F14684E33A}"/>
                  </a:ext>
                </a:extLst>
              </p:cNvPr>
              <p:cNvSpPr txBox="1">
                <a:spLocks noRot="1" noChangeAspect="1" noMove="1" noResize="1" noEditPoints="1" noAdjustHandles="1" noChangeArrowheads="1" noChangeShapeType="1" noTextEdit="1"/>
              </p:cNvSpPr>
              <p:nvPr/>
            </p:nvSpPr>
            <p:spPr>
              <a:xfrm>
                <a:off x="0" y="2875948"/>
                <a:ext cx="12039600" cy="969304"/>
              </a:xfrm>
              <a:prstGeom prst="rect">
                <a:avLst/>
              </a:prstGeom>
              <a:blipFill>
                <a:blip r:embed="rId5"/>
                <a:stretch>
                  <a:fillRect l="-421" t="-2597"/>
                </a:stretch>
              </a:blipFill>
            </p:spPr>
            <p:txBody>
              <a:bodyPr/>
              <a:lstStyle/>
              <a:p>
                <a:r>
                  <a:rPr lang="en-CN">
                    <a:noFill/>
                  </a:rPr>
                  <a:t> </a:t>
                </a:r>
              </a:p>
            </p:txBody>
          </p:sp>
        </mc:Fallback>
      </mc:AlternateContent>
      <p:cxnSp>
        <p:nvCxnSpPr>
          <p:cNvPr id="27" name="Straight Connector 26">
            <a:extLst>
              <a:ext uri="{FF2B5EF4-FFF2-40B4-BE49-F238E27FC236}">
                <a16:creationId xmlns:a16="http://schemas.microsoft.com/office/drawing/2014/main" id="{76825E05-B19A-9E4C-ADF7-C85D2BFD23B3}"/>
              </a:ext>
            </a:extLst>
          </p:cNvPr>
          <p:cNvCxnSpPr>
            <a:cxnSpLocks/>
          </p:cNvCxnSpPr>
          <p:nvPr/>
        </p:nvCxnSpPr>
        <p:spPr>
          <a:xfrm>
            <a:off x="6239743" y="1610685"/>
            <a:ext cx="81049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9849854-E78C-A545-863C-D9EA61A7609E}"/>
              </a:ext>
            </a:extLst>
          </p:cNvPr>
          <p:cNvCxnSpPr>
            <a:cxnSpLocks/>
          </p:cNvCxnSpPr>
          <p:nvPr/>
        </p:nvCxnSpPr>
        <p:spPr>
          <a:xfrm>
            <a:off x="6239743" y="2441050"/>
            <a:ext cx="878476" cy="1731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1DFF8B40-DD63-B744-A7CB-DEFBBADB09C5}"/>
              </a:ext>
            </a:extLst>
          </p:cNvPr>
          <p:cNvSpPr/>
          <p:nvPr/>
        </p:nvSpPr>
        <p:spPr>
          <a:xfrm>
            <a:off x="6525490" y="2342696"/>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0" name="Oval 29">
            <a:extLst>
              <a:ext uri="{FF2B5EF4-FFF2-40B4-BE49-F238E27FC236}">
                <a16:creationId xmlns:a16="http://schemas.microsoft.com/office/drawing/2014/main" id="{17955B48-BADF-6E45-99EC-203C62F4B1A7}"/>
              </a:ext>
            </a:extLst>
          </p:cNvPr>
          <p:cNvSpPr/>
          <p:nvPr/>
        </p:nvSpPr>
        <p:spPr>
          <a:xfrm>
            <a:off x="6511714" y="1466213"/>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32" name="Straight Connector 31">
            <a:extLst>
              <a:ext uri="{FF2B5EF4-FFF2-40B4-BE49-F238E27FC236}">
                <a16:creationId xmlns:a16="http://schemas.microsoft.com/office/drawing/2014/main" id="{04C1D2EF-8BB7-B44D-9B2C-754F26EA9FC2}"/>
              </a:ext>
            </a:extLst>
          </p:cNvPr>
          <p:cNvCxnSpPr>
            <a:cxnSpLocks/>
          </p:cNvCxnSpPr>
          <p:nvPr/>
        </p:nvCxnSpPr>
        <p:spPr>
          <a:xfrm>
            <a:off x="7390190" y="1610685"/>
            <a:ext cx="81049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BBDCEEE-B208-BF45-9D31-76AD881F09D0}"/>
              </a:ext>
            </a:extLst>
          </p:cNvPr>
          <p:cNvCxnSpPr>
            <a:cxnSpLocks/>
          </p:cNvCxnSpPr>
          <p:nvPr/>
        </p:nvCxnSpPr>
        <p:spPr>
          <a:xfrm>
            <a:off x="7390190" y="2441050"/>
            <a:ext cx="878476" cy="1731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2A6A6D21-FE5F-2448-A8E0-82704461B248}"/>
              </a:ext>
            </a:extLst>
          </p:cNvPr>
          <p:cNvSpPr/>
          <p:nvPr/>
        </p:nvSpPr>
        <p:spPr>
          <a:xfrm>
            <a:off x="7882227" y="1486994"/>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Oval 34">
            <a:extLst>
              <a:ext uri="{FF2B5EF4-FFF2-40B4-BE49-F238E27FC236}">
                <a16:creationId xmlns:a16="http://schemas.microsoft.com/office/drawing/2014/main" id="{F4C2DF7E-BF00-D146-BDBD-12FF4AA31788}"/>
              </a:ext>
            </a:extLst>
          </p:cNvPr>
          <p:cNvSpPr/>
          <p:nvPr/>
        </p:nvSpPr>
        <p:spPr>
          <a:xfrm>
            <a:off x="7520845" y="1480068"/>
            <a:ext cx="263236" cy="26323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TextBox 35">
            <a:extLst>
              <a:ext uri="{FF2B5EF4-FFF2-40B4-BE49-F238E27FC236}">
                <a16:creationId xmlns:a16="http://schemas.microsoft.com/office/drawing/2014/main" id="{3E442E19-C36E-104E-96D9-65BCA400E91D}"/>
              </a:ext>
            </a:extLst>
          </p:cNvPr>
          <p:cNvSpPr txBox="1"/>
          <p:nvPr/>
        </p:nvSpPr>
        <p:spPr>
          <a:xfrm>
            <a:off x="8728364" y="1750230"/>
            <a:ext cx="2286000" cy="369332"/>
          </a:xfrm>
          <a:prstGeom prst="rect">
            <a:avLst/>
          </a:prstGeom>
          <a:noFill/>
        </p:spPr>
        <p:txBody>
          <a:bodyPr wrap="square" rtlCol="0">
            <a:spAutoFit/>
          </a:bodyPr>
          <a:lstStyle/>
          <a:p>
            <a:r>
              <a:rPr lang="en-CN" dirty="0"/>
              <a:t>……</a:t>
            </a:r>
          </a:p>
        </p:txBody>
      </p:sp>
    </p:spTree>
    <p:extLst>
      <p:ext uri="{BB962C8B-B14F-4D97-AF65-F5344CB8AC3E}">
        <p14:creationId xmlns:p14="http://schemas.microsoft.com/office/powerpoint/2010/main" val="3894717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81365AE-62D0-744F-8A37-348344293909}"/>
                  </a:ext>
                </a:extLst>
              </p:cNvPr>
              <p:cNvSpPr txBox="1"/>
              <p:nvPr/>
            </p:nvSpPr>
            <p:spPr>
              <a:xfrm>
                <a:off x="346363" y="244640"/>
                <a:ext cx="6179127" cy="369332"/>
              </a:xfrm>
              <a:prstGeom prst="rect">
                <a:avLst/>
              </a:prstGeom>
              <a:noFill/>
            </p:spPr>
            <p:txBody>
              <a:bodyPr wrap="square" rtlCol="0">
                <a:spAutoFit/>
              </a:bodyPr>
              <a:lstStyle/>
              <a:p>
                <a:r>
                  <a:rPr lang="en-US" altLang="zh-CN" dirty="0"/>
                  <a:t>3</a:t>
                </a:r>
                <a:r>
                  <a:rPr lang="zh-CN" altLang="en-US" dirty="0"/>
                  <a:t>，任意个轨道（态</a:t>
                </a:r>
                <a:r>
                  <a:rPr lang="en-US" altLang="zh-CN" dirty="0"/>
                  <a:t>s</a:t>
                </a:r>
                <a:r>
                  <a:rPr lang="zh-CN" altLang="en-US" dirty="0"/>
                  <a:t>），能量标记为</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𝑖</m:t>
                        </m:r>
                      </m:sub>
                    </m:sSub>
                  </m:oMath>
                </a14:m>
                <a:endParaRPr lang="en-CN" dirty="0"/>
              </a:p>
            </p:txBody>
          </p:sp>
        </mc:Choice>
        <mc:Fallback xmlns="">
          <p:sp>
            <p:nvSpPr>
              <p:cNvPr id="2" name="TextBox 1">
                <a:extLst>
                  <a:ext uri="{FF2B5EF4-FFF2-40B4-BE49-F238E27FC236}">
                    <a16:creationId xmlns:a16="http://schemas.microsoft.com/office/drawing/2014/main" id="{581365AE-62D0-744F-8A37-348344293909}"/>
                  </a:ext>
                </a:extLst>
              </p:cNvPr>
              <p:cNvSpPr txBox="1">
                <a:spLocks noRot="1" noChangeAspect="1" noMove="1" noResize="1" noEditPoints="1" noAdjustHandles="1" noChangeArrowheads="1" noChangeShapeType="1" noTextEdit="1"/>
              </p:cNvSpPr>
              <p:nvPr/>
            </p:nvSpPr>
            <p:spPr>
              <a:xfrm>
                <a:off x="346363" y="244640"/>
                <a:ext cx="6179127" cy="369332"/>
              </a:xfrm>
              <a:prstGeom prst="rect">
                <a:avLst/>
              </a:prstGeom>
              <a:blipFill>
                <a:blip r:embed="rId2"/>
                <a:stretch>
                  <a:fillRect l="-821"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F8047F0-12BE-0A4F-8CBF-4F172C193D38}"/>
                  </a:ext>
                </a:extLst>
              </p:cNvPr>
              <p:cNvSpPr txBox="1"/>
              <p:nvPr/>
            </p:nvSpPr>
            <p:spPr>
              <a:xfrm>
                <a:off x="3048000" y="1822085"/>
                <a:ext cx="6096000" cy="25120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4000" i="1" smtClean="0">
                          <a:latin typeface="Cambria Math" panose="02040503050406030204" pitchFamily="18" charset="0"/>
                        </a:rPr>
                        <m:t>𝒵</m:t>
                      </m:r>
                      <m:r>
                        <a:rPr lang="en-US" altLang="zh-CN" sz="4000" b="0" i="1" smtClean="0">
                          <a:latin typeface="Cambria Math" panose="02040503050406030204" pitchFamily="18" charset="0"/>
                          <a:ea typeface="Cambria Math" panose="02040503050406030204" pitchFamily="18" charset="0"/>
                        </a:rPr>
                        <m:t>=</m:t>
                      </m:r>
                      <m:nary>
                        <m:naryPr>
                          <m:chr m:val="∏"/>
                          <m:supHide m:val="on"/>
                          <m:ctrlPr>
                            <a:rPr lang="en-US" altLang="zh-CN" sz="4000" b="0" i="1" smtClean="0">
                              <a:latin typeface="Cambria Math" panose="02040503050406030204" pitchFamily="18" charset="0"/>
                              <a:ea typeface="Cambria Math" panose="02040503050406030204" pitchFamily="18" charset="0"/>
                            </a:rPr>
                          </m:ctrlPr>
                        </m:naryPr>
                        <m:sub>
                          <m:r>
                            <m:rPr>
                              <m:brk m:alnAt="7"/>
                            </m:rPr>
                            <a:rPr lang="en-US" altLang="zh-CN" sz="4000" b="0" i="1" smtClean="0">
                              <a:latin typeface="Cambria Math" panose="02040503050406030204" pitchFamily="18" charset="0"/>
                              <a:ea typeface="Cambria Math" panose="02040503050406030204" pitchFamily="18" charset="0"/>
                            </a:rPr>
                            <m:t>𝑖</m:t>
                          </m:r>
                        </m:sub>
                        <m:sup/>
                        <m:e>
                          <m:d>
                            <m:dPr>
                              <m:ctrlPr>
                                <a:rPr lang="en-US" altLang="zh-CN" sz="4000" i="1">
                                  <a:latin typeface="Cambria Math" panose="02040503050406030204" pitchFamily="18" charset="0"/>
                                  <a:ea typeface="Cambria Math" panose="02040503050406030204" pitchFamily="18" charset="0"/>
                                </a:rPr>
                              </m:ctrlPr>
                            </m:dPr>
                            <m:e>
                              <m:f>
                                <m:fPr>
                                  <m:ctrlPr>
                                    <a:rPr lang="en-US" altLang="zh-CN" sz="4000" i="1" smtClean="0">
                                      <a:latin typeface="Cambria Math" panose="02040503050406030204" pitchFamily="18" charset="0"/>
                                      <a:ea typeface="Cambria Math" panose="02040503050406030204" pitchFamily="18" charset="0"/>
                                    </a:rPr>
                                  </m:ctrlPr>
                                </m:fPr>
                                <m:num>
                                  <m:r>
                                    <a:rPr lang="en-US" altLang="zh-CN" sz="4000" b="0" i="1" smtClean="0">
                                      <a:latin typeface="Cambria Math" panose="02040503050406030204" pitchFamily="18" charset="0"/>
                                      <a:ea typeface="Cambria Math" panose="02040503050406030204" pitchFamily="18" charset="0"/>
                                    </a:rPr>
                                    <m:t>1</m:t>
                                  </m:r>
                                </m:num>
                                <m:den>
                                  <m:r>
                                    <a:rPr lang="en-US" altLang="zh-CN" sz="4000" i="1">
                                      <a:latin typeface="Cambria Math" panose="02040503050406030204" pitchFamily="18" charset="0"/>
                                      <a:ea typeface="Cambria Math" panose="02040503050406030204" pitchFamily="18" charset="0"/>
                                    </a:rPr>
                                    <m:t>1</m:t>
                                  </m:r>
                                  <m:r>
                                    <a:rPr lang="en-US" altLang="zh-CN" sz="4000" b="0" i="1" smtClean="0">
                                      <a:latin typeface="Cambria Math" panose="02040503050406030204" pitchFamily="18" charset="0"/>
                                      <a:ea typeface="Cambria Math" panose="02040503050406030204" pitchFamily="18" charset="0"/>
                                    </a:rPr>
                                    <m:t>−</m:t>
                                  </m:r>
                                  <m:r>
                                    <a:rPr lang="zh-CN" altLang="en-US" sz="4000" i="1">
                                      <a:latin typeface="Cambria Math" panose="02040503050406030204" pitchFamily="18" charset="0"/>
                                    </a:rPr>
                                    <m:t>𝜆</m:t>
                                  </m:r>
                                  <m:sSup>
                                    <m:sSupPr>
                                      <m:ctrlPr>
                                        <a:rPr lang="en-US" altLang="zh-CN" sz="4000" i="1">
                                          <a:latin typeface="Cambria Math" panose="02040503050406030204" pitchFamily="18" charset="0"/>
                                        </a:rPr>
                                      </m:ctrlPr>
                                    </m:sSupPr>
                                    <m:e>
                                      <m:r>
                                        <a:rPr lang="en-US" altLang="zh-CN" sz="4000" i="1">
                                          <a:latin typeface="Cambria Math" panose="02040503050406030204" pitchFamily="18" charset="0"/>
                                        </a:rPr>
                                        <m:t>𝑒</m:t>
                                      </m:r>
                                    </m:e>
                                    <m:sup>
                                      <m:r>
                                        <a:rPr lang="en-US" altLang="zh-CN" sz="4000" i="1">
                                          <a:latin typeface="Cambria Math" panose="02040503050406030204" pitchFamily="18" charset="0"/>
                                        </a:rPr>
                                        <m:t>−</m:t>
                                      </m:r>
                                      <m:sSub>
                                        <m:sSubPr>
                                          <m:ctrlPr>
                                            <a:rPr lang="en-US" altLang="zh-CN" sz="4000" i="1">
                                              <a:latin typeface="Cambria Math" panose="02040503050406030204" pitchFamily="18" charset="0"/>
                                            </a:rPr>
                                          </m:ctrlPr>
                                        </m:sSubPr>
                                        <m:e>
                                          <m:r>
                                            <a:rPr lang="en-US" altLang="zh-CN" sz="4000" i="1">
                                              <a:latin typeface="Cambria Math" panose="02040503050406030204" pitchFamily="18" charset="0"/>
                                              <a:ea typeface="Cambria Math" panose="02040503050406030204" pitchFamily="18" charset="0"/>
                                            </a:rPr>
                                            <m:t>𝜀</m:t>
                                          </m:r>
                                        </m:e>
                                        <m:sub>
                                          <m:r>
                                            <a:rPr lang="en-US" altLang="zh-CN" sz="4000" i="1">
                                              <a:latin typeface="Cambria Math" panose="02040503050406030204" pitchFamily="18" charset="0"/>
                                              <a:ea typeface="Cambria Math" panose="02040503050406030204" pitchFamily="18" charset="0"/>
                                            </a:rPr>
                                            <m:t>𝑖</m:t>
                                          </m:r>
                                        </m:sub>
                                      </m:sSub>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𝜏</m:t>
                                      </m:r>
                                    </m:sup>
                                  </m:sSup>
                                </m:den>
                              </m:f>
                            </m:e>
                          </m:d>
                        </m:e>
                      </m:nary>
                    </m:oMath>
                  </m:oMathPara>
                </a14:m>
                <a:endParaRPr lang="en-CN" sz="4000" dirty="0"/>
              </a:p>
              <a:p>
                <a:pPr algn="ctr"/>
                <a14:m>
                  <m:oMath xmlns:m="http://schemas.openxmlformats.org/officeDocument/2006/math">
                    <m:r>
                      <a:rPr lang="en-US" altLang="zh-CN" sz="4000" i="1">
                        <a:latin typeface="Cambria Math" panose="02040503050406030204" pitchFamily="18" charset="0"/>
                      </a:rPr>
                      <m:t>𝑓</m:t>
                    </m:r>
                    <m:d>
                      <m:dPr>
                        <m:ctrlPr>
                          <a:rPr lang="en-US" altLang="zh-CN" sz="4000" i="1">
                            <a:latin typeface="Cambria Math" panose="02040503050406030204" pitchFamily="18" charset="0"/>
                          </a:rPr>
                        </m:ctrlPr>
                      </m:dPr>
                      <m:e>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e>
                    </m:d>
                    <m:r>
                      <a:rPr lang="en-US" altLang="zh-CN" sz="4000" i="1">
                        <a:latin typeface="Cambria Math" panose="02040503050406030204" pitchFamily="18" charset="0"/>
                      </a:rPr>
                      <m:t>=</m:t>
                    </m:r>
                  </m:oMath>
                </a14:m>
                <a:r>
                  <a:rPr lang="en-US" altLang="zh-CN" sz="4000" dirty="0"/>
                  <a:t> </a:t>
                </a:r>
                <a14:m>
                  <m:oMath xmlns:m="http://schemas.openxmlformats.org/officeDocument/2006/math">
                    <m:f>
                      <m:fPr>
                        <m:ctrlPr>
                          <a:rPr lang="en-US" altLang="zh-CN" sz="4000" i="1">
                            <a:latin typeface="Cambria Math" panose="02040503050406030204" pitchFamily="18" charset="0"/>
                          </a:rPr>
                        </m:ctrlPr>
                      </m:fPr>
                      <m:num>
                        <m:r>
                          <a:rPr lang="en-US" altLang="zh-CN" sz="4000" i="1">
                            <a:latin typeface="Cambria Math" panose="02040503050406030204" pitchFamily="18" charset="0"/>
                          </a:rPr>
                          <m:t>1</m:t>
                        </m:r>
                      </m:num>
                      <m:den>
                        <m:sSup>
                          <m:sSupPr>
                            <m:ctrlPr>
                              <a:rPr lang="en-US" altLang="zh-CN" sz="4000" i="1">
                                <a:latin typeface="Cambria Math" panose="02040503050406030204" pitchFamily="18" charset="0"/>
                              </a:rPr>
                            </m:ctrlPr>
                          </m:sSupPr>
                          <m:e>
                            <m:r>
                              <a:rPr lang="en-US" altLang="zh-CN" sz="4000" i="1">
                                <a:latin typeface="Cambria Math" panose="02040503050406030204" pitchFamily="18" charset="0"/>
                              </a:rPr>
                              <m:t>𝑒</m:t>
                            </m:r>
                          </m:e>
                          <m:sup>
                            <m:r>
                              <a:rPr lang="en-US" altLang="zh-CN" sz="4000" i="1">
                                <a:latin typeface="Cambria Math" panose="02040503050406030204" pitchFamily="18" charset="0"/>
                              </a:rPr>
                              <m:t>(</m:t>
                            </m:r>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𝜇</m:t>
                            </m:r>
                            <m:r>
                              <a:rPr lang="en-US" altLang="zh-CN" sz="4000" i="1">
                                <a:latin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𝜏</m:t>
                            </m:r>
                          </m:sup>
                        </m:sSup>
                        <m:r>
                          <a:rPr lang="en-US" altLang="zh-CN" sz="4000" b="0" i="1" smtClean="0">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rPr>
                          <m:t>1</m:t>
                        </m:r>
                      </m:den>
                    </m:f>
                  </m:oMath>
                </a14:m>
                <a:endParaRPr lang="en-CN" sz="4000" dirty="0"/>
              </a:p>
            </p:txBody>
          </p:sp>
        </mc:Choice>
        <mc:Fallback xmlns="">
          <p:sp>
            <p:nvSpPr>
              <p:cNvPr id="4" name="TextBox 3">
                <a:extLst>
                  <a:ext uri="{FF2B5EF4-FFF2-40B4-BE49-F238E27FC236}">
                    <a16:creationId xmlns:a16="http://schemas.microsoft.com/office/drawing/2014/main" id="{2F8047F0-12BE-0A4F-8CBF-4F172C193D38}"/>
                  </a:ext>
                </a:extLst>
              </p:cNvPr>
              <p:cNvSpPr txBox="1">
                <a:spLocks noRot="1" noChangeAspect="1" noMove="1" noResize="1" noEditPoints="1" noAdjustHandles="1" noChangeArrowheads="1" noChangeShapeType="1" noTextEdit="1"/>
              </p:cNvSpPr>
              <p:nvPr/>
            </p:nvSpPr>
            <p:spPr>
              <a:xfrm>
                <a:off x="3048000" y="1822085"/>
                <a:ext cx="6096000" cy="2512034"/>
              </a:xfrm>
              <a:prstGeom prst="rect">
                <a:avLst/>
              </a:prstGeom>
              <a:blipFill>
                <a:blip r:embed="rId3"/>
                <a:stretch>
                  <a:fillRect l="-4375" t="-86432" b="-81910"/>
                </a:stretch>
              </a:blipFill>
            </p:spPr>
            <p:txBody>
              <a:bodyPr/>
              <a:lstStyle/>
              <a:p>
                <a:r>
                  <a:rPr lang="en-CN">
                    <a:noFill/>
                  </a:rPr>
                  <a:t> </a:t>
                </a:r>
              </a:p>
            </p:txBody>
          </p:sp>
        </mc:Fallback>
      </mc:AlternateContent>
    </p:spTree>
    <p:extLst>
      <p:ext uri="{BB962C8B-B14F-4D97-AF65-F5344CB8AC3E}">
        <p14:creationId xmlns:p14="http://schemas.microsoft.com/office/powerpoint/2010/main" val="1744154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F33CC4-93B3-AF48-88D2-2C0ECBE75598}"/>
              </a:ext>
            </a:extLst>
          </p:cNvPr>
          <p:cNvSpPr txBox="1"/>
          <p:nvPr/>
        </p:nvSpPr>
        <p:spPr>
          <a:xfrm>
            <a:off x="3893127" y="429491"/>
            <a:ext cx="3962400" cy="369332"/>
          </a:xfrm>
          <a:prstGeom prst="rect">
            <a:avLst/>
          </a:prstGeom>
          <a:noFill/>
        </p:spPr>
        <p:txBody>
          <a:bodyPr wrap="square" rtlCol="0">
            <a:spAutoFit/>
          </a:bodyPr>
          <a:lstStyle/>
          <a:p>
            <a:pPr algn="ctr"/>
            <a:r>
              <a:rPr lang="en-CN" dirty="0"/>
              <a:t>总结一下</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399605F-08FB-6544-97AC-F20A4A9F6521}"/>
                  </a:ext>
                </a:extLst>
              </p:cNvPr>
              <p:cNvSpPr txBox="1"/>
              <p:nvPr/>
            </p:nvSpPr>
            <p:spPr>
              <a:xfrm>
                <a:off x="2008909" y="1132851"/>
                <a:ext cx="7952509" cy="2506968"/>
              </a:xfrm>
              <a:prstGeom prst="rect">
                <a:avLst/>
              </a:prstGeom>
              <a:noFill/>
            </p:spPr>
            <p:txBody>
              <a:bodyPr wrap="square">
                <a:spAutoFit/>
              </a:bodyPr>
              <a:lstStyle/>
              <a:p>
                <a:pPr algn="ctr"/>
                <a14:m>
                  <m:oMath xmlns:m="http://schemas.openxmlformats.org/officeDocument/2006/math">
                    <m:r>
                      <a:rPr lang="en-US" altLang="zh-CN" sz="4000" i="1" smtClean="0">
                        <a:latin typeface="Cambria Math" panose="02040503050406030204" pitchFamily="18" charset="0"/>
                      </a:rPr>
                      <m:t>𝑓</m:t>
                    </m:r>
                    <m:d>
                      <m:dPr>
                        <m:ctrlPr>
                          <a:rPr lang="en-US" altLang="zh-CN" sz="4000" i="1">
                            <a:latin typeface="Cambria Math" panose="02040503050406030204" pitchFamily="18" charset="0"/>
                          </a:rPr>
                        </m:ctrlPr>
                      </m:dPr>
                      <m:e>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e>
                    </m:d>
                    <m:r>
                      <a:rPr lang="en-US" altLang="zh-CN" sz="4000" i="1">
                        <a:latin typeface="Cambria Math" panose="02040503050406030204" pitchFamily="18" charset="0"/>
                      </a:rPr>
                      <m:t>=</m:t>
                    </m:r>
                  </m:oMath>
                </a14:m>
                <a:r>
                  <a:rPr lang="en-US" altLang="zh-CN" sz="4000" dirty="0"/>
                  <a:t> </a:t>
                </a:r>
                <a14:m>
                  <m:oMath xmlns:m="http://schemas.openxmlformats.org/officeDocument/2006/math">
                    <m:f>
                      <m:fPr>
                        <m:ctrlPr>
                          <a:rPr lang="en-US" altLang="zh-CN" sz="4000" i="1">
                            <a:latin typeface="Cambria Math" panose="02040503050406030204" pitchFamily="18" charset="0"/>
                          </a:rPr>
                        </m:ctrlPr>
                      </m:fPr>
                      <m:num>
                        <m:r>
                          <a:rPr lang="en-US" altLang="zh-CN" sz="4000" i="1">
                            <a:latin typeface="Cambria Math" panose="02040503050406030204" pitchFamily="18" charset="0"/>
                          </a:rPr>
                          <m:t>1</m:t>
                        </m:r>
                      </m:num>
                      <m:den>
                        <m:sSup>
                          <m:sSupPr>
                            <m:ctrlPr>
                              <a:rPr lang="en-US" altLang="zh-CN" sz="4000" i="1">
                                <a:latin typeface="Cambria Math" panose="02040503050406030204" pitchFamily="18" charset="0"/>
                              </a:rPr>
                            </m:ctrlPr>
                          </m:sSupPr>
                          <m:e>
                            <m:r>
                              <a:rPr lang="en-US" altLang="zh-CN" sz="4000" i="1">
                                <a:latin typeface="Cambria Math" panose="02040503050406030204" pitchFamily="18" charset="0"/>
                              </a:rPr>
                              <m:t>𝑒</m:t>
                            </m:r>
                          </m:e>
                          <m:sup>
                            <m:r>
                              <a:rPr lang="en-US" altLang="zh-CN" sz="4000" i="1">
                                <a:latin typeface="Cambria Math" panose="02040503050406030204" pitchFamily="18" charset="0"/>
                              </a:rPr>
                              <m:t>(</m:t>
                            </m:r>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𝜇</m:t>
                            </m:r>
                            <m:r>
                              <a:rPr lang="en-US" altLang="zh-CN" sz="4000" i="1">
                                <a:latin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𝜏</m:t>
                            </m:r>
                          </m:sup>
                        </m:sSup>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rPr>
                          <m:t>1</m:t>
                        </m:r>
                      </m:den>
                    </m:f>
                  </m:oMath>
                </a14:m>
                <a:endParaRPr lang="en-CN" sz="4000" dirty="0"/>
              </a:p>
              <a:p>
                <a:pPr algn="ctr"/>
                <a14:m>
                  <m:oMathPara xmlns:m="http://schemas.openxmlformats.org/officeDocument/2006/math">
                    <m:oMathParaPr>
                      <m:jc m:val="centerGroup"/>
                    </m:oMathParaPr>
                    <m:oMath xmlns:m="http://schemas.openxmlformats.org/officeDocument/2006/math">
                      <m:r>
                        <m:rPr>
                          <m:sty m:val="p"/>
                        </m:rPr>
                        <a:rPr lang="el-GR" sz="4000" i="1" smtClean="0">
                          <a:latin typeface="Cambria Math" panose="02040503050406030204" pitchFamily="18" charset="0"/>
                          <a:ea typeface="Cambria Math" panose="02040503050406030204" pitchFamily="18" charset="0"/>
                        </a:rPr>
                        <m:t>Ω</m:t>
                      </m:r>
                      <m:r>
                        <a:rPr lang="en-US" altLang="zh-CN" sz="4000" b="0" i="1" smtClean="0">
                          <a:latin typeface="Cambria Math" panose="02040503050406030204" pitchFamily="18" charset="0"/>
                          <a:ea typeface="Cambria Math" panose="02040503050406030204" pitchFamily="18" charset="0"/>
                        </a:rPr>
                        <m:t>=∓</m:t>
                      </m:r>
                      <m:r>
                        <a:rPr lang="en-US" altLang="zh-CN" sz="4000" b="0" i="1" smtClean="0">
                          <a:latin typeface="Cambria Math" panose="02040503050406030204" pitchFamily="18" charset="0"/>
                          <a:ea typeface="Cambria Math" panose="02040503050406030204" pitchFamily="18" charset="0"/>
                        </a:rPr>
                        <m:t>𝜏</m:t>
                      </m:r>
                      <m:nary>
                        <m:naryPr>
                          <m:chr m:val="∑"/>
                          <m:supHide m:val="on"/>
                          <m:ctrlPr>
                            <a:rPr lang="en-US" altLang="zh-CN" sz="4000" b="0" i="1" smtClean="0">
                              <a:latin typeface="Cambria Math" panose="02040503050406030204" pitchFamily="18" charset="0"/>
                              <a:ea typeface="Cambria Math" panose="02040503050406030204" pitchFamily="18" charset="0"/>
                            </a:rPr>
                          </m:ctrlPr>
                        </m:naryPr>
                        <m:sub>
                          <m:r>
                            <m:rPr>
                              <m:brk m:alnAt="7"/>
                            </m:rPr>
                            <a:rPr lang="en-US" altLang="zh-CN" sz="4000" b="0" i="1" smtClean="0">
                              <a:latin typeface="Cambria Math" panose="02040503050406030204" pitchFamily="18" charset="0"/>
                              <a:ea typeface="Cambria Math" panose="02040503050406030204" pitchFamily="18" charset="0"/>
                            </a:rPr>
                            <m:t>𝑖</m:t>
                          </m:r>
                        </m:sub>
                        <m:sup/>
                        <m:e>
                          <m:func>
                            <m:funcPr>
                              <m:ctrlPr>
                                <a:rPr lang="en-US" altLang="zh-CN" sz="4000" b="0" i="1" smtClean="0">
                                  <a:latin typeface="Cambria Math" panose="02040503050406030204" pitchFamily="18" charset="0"/>
                                  <a:ea typeface="Cambria Math" panose="02040503050406030204" pitchFamily="18" charset="0"/>
                                </a:rPr>
                              </m:ctrlPr>
                            </m:funcPr>
                            <m:fName>
                              <m:r>
                                <m:rPr>
                                  <m:sty m:val="p"/>
                                </m:rPr>
                                <a:rPr lang="en-US" altLang="zh-CN" sz="4000" b="0" i="0" smtClean="0">
                                  <a:latin typeface="Cambria Math" panose="02040503050406030204" pitchFamily="18" charset="0"/>
                                  <a:ea typeface="Cambria Math" panose="02040503050406030204" pitchFamily="18" charset="0"/>
                                </a:rPr>
                                <m:t>log</m:t>
                              </m:r>
                            </m:fName>
                            <m:e>
                              <m:d>
                                <m:dPr>
                                  <m:begChr m:val="["/>
                                  <m:endChr m:val="]"/>
                                  <m:ctrlPr>
                                    <a:rPr lang="en-US" altLang="zh-CN" sz="4000" b="0" i="1" smtClean="0">
                                      <a:latin typeface="Cambria Math" panose="02040503050406030204" pitchFamily="18" charset="0"/>
                                      <a:ea typeface="Cambria Math" panose="02040503050406030204" pitchFamily="18" charset="0"/>
                                    </a:rPr>
                                  </m:ctrlPr>
                                </m:dPr>
                                <m:e>
                                  <m:r>
                                    <a:rPr lang="en-US" altLang="zh-CN" sz="4000" b="0" i="1" smtClean="0">
                                      <a:latin typeface="Cambria Math" panose="02040503050406030204" pitchFamily="18" charset="0"/>
                                      <a:ea typeface="Cambria Math" panose="02040503050406030204" pitchFamily="18" charset="0"/>
                                    </a:rPr>
                                    <m:t>1±</m:t>
                                  </m:r>
                                  <m:r>
                                    <a:rPr lang="en-US" altLang="zh-CN" sz="4000" b="0" i="1" smtClean="0">
                                      <a:latin typeface="Cambria Math" panose="02040503050406030204" pitchFamily="18" charset="0"/>
                                      <a:ea typeface="Cambria Math" panose="02040503050406030204" pitchFamily="18" charset="0"/>
                                    </a:rPr>
                                    <m:t>𝜆</m:t>
                                  </m:r>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𝑒</m:t>
                                      </m:r>
                                    </m:e>
                                    <m:sup>
                                      <m:r>
                                        <a:rPr lang="en-US" altLang="zh-CN" sz="4000" b="0" i="1" smtClean="0">
                                          <a:latin typeface="Cambria Math" panose="02040503050406030204" pitchFamily="18" charset="0"/>
                                          <a:ea typeface="Cambria Math" panose="02040503050406030204" pitchFamily="18" charset="0"/>
                                        </a:rPr>
                                        <m:t>−</m:t>
                                      </m:r>
                                      <m:sSub>
                                        <m:sSubPr>
                                          <m:ctrlPr>
                                            <a:rPr lang="en-US" altLang="zh-CN" sz="4000" b="0" i="1" smtClean="0">
                                              <a:latin typeface="Cambria Math" panose="02040503050406030204" pitchFamily="18" charset="0"/>
                                              <a:ea typeface="Cambria Math" panose="02040503050406030204" pitchFamily="18" charset="0"/>
                                            </a:rPr>
                                          </m:ctrlPr>
                                        </m:sSubPr>
                                        <m:e>
                                          <m:r>
                                            <a:rPr lang="en-US" altLang="zh-CN" sz="4000" b="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ea typeface="Cambria Math" panose="02040503050406030204" pitchFamily="18" charset="0"/>
                                            </a:rPr>
                                            <m:t>𝑖</m:t>
                                          </m:r>
                                        </m:sub>
                                      </m:sSub>
                                      <m:r>
                                        <a:rPr lang="en-US" altLang="zh-CN" sz="4000" b="0" i="1" smtClean="0">
                                          <a:latin typeface="Cambria Math" panose="02040503050406030204" pitchFamily="18" charset="0"/>
                                          <a:ea typeface="Cambria Math" panose="02040503050406030204" pitchFamily="18" charset="0"/>
                                        </a:rPr>
                                        <m:t>/</m:t>
                                      </m:r>
                                      <m:r>
                                        <a:rPr lang="en-US" altLang="zh-CN" sz="4000" b="0" i="1" smtClean="0">
                                          <a:latin typeface="Cambria Math" panose="02040503050406030204" pitchFamily="18" charset="0"/>
                                          <a:ea typeface="Cambria Math" panose="02040503050406030204" pitchFamily="18" charset="0"/>
                                        </a:rPr>
                                        <m:t>𝜏</m:t>
                                      </m:r>
                                    </m:sup>
                                  </m:sSup>
                                </m:e>
                              </m:d>
                            </m:e>
                          </m:func>
                        </m:e>
                      </m:nary>
                    </m:oMath>
                  </m:oMathPara>
                </a14:m>
                <a:endParaRPr lang="en-CN" sz="4000" dirty="0"/>
              </a:p>
            </p:txBody>
          </p:sp>
        </mc:Choice>
        <mc:Fallback xmlns="">
          <p:sp>
            <p:nvSpPr>
              <p:cNvPr id="4" name="TextBox 3">
                <a:extLst>
                  <a:ext uri="{FF2B5EF4-FFF2-40B4-BE49-F238E27FC236}">
                    <a16:creationId xmlns:a16="http://schemas.microsoft.com/office/drawing/2014/main" id="{B399605F-08FB-6544-97AC-F20A4A9F6521}"/>
                  </a:ext>
                </a:extLst>
              </p:cNvPr>
              <p:cNvSpPr txBox="1">
                <a:spLocks noRot="1" noChangeAspect="1" noMove="1" noResize="1" noEditPoints="1" noAdjustHandles="1" noChangeArrowheads="1" noChangeShapeType="1" noTextEdit="1"/>
              </p:cNvSpPr>
              <p:nvPr/>
            </p:nvSpPr>
            <p:spPr>
              <a:xfrm>
                <a:off x="2008909" y="1132851"/>
                <a:ext cx="7952509" cy="2506968"/>
              </a:xfrm>
              <a:prstGeom prst="rect">
                <a:avLst/>
              </a:prstGeom>
              <a:blipFill>
                <a:blip r:embed="rId2"/>
                <a:stretch>
                  <a:fillRect t="-50505" b="-119192"/>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89E9F5AB-5B05-7449-98C3-3C2E2308A457}"/>
              </a:ext>
            </a:extLst>
          </p:cNvPr>
          <p:cNvSpPr txBox="1"/>
          <p:nvPr/>
        </p:nvSpPr>
        <p:spPr>
          <a:xfrm>
            <a:off x="1801091" y="4322618"/>
            <a:ext cx="8368145" cy="1323439"/>
          </a:xfrm>
          <a:prstGeom prst="rect">
            <a:avLst/>
          </a:prstGeom>
          <a:noFill/>
        </p:spPr>
        <p:txBody>
          <a:bodyPr wrap="square" rtlCol="0">
            <a:spAutoFit/>
          </a:bodyPr>
          <a:lstStyle/>
          <a:p>
            <a:r>
              <a:rPr lang="en-CN" sz="4000" dirty="0"/>
              <a:t>“+” for fermion</a:t>
            </a:r>
          </a:p>
          <a:p>
            <a:r>
              <a:rPr lang="en-CN" sz="4000" dirty="0"/>
              <a:t>“-” </a:t>
            </a:r>
            <a:r>
              <a:rPr lang="en-US" sz="4000" dirty="0"/>
              <a:t> for boson</a:t>
            </a:r>
            <a:endParaRPr lang="en-CN" sz="4000" dirty="0"/>
          </a:p>
        </p:txBody>
      </p:sp>
      <p:sp>
        <p:nvSpPr>
          <p:cNvPr id="3" name="TextBox 2">
            <a:extLst>
              <a:ext uri="{FF2B5EF4-FFF2-40B4-BE49-F238E27FC236}">
                <a16:creationId xmlns:a16="http://schemas.microsoft.com/office/drawing/2014/main" id="{8B52BD7C-0604-A22B-6251-A0404C642E12}"/>
              </a:ext>
            </a:extLst>
          </p:cNvPr>
          <p:cNvSpPr txBox="1"/>
          <p:nvPr/>
        </p:nvSpPr>
        <p:spPr>
          <a:xfrm>
            <a:off x="7392473" y="5370490"/>
            <a:ext cx="4391696" cy="369332"/>
          </a:xfrm>
          <a:prstGeom prst="rect">
            <a:avLst/>
          </a:prstGeom>
          <a:noFill/>
        </p:spPr>
        <p:txBody>
          <a:bodyPr wrap="square" rtlCol="0">
            <a:spAutoFit/>
          </a:bodyPr>
          <a:lstStyle/>
          <a:p>
            <a:r>
              <a:rPr lang="en-CN" dirty="0"/>
              <a:t>风暴一下</a:t>
            </a:r>
            <a:r>
              <a:rPr lang="zh-CN" altLang="en-US" dirty="0"/>
              <a:t>（板书）</a:t>
            </a:r>
            <a:endParaRPr lang="en-CN" dirty="0"/>
          </a:p>
        </p:txBody>
      </p:sp>
    </p:spTree>
    <p:extLst>
      <p:ext uri="{BB962C8B-B14F-4D97-AF65-F5344CB8AC3E}">
        <p14:creationId xmlns:p14="http://schemas.microsoft.com/office/powerpoint/2010/main" val="1394653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39F2332-94CE-3642-A32A-E29825E23482}"/>
                  </a:ext>
                </a:extLst>
              </p:cNvPr>
              <p:cNvSpPr txBox="1"/>
              <p:nvPr/>
            </p:nvSpPr>
            <p:spPr>
              <a:xfrm>
                <a:off x="110837" y="3429000"/>
                <a:ext cx="12192000" cy="3257110"/>
              </a:xfrm>
              <a:prstGeom prst="rect">
                <a:avLst/>
              </a:prstGeom>
              <a:noFill/>
            </p:spPr>
            <p:txBody>
              <a:bodyPr wrap="square" rtlCol="0">
                <a:spAutoFit/>
              </a:bodyPr>
              <a:lstStyle/>
              <a:p>
                <a:pPr marL="285750" indent="-285750">
                  <a:buFont typeface="Arial" panose="020B0604020202020204" pitchFamily="34" charset="0"/>
                  <a:buChar char="•"/>
                </a:pPr>
                <a:r>
                  <a:rPr lang="en-CN" sz="3200" dirty="0"/>
                  <a:t>Thermal averages for independent particle problems have the form</a:t>
                </a:r>
              </a:p>
              <a:p>
                <a:pPr algn="ctr"/>
                <a14:m>
                  <m:oMathPara xmlns:m="http://schemas.openxmlformats.org/officeDocument/2006/math">
                    <m:oMathParaPr>
                      <m:jc m:val="centerGroup"/>
                    </m:oMathParaPr>
                    <m:oMath xmlns:m="http://schemas.openxmlformats.org/officeDocument/2006/math">
                      <m:d>
                        <m:dPr>
                          <m:begChr m:val="⟨"/>
                          <m:endChr m:val="⟩"/>
                          <m:ctrlPr>
                            <a:rPr lang="en-CN" sz="3200" i="1" smtClean="0">
                              <a:latin typeface="Cambria Math" panose="02040503050406030204" pitchFamily="18" charset="0"/>
                            </a:rPr>
                          </m:ctrlPr>
                        </m:dPr>
                        <m:e>
                          <m:r>
                            <a:rPr lang="en-US" sz="3200" b="0" i="1" smtClean="0">
                              <a:latin typeface="Cambria Math" panose="02040503050406030204" pitchFamily="18" charset="0"/>
                            </a:rPr>
                            <m:t>𝑋</m:t>
                          </m:r>
                        </m:e>
                      </m:d>
                      <m:d>
                        <m:dPr>
                          <m:ctrlPr>
                            <a:rPr lang="en-US" sz="3200" b="0" i="1" smtClean="0">
                              <a:latin typeface="Cambria Math" panose="02040503050406030204" pitchFamily="18" charset="0"/>
                            </a:rPr>
                          </m:ctrlPr>
                        </m:dPr>
                        <m:e>
                          <m:r>
                            <a:rPr lang="en-US" sz="3200" b="0" i="1" smtClean="0">
                              <a:latin typeface="Cambria Math" panose="02040503050406030204" pitchFamily="18" charset="0"/>
                              <a:ea typeface="Cambria Math" panose="02040503050406030204" pitchFamily="18" charset="0"/>
                            </a:rPr>
                            <m:t>𝜏</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𝜇</m:t>
                          </m:r>
                        </m:e>
                      </m:d>
                      <m:r>
                        <a:rPr lang="en-US" sz="3200" b="0" i="1" smtClean="0">
                          <a:latin typeface="Cambria Math" panose="02040503050406030204" pitchFamily="18" charset="0"/>
                        </a:rPr>
                        <m:t>=</m:t>
                      </m:r>
                      <m:nary>
                        <m:naryPr>
                          <m:chr m:val="∑"/>
                          <m:subHide m:val="on"/>
                          <m:supHide m:val="on"/>
                          <m:ctrlPr>
                            <a:rPr lang="en-US" sz="3200" b="0" i="1" smtClean="0">
                              <a:latin typeface="Cambria Math" panose="02040503050406030204" pitchFamily="18" charset="0"/>
                            </a:rPr>
                          </m:ctrlPr>
                        </m:naryPr>
                        <m:sub/>
                        <m:sup/>
                        <m:e>
                          <m:r>
                            <a:rPr lang="en-US" sz="3200" b="0" i="1" smtClean="0">
                              <a:latin typeface="Cambria Math" panose="02040503050406030204" pitchFamily="18" charset="0"/>
                            </a:rPr>
                            <m:t>𝑓</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𝜀</m:t>
                              </m:r>
                            </m:e>
                            <m:sub>
                              <m:r>
                                <a:rPr lang="en-US" sz="3200" b="0" i="1" smtClean="0">
                                  <a:latin typeface="Cambria Math" panose="02040503050406030204" pitchFamily="18" charset="0"/>
                                  <a:ea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𝜏</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𝜇</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𝑋</m:t>
                              </m:r>
                            </m:e>
                            <m:sub>
                              <m:r>
                                <a:rPr lang="en-US" sz="3200" b="0" i="1" smtClean="0">
                                  <a:latin typeface="Cambria Math" panose="02040503050406030204" pitchFamily="18" charset="0"/>
                                </a:rPr>
                                <m:t>𝑖</m:t>
                              </m:r>
                            </m:sub>
                          </m:sSub>
                        </m:e>
                      </m:nary>
                    </m:oMath>
                  </m:oMathPara>
                </a14:m>
                <a:endParaRPr lang="en-CN" sz="3200" dirty="0"/>
              </a:p>
              <a:p>
                <a:r>
                  <a:rPr lang="en-US" sz="3200" dirty="0"/>
                  <a:t>Where </a:t>
                </a:r>
                <a:r>
                  <a:rPr lang="en-US" sz="3200" dirty="0" err="1"/>
                  <a:t>i</a:t>
                </a:r>
                <a:r>
                  <a:rPr lang="en-US" sz="3200" dirty="0"/>
                  <a:t> denotes the quantum orbital; Xi is the value of the quantity X in the orbital </a:t>
                </a:r>
                <a:r>
                  <a:rPr lang="en-US" sz="3200" dirty="0" err="1"/>
                  <a:t>i</a:t>
                </a:r>
                <a:r>
                  <a:rPr lang="en-US" sz="3200" dirty="0"/>
                  <a:t>; and f is the thermal average occupancy(distribution function)</a:t>
                </a:r>
              </a:p>
            </p:txBody>
          </p:sp>
        </mc:Choice>
        <mc:Fallback xmlns="">
          <p:sp>
            <p:nvSpPr>
              <p:cNvPr id="5" name="TextBox 4">
                <a:extLst>
                  <a:ext uri="{FF2B5EF4-FFF2-40B4-BE49-F238E27FC236}">
                    <a16:creationId xmlns:a16="http://schemas.microsoft.com/office/drawing/2014/main" id="{839F2332-94CE-3642-A32A-E29825E23482}"/>
                  </a:ext>
                </a:extLst>
              </p:cNvPr>
              <p:cNvSpPr txBox="1">
                <a:spLocks noRot="1" noChangeAspect="1" noMove="1" noResize="1" noEditPoints="1" noAdjustHandles="1" noChangeArrowheads="1" noChangeShapeType="1" noTextEdit="1"/>
              </p:cNvSpPr>
              <p:nvPr/>
            </p:nvSpPr>
            <p:spPr>
              <a:xfrm>
                <a:off x="110837" y="3429000"/>
                <a:ext cx="12192000" cy="3257110"/>
              </a:xfrm>
              <a:prstGeom prst="rect">
                <a:avLst/>
              </a:prstGeom>
              <a:blipFill>
                <a:blip r:embed="rId3"/>
                <a:stretch>
                  <a:fillRect l="-1249" t="-38132" r="-937" b="-2840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60ACDA3-4C94-96B1-B1C3-3C673DF429D3}"/>
                  </a:ext>
                </a:extLst>
              </p:cNvPr>
              <p:cNvSpPr txBox="1"/>
              <p:nvPr/>
            </p:nvSpPr>
            <p:spPr>
              <a:xfrm>
                <a:off x="3588327" y="171890"/>
                <a:ext cx="4655127" cy="11169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FF0000"/>
                          </a:solidFill>
                          <a:latin typeface="Cambria Math" panose="02040503050406030204" pitchFamily="18" charset="0"/>
                        </a:rPr>
                        <m:t>𝑃</m:t>
                      </m:r>
                      <m:d>
                        <m:dPr>
                          <m:ctrlPr>
                            <a:rPr lang="en-US" sz="3200" b="0" i="1" smtClean="0">
                              <a:solidFill>
                                <a:srgbClr val="FF0000"/>
                              </a:solidFill>
                              <a:latin typeface="Cambria Math" panose="02040503050406030204" pitchFamily="18" charset="0"/>
                            </a:rPr>
                          </m:ctrlPr>
                        </m:dPr>
                        <m:e>
                          <m:r>
                            <a:rPr lang="en-US" sz="3200" b="0" i="1" smtClean="0">
                              <a:solidFill>
                                <a:srgbClr val="FF0000"/>
                              </a:solidFill>
                              <a:latin typeface="Cambria Math" panose="02040503050406030204" pitchFamily="18" charset="0"/>
                            </a:rPr>
                            <m:t>𝑛</m:t>
                          </m:r>
                          <m:r>
                            <a:rPr lang="en-US" sz="3200" b="0" i="1" smtClean="0">
                              <a:solidFill>
                                <a:srgbClr val="FF0000"/>
                              </a:solidFill>
                              <a:latin typeface="Cambria Math" panose="02040503050406030204" pitchFamily="18" charset="0"/>
                            </a:rPr>
                            <m:t>,</m:t>
                          </m:r>
                          <m:r>
                            <a:rPr lang="en-US" sz="3200" b="0" i="1" smtClean="0">
                              <a:solidFill>
                                <a:srgbClr val="FF0000"/>
                              </a:solidFill>
                              <a:latin typeface="Cambria Math" panose="02040503050406030204" pitchFamily="18" charset="0"/>
                            </a:rPr>
                            <m:t>𝑠</m:t>
                          </m:r>
                        </m:e>
                      </m:d>
                      <m:r>
                        <a:rPr lang="en-US" sz="3200" b="0" i="1" smtClean="0">
                          <a:solidFill>
                            <a:srgbClr val="FF0000"/>
                          </a:solidFill>
                          <a:latin typeface="Cambria Math" panose="02040503050406030204" pitchFamily="18" charset="0"/>
                        </a:rPr>
                        <m:t>=</m:t>
                      </m:r>
                      <m:f>
                        <m:fPr>
                          <m:ctrlPr>
                            <a:rPr lang="en-US" sz="3200" b="0" i="1" smtClean="0">
                              <a:solidFill>
                                <a:srgbClr val="FF0000"/>
                              </a:solidFill>
                              <a:latin typeface="Cambria Math" panose="02040503050406030204" pitchFamily="18" charset="0"/>
                            </a:rPr>
                          </m:ctrlPr>
                        </m:fPr>
                        <m:num>
                          <m:sSup>
                            <m:sSupPr>
                              <m:ctrlPr>
                                <a:rPr lang="en-US" sz="3200" i="1">
                                  <a:solidFill>
                                    <a:srgbClr val="FF0000"/>
                                  </a:solidFill>
                                  <a:latin typeface="Cambria Math" panose="02040503050406030204" pitchFamily="18" charset="0"/>
                                  <a:ea typeface="Cambria Math" panose="02040503050406030204" pitchFamily="18" charset="0"/>
                                </a:rPr>
                              </m:ctrlPr>
                            </m:sSupPr>
                            <m:e>
                              <m:r>
                                <a:rPr lang="en-US" sz="3200" i="1">
                                  <a:solidFill>
                                    <a:srgbClr val="FF0000"/>
                                  </a:solidFill>
                                  <a:latin typeface="Cambria Math" panose="02040503050406030204" pitchFamily="18" charset="0"/>
                                  <a:ea typeface="Cambria Math" panose="02040503050406030204" pitchFamily="18" charset="0"/>
                                </a:rPr>
                                <m:t>𝑒</m:t>
                              </m:r>
                            </m:e>
                            <m:sup>
                              <m:r>
                                <a:rPr lang="en-US" sz="3200" i="1">
                                  <a:solidFill>
                                    <a:srgbClr val="FF0000"/>
                                  </a:solidFill>
                                  <a:latin typeface="Cambria Math" panose="02040503050406030204" pitchFamily="18" charset="0"/>
                                  <a:ea typeface="Cambria Math" panose="02040503050406030204" pitchFamily="18" charset="0"/>
                                </a:rPr>
                                <m:t>(</m:t>
                              </m:r>
                              <m:r>
                                <a:rPr lang="en-US" sz="3200" b="0" i="1" smtClean="0">
                                  <a:solidFill>
                                    <a:srgbClr val="FF0000"/>
                                  </a:solidFill>
                                  <a:latin typeface="Cambria Math" panose="02040503050406030204" pitchFamily="18" charset="0"/>
                                  <a:ea typeface="Cambria Math" panose="02040503050406030204" pitchFamily="18" charset="0"/>
                                </a:rPr>
                                <m:t>𝑛</m:t>
                              </m:r>
                              <m:r>
                                <a:rPr lang="en-US" sz="3200" i="1">
                                  <a:solidFill>
                                    <a:srgbClr val="FF0000"/>
                                  </a:solidFill>
                                  <a:latin typeface="Cambria Math" panose="02040503050406030204" pitchFamily="18" charset="0"/>
                                  <a:ea typeface="Cambria Math" panose="02040503050406030204" pitchFamily="18" charset="0"/>
                                </a:rPr>
                                <m:t>𝜇</m:t>
                              </m:r>
                              <m:r>
                                <a:rPr lang="en-US" sz="3200" i="1">
                                  <a:solidFill>
                                    <a:srgbClr val="FF0000"/>
                                  </a:solidFill>
                                  <a:latin typeface="Cambria Math" panose="02040503050406030204" pitchFamily="18" charset="0"/>
                                  <a:ea typeface="Cambria Math" panose="02040503050406030204" pitchFamily="18" charset="0"/>
                                </a:rPr>
                                <m:t>−</m:t>
                              </m:r>
                              <m:sSub>
                                <m:sSubPr>
                                  <m:ctrlPr>
                                    <a:rPr lang="en-US" sz="3200" i="1">
                                      <a:solidFill>
                                        <a:srgbClr val="FF0000"/>
                                      </a:solidFill>
                                      <a:latin typeface="Cambria Math" panose="02040503050406030204" pitchFamily="18" charset="0"/>
                                      <a:ea typeface="Cambria Math" panose="02040503050406030204" pitchFamily="18" charset="0"/>
                                    </a:rPr>
                                  </m:ctrlPr>
                                </m:sSubPr>
                                <m:e>
                                  <m:r>
                                    <a:rPr lang="en-US" sz="3200" i="1">
                                      <a:solidFill>
                                        <a:srgbClr val="FF0000"/>
                                      </a:solidFill>
                                      <a:latin typeface="Cambria Math" panose="02040503050406030204" pitchFamily="18" charset="0"/>
                                      <a:ea typeface="Cambria Math" panose="02040503050406030204" pitchFamily="18" charset="0"/>
                                    </a:rPr>
                                    <m:t>𝜀</m:t>
                                  </m:r>
                                </m:e>
                                <m:sub>
                                  <m:r>
                                    <a:rPr lang="en-US" sz="3200" i="1">
                                      <a:solidFill>
                                        <a:srgbClr val="FF0000"/>
                                      </a:solidFill>
                                      <a:latin typeface="Cambria Math" panose="02040503050406030204" pitchFamily="18" charset="0"/>
                                      <a:ea typeface="Cambria Math" panose="02040503050406030204" pitchFamily="18" charset="0"/>
                                    </a:rPr>
                                    <m:t>𝑠</m:t>
                                  </m:r>
                                  <m:r>
                                    <a:rPr lang="en-US" sz="3200" i="1">
                                      <a:solidFill>
                                        <a:srgbClr val="FF0000"/>
                                      </a:solidFill>
                                      <a:latin typeface="Cambria Math" panose="02040503050406030204" pitchFamily="18" charset="0"/>
                                      <a:ea typeface="Cambria Math" panose="02040503050406030204" pitchFamily="18" charset="0"/>
                                    </a:rPr>
                                    <m:t>(</m:t>
                                  </m:r>
                                  <m:r>
                                    <a:rPr lang="en-US" sz="3200" b="0" i="1" smtClean="0">
                                      <a:solidFill>
                                        <a:srgbClr val="FF0000"/>
                                      </a:solidFill>
                                      <a:latin typeface="Cambria Math" panose="02040503050406030204" pitchFamily="18" charset="0"/>
                                      <a:ea typeface="Cambria Math" panose="02040503050406030204" pitchFamily="18" charset="0"/>
                                    </a:rPr>
                                    <m:t>𝑛</m:t>
                                  </m:r>
                                  <m:r>
                                    <a:rPr lang="en-US" sz="3200" i="1">
                                      <a:solidFill>
                                        <a:srgbClr val="FF0000"/>
                                      </a:solidFill>
                                      <a:latin typeface="Cambria Math" panose="02040503050406030204" pitchFamily="18" charset="0"/>
                                      <a:ea typeface="Cambria Math" panose="02040503050406030204" pitchFamily="18" charset="0"/>
                                    </a:rPr>
                                    <m:t>)</m:t>
                                  </m:r>
                                </m:sub>
                              </m:sSub>
                              <m:r>
                                <a:rPr lang="en-US" sz="3200" i="1">
                                  <a:solidFill>
                                    <a:srgbClr val="FF0000"/>
                                  </a:solidFill>
                                  <a:latin typeface="Cambria Math" panose="02040503050406030204" pitchFamily="18" charset="0"/>
                                  <a:ea typeface="Cambria Math" panose="02040503050406030204" pitchFamily="18" charset="0"/>
                                </a:rPr>
                                <m:t>)/</m:t>
                              </m:r>
                              <m:r>
                                <a:rPr lang="en-US" sz="3200" i="1">
                                  <a:solidFill>
                                    <a:srgbClr val="FF0000"/>
                                  </a:solidFill>
                                  <a:latin typeface="Cambria Math" panose="02040503050406030204" pitchFamily="18" charset="0"/>
                                  <a:ea typeface="Cambria Math" panose="02040503050406030204" pitchFamily="18" charset="0"/>
                                </a:rPr>
                                <m:t>𝜏</m:t>
                              </m:r>
                            </m:sup>
                          </m:sSup>
                        </m:num>
                        <m:den>
                          <m:r>
                            <a:rPr lang="en-US" sz="3200" b="0" i="1" smtClean="0">
                              <a:solidFill>
                                <a:srgbClr val="FF0000"/>
                              </a:solidFill>
                              <a:latin typeface="Cambria Math" panose="02040503050406030204" pitchFamily="18" charset="0"/>
                              <a:ea typeface="Cambria Math" panose="02040503050406030204" pitchFamily="18" charset="0"/>
                            </a:rPr>
                            <m:t>𝒵</m:t>
                          </m:r>
                        </m:den>
                      </m:f>
                    </m:oMath>
                  </m:oMathPara>
                </a14:m>
                <a:endParaRPr lang="en-CN" sz="3200" dirty="0"/>
              </a:p>
            </p:txBody>
          </p:sp>
        </mc:Choice>
        <mc:Fallback xmlns="">
          <p:sp>
            <p:nvSpPr>
              <p:cNvPr id="4" name="TextBox 3">
                <a:extLst>
                  <a:ext uri="{FF2B5EF4-FFF2-40B4-BE49-F238E27FC236}">
                    <a16:creationId xmlns:a16="http://schemas.microsoft.com/office/drawing/2014/main" id="{B60ACDA3-4C94-96B1-B1C3-3C673DF429D3}"/>
                  </a:ext>
                </a:extLst>
              </p:cNvPr>
              <p:cNvSpPr txBox="1">
                <a:spLocks noRot="1" noChangeAspect="1" noMove="1" noResize="1" noEditPoints="1" noAdjustHandles="1" noChangeArrowheads="1" noChangeShapeType="1" noTextEdit="1"/>
              </p:cNvSpPr>
              <p:nvPr/>
            </p:nvSpPr>
            <p:spPr>
              <a:xfrm>
                <a:off x="3588327" y="171890"/>
                <a:ext cx="4655127" cy="1116972"/>
              </a:xfrm>
              <a:prstGeom prst="rect">
                <a:avLst/>
              </a:prstGeom>
              <a:blipFill>
                <a:blip r:embed="rId4"/>
                <a:stretch>
                  <a:fillRect b="-786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4BFBD8A-E1E8-F5B7-E317-16702A064393}"/>
                  </a:ext>
                </a:extLst>
              </p:cNvPr>
              <p:cNvSpPr txBox="1"/>
              <p:nvPr/>
            </p:nvSpPr>
            <p:spPr>
              <a:xfrm>
                <a:off x="3009900" y="1341206"/>
                <a:ext cx="6172200" cy="764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𝜀</m:t>
                          </m:r>
                          <m:r>
                            <a:rPr lang="en-US" altLang="zh-CN" b="0" i="1" smtClean="0">
                              <a:latin typeface="Cambria Math" panose="02040503050406030204" pitchFamily="18" charset="0"/>
                            </a:rPr>
                            <m:t>)</m:t>
                          </m:r>
                        </m:e>
                      </m:d>
                      <m:r>
                        <a:rPr lang="en-US" altLang="zh-CN" i="1">
                          <a:latin typeface="Cambria Math" panose="02040503050406030204" pitchFamily="18" charset="0"/>
                          <a:ea typeface="Cambria Math" panose="02040503050406030204" pitchFamily="18" charset="0"/>
                        </a:rPr>
                        <m:t>≡</m:t>
                      </m:r>
                      <m:acc>
                        <m:accPr>
                          <m:chr m:val="̅"/>
                          <m:ctrlPr>
                            <a:rPr lang="en-US" altLang="zh-CN" i="1" smtClean="0">
                              <a:latin typeface="Cambria Math" panose="02040503050406030204" pitchFamily="18" charset="0"/>
                              <a:ea typeface="Cambria Math" panose="02040503050406030204" pitchFamily="18" charset="0"/>
                            </a:rPr>
                          </m:ctrlPr>
                        </m:accPr>
                        <m:e>
                          <m:r>
                            <a:rPr lang="en-US" altLang="zh-CN" b="0" i="1" smtClean="0">
                              <a:latin typeface="Cambria Math" panose="02040503050406030204" pitchFamily="18" charset="0"/>
                              <a:ea typeface="Cambria Math" panose="02040503050406030204" pitchFamily="18" charset="0"/>
                            </a:rPr>
                            <m:t>𝑛</m:t>
                          </m:r>
                        </m:e>
                      </m:acc>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𝑛</m:t>
                          </m:r>
                        </m:sub>
                        <m:sup/>
                        <m:e>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𝜀</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𝜀</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r>
                            <a:rPr lang="en-US" altLang="zh-CN" b="0" i="1" smtClean="0">
                              <a:latin typeface="Cambria Math" panose="02040503050406030204" pitchFamily="18" charset="0"/>
                            </a:rPr>
                            <m:t>)</m:t>
                          </m:r>
                        </m:e>
                      </m:nary>
                    </m:oMath>
                  </m:oMathPara>
                </a14:m>
                <a:endParaRPr lang="en-CN" dirty="0"/>
              </a:p>
            </p:txBody>
          </p:sp>
        </mc:Choice>
        <mc:Fallback xmlns="">
          <p:sp>
            <p:nvSpPr>
              <p:cNvPr id="7" name="TextBox 6">
                <a:extLst>
                  <a:ext uri="{FF2B5EF4-FFF2-40B4-BE49-F238E27FC236}">
                    <a16:creationId xmlns:a16="http://schemas.microsoft.com/office/drawing/2014/main" id="{F4BFBD8A-E1E8-F5B7-E317-16702A064393}"/>
                  </a:ext>
                </a:extLst>
              </p:cNvPr>
              <p:cNvSpPr txBox="1">
                <a:spLocks noRot="1" noChangeAspect="1" noMove="1" noResize="1" noEditPoints="1" noAdjustHandles="1" noChangeArrowheads="1" noChangeShapeType="1" noTextEdit="1"/>
              </p:cNvSpPr>
              <p:nvPr/>
            </p:nvSpPr>
            <p:spPr>
              <a:xfrm>
                <a:off x="3009900" y="1341206"/>
                <a:ext cx="6172200" cy="764505"/>
              </a:xfrm>
              <a:prstGeom prst="rect">
                <a:avLst/>
              </a:prstGeom>
              <a:blipFill>
                <a:blip r:embed="rId5"/>
                <a:stretch>
                  <a:fillRect t="-121311" b="-17049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CF5FC2F-9F1D-6732-D36B-EA7FCC9196EB}"/>
                  </a:ext>
                </a:extLst>
              </p:cNvPr>
              <p:cNvSpPr txBox="1"/>
              <p:nvPr/>
            </p:nvSpPr>
            <p:spPr>
              <a:xfrm>
                <a:off x="3238499" y="2158055"/>
                <a:ext cx="6172200" cy="7630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CN" sz="1800" i="1" smtClean="0">
                              <a:latin typeface="Cambria Math" panose="02040503050406030204" pitchFamily="18" charset="0"/>
                            </a:rPr>
                          </m:ctrlPr>
                        </m:dPr>
                        <m:e>
                          <m:r>
                            <a:rPr lang="en-US" sz="1800" b="0" i="1" smtClean="0">
                              <a:latin typeface="Cambria Math" panose="02040503050406030204" pitchFamily="18" charset="0"/>
                            </a:rPr>
                            <m:t>𝑋</m:t>
                          </m:r>
                        </m:e>
                      </m:d>
                      <m:d>
                        <m:dPr>
                          <m:ctrlPr>
                            <a:rPr lang="en-US" sz="1800" b="0" i="1" smtClean="0">
                              <a:latin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𝜇</m:t>
                          </m:r>
                        </m:e>
                      </m:d>
                      <m:r>
                        <a:rPr lang="en-US" sz="1800" b="0" i="1" smtClean="0">
                          <a:latin typeface="Cambria Math" panose="02040503050406030204" pitchFamily="18" charset="0"/>
                        </a:rPr>
                        <m:t>=</m:t>
                      </m:r>
                      <m:nary>
                        <m:naryPr>
                          <m:chr m:val="∑"/>
                          <m:subHide m:val="on"/>
                          <m:supHide m:val="on"/>
                          <m:ctrlPr>
                            <a:rPr lang="en-US" sz="1800" b="0" i="1" smtClean="0">
                              <a:latin typeface="Cambria Math" panose="02040503050406030204" pitchFamily="18" charset="0"/>
                            </a:rPr>
                          </m:ctrlPr>
                        </m:naryPr>
                        <m:sub/>
                        <m:sup/>
                        <m:e>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𝑁</m:t>
                              </m:r>
                              <m:r>
                                <a:rPr lang="en-US" sz="1800" b="0" i="1" smtClean="0">
                                  <a:latin typeface="Cambria Math" panose="02040503050406030204" pitchFamily="18" charset="0"/>
                                </a:rPr>
                                <m:t>,</m:t>
                              </m:r>
                              <m:r>
                                <a:rPr lang="en-US" sz="1800" b="0" i="1" smtClean="0">
                                  <a:latin typeface="Cambria Math" panose="02040503050406030204" pitchFamily="18" charset="0"/>
                                </a:rPr>
                                <m:t>𝑠</m:t>
                              </m:r>
                            </m:e>
                          </m:d>
                          <m:r>
                            <a:rPr lang="en-US" sz="1800" b="0" i="1" smtClean="0">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e>
                      </m:nary>
                    </m:oMath>
                  </m:oMathPara>
                </a14:m>
                <a:endParaRPr lang="en-CN" dirty="0"/>
              </a:p>
            </p:txBody>
          </p:sp>
        </mc:Choice>
        <mc:Fallback xmlns="">
          <p:sp>
            <p:nvSpPr>
              <p:cNvPr id="9" name="TextBox 8">
                <a:extLst>
                  <a:ext uri="{FF2B5EF4-FFF2-40B4-BE49-F238E27FC236}">
                    <a16:creationId xmlns:a16="http://schemas.microsoft.com/office/drawing/2014/main" id="{ACF5FC2F-9F1D-6732-D36B-EA7FCC9196EB}"/>
                  </a:ext>
                </a:extLst>
              </p:cNvPr>
              <p:cNvSpPr txBox="1">
                <a:spLocks noRot="1" noChangeAspect="1" noMove="1" noResize="1" noEditPoints="1" noAdjustHandles="1" noChangeArrowheads="1" noChangeShapeType="1" noTextEdit="1"/>
              </p:cNvSpPr>
              <p:nvPr/>
            </p:nvSpPr>
            <p:spPr>
              <a:xfrm>
                <a:off x="3238499" y="2158055"/>
                <a:ext cx="6172200" cy="763029"/>
              </a:xfrm>
              <a:prstGeom prst="rect">
                <a:avLst/>
              </a:prstGeom>
              <a:blipFill>
                <a:blip r:embed="rId6"/>
                <a:stretch>
                  <a:fillRect t="-121311" b="-170492"/>
                </a:stretch>
              </a:blipFill>
            </p:spPr>
            <p:txBody>
              <a:bodyPr/>
              <a:lstStyle/>
              <a:p>
                <a:r>
                  <a:rPr lang="en-CN">
                    <a:noFill/>
                  </a:rPr>
                  <a:t> </a:t>
                </a:r>
              </a:p>
            </p:txBody>
          </p:sp>
        </mc:Fallback>
      </mc:AlternateContent>
    </p:spTree>
    <p:extLst>
      <p:ext uri="{BB962C8B-B14F-4D97-AF65-F5344CB8AC3E}">
        <p14:creationId xmlns:p14="http://schemas.microsoft.com/office/powerpoint/2010/main" val="6109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5D585F-6E24-4347-AB1D-535B71617C26}"/>
              </a:ext>
            </a:extLst>
          </p:cNvPr>
          <p:cNvSpPr txBox="1"/>
          <p:nvPr/>
        </p:nvSpPr>
        <p:spPr>
          <a:xfrm>
            <a:off x="512618" y="263236"/>
            <a:ext cx="4558146" cy="369332"/>
          </a:xfrm>
          <a:prstGeom prst="rect">
            <a:avLst/>
          </a:prstGeom>
          <a:noFill/>
        </p:spPr>
        <p:txBody>
          <a:bodyPr wrap="square" rtlCol="0">
            <a:spAutoFit/>
          </a:bodyPr>
          <a:lstStyle/>
          <a:p>
            <a:r>
              <a:rPr lang="en-CN" dirty="0"/>
              <a:t>经典极限</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CE762CF-1791-1C4D-B8F1-7B1B89CB7C9D}"/>
                  </a:ext>
                </a:extLst>
              </p:cNvPr>
              <p:cNvSpPr txBox="1"/>
              <p:nvPr/>
            </p:nvSpPr>
            <p:spPr>
              <a:xfrm>
                <a:off x="214746" y="820390"/>
                <a:ext cx="4558146" cy="1013354"/>
              </a:xfrm>
              <a:prstGeom prst="rect">
                <a:avLst/>
              </a:prstGeom>
              <a:noFill/>
            </p:spPr>
            <p:txBody>
              <a:bodyPr wrap="square">
                <a:spAutoFit/>
              </a:bodyPr>
              <a:lstStyle/>
              <a:p>
                <a:pPr algn="ctr"/>
                <a14:m>
                  <m:oMath xmlns:m="http://schemas.openxmlformats.org/officeDocument/2006/math">
                    <m:r>
                      <a:rPr lang="en-US" altLang="zh-CN" sz="4000" i="1" smtClean="0">
                        <a:latin typeface="Cambria Math" panose="02040503050406030204" pitchFamily="18" charset="0"/>
                      </a:rPr>
                      <m:t>𝑓</m:t>
                    </m:r>
                    <m:d>
                      <m:dPr>
                        <m:ctrlPr>
                          <a:rPr lang="en-US" altLang="zh-CN" sz="4000" i="1">
                            <a:latin typeface="Cambria Math" panose="02040503050406030204" pitchFamily="18" charset="0"/>
                          </a:rPr>
                        </m:ctrlPr>
                      </m:dPr>
                      <m:e>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e>
                    </m:d>
                    <m:r>
                      <a:rPr lang="en-US" altLang="zh-CN" sz="4000" i="1">
                        <a:latin typeface="Cambria Math" panose="02040503050406030204" pitchFamily="18" charset="0"/>
                      </a:rPr>
                      <m:t>=</m:t>
                    </m:r>
                  </m:oMath>
                </a14:m>
                <a:r>
                  <a:rPr lang="en-US" altLang="zh-CN" sz="4000" dirty="0"/>
                  <a:t> </a:t>
                </a:r>
                <a14:m>
                  <m:oMath xmlns:m="http://schemas.openxmlformats.org/officeDocument/2006/math">
                    <m:f>
                      <m:fPr>
                        <m:ctrlPr>
                          <a:rPr lang="en-US" altLang="zh-CN" sz="4000" i="1">
                            <a:latin typeface="Cambria Math" panose="02040503050406030204" pitchFamily="18" charset="0"/>
                          </a:rPr>
                        </m:ctrlPr>
                      </m:fPr>
                      <m:num>
                        <m:r>
                          <a:rPr lang="en-US" altLang="zh-CN" sz="4000" i="1">
                            <a:latin typeface="Cambria Math" panose="02040503050406030204" pitchFamily="18" charset="0"/>
                          </a:rPr>
                          <m:t>1</m:t>
                        </m:r>
                      </m:num>
                      <m:den>
                        <m:sSup>
                          <m:sSupPr>
                            <m:ctrlPr>
                              <a:rPr lang="en-US" altLang="zh-CN" sz="4000" i="1">
                                <a:latin typeface="Cambria Math" panose="02040503050406030204" pitchFamily="18" charset="0"/>
                              </a:rPr>
                            </m:ctrlPr>
                          </m:sSupPr>
                          <m:e>
                            <m:r>
                              <a:rPr lang="en-US" altLang="zh-CN" sz="4000" i="1">
                                <a:latin typeface="Cambria Math" panose="02040503050406030204" pitchFamily="18" charset="0"/>
                              </a:rPr>
                              <m:t>𝑒</m:t>
                            </m:r>
                          </m:e>
                          <m:sup>
                            <m:r>
                              <a:rPr lang="en-US" altLang="zh-CN" sz="4000" i="1">
                                <a:latin typeface="Cambria Math" panose="02040503050406030204" pitchFamily="18" charset="0"/>
                              </a:rPr>
                              <m:t>(</m:t>
                            </m:r>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𝜇</m:t>
                            </m:r>
                            <m:r>
                              <a:rPr lang="en-US" altLang="zh-CN" sz="4000" i="1">
                                <a:latin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𝜏</m:t>
                            </m:r>
                          </m:sup>
                        </m:sSup>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rPr>
                          <m:t>1</m:t>
                        </m:r>
                      </m:den>
                    </m:f>
                  </m:oMath>
                </a14:m>
                <a:endParaRPr lang="en-CN" sz="4000" dirty="0"/>
              </a:p>
            </p:txBody>
          </p:sp>
        </mc:Choice>
        <mc:Fallback xmlns="">
          <p:sp>
            <p:nvSpPr>
              <p:cNvPr id="4" name="TextBox 3">
                <a:extLst>
                  <a:ext uri="{FF2B5EF4-FFF2-40B4-BE49-F238E27FC236}">
                    <a16:creationId xmlns:a16="http://schemas.microsoft.com/office/drawing/2014/main" id="{3CE762CF-1791-1C4D-B8F1-7B1B89CB7C9D}"/>
                  </a:ext>
                </a:extLst>
              </p:cNvPr>
              <p:cNvSpPr txBox="1">
                <a:spLocks noRot="1" noChangeAspect="1" noMove="1" noResize="1" noEditPoints="1" noAdjustHandles="1" noChangeArrowheads="1" noChangeShapeType="1" noTextEdit="1"/>
              </p:cNvSpPr>
              <p:nvPr/>
            </p:nvSpPr>
            <p:spPr>
              <a:xfrm>
                <a:off x="214746" y="820390"/>
                <a:ext cx="4558146" cy="1013354"/>
              </a:xfrm>
              <a:prstGeom prst="rect">
                <a:avLst/>
              </a:prstGeom>
              <a:blipFill>
                <a:blip r:embed="rId2"/>
                <a:stretch>
                  <a:fillRect b="-864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87A894C-7143-924B-A801-96C8B02C4F6A}"/>
                  </a:ext>
                </a:extLst>
              </p:cNvPr>
              <p:cNvSpPr txBox="1"/>
              <p:nvPr/>
            </p:nvSpPr>
            <p:spPr>
              <a:xfrm>
                <a:off x="7280564" y="961582"/>
                <a:ext cx="4558146" cy="73096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4000" i="1" smtClean="0">
                          <a:latin typeface="Cambria Math" panose="02040503050406030204" pitchFamily="18" charset="0"/>
                        </a:rPr>
                        <m:t>𝑓</m:t>
                      </m:r>
                      <m:d>
                        <m:dPr>
                          <m:ctrlPr>
                            <a:rPr lang="en-US" altLang="zh-CN" sz="4000" i="1">
                              <a:latin typeface="Cambria Math" panose="02040503050406030204" pitchFamily="18" charset="0"/>
                            </a:rPr>
                          </m:ctrlPr>
                        </m:dPr>
                        <m:e>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e>
                      </m:d>
                      <m:r>
                        <a:rPr lang="en-US" altLang="zh-CN" sz="4000" i="1">
                          <a:latin typeface="Cambria Math" panose="02040503050406030204" pitchFamily="18" charset="0"/>
                        </a:rPr>
                        <m:t>=</m:t>
                      </m:r>
                      <m:r>
                        <a:rPr lang="en-US" altLang="zh-CN" sz="4000" i="1" smtClean="0">
                          <a:latin typeface="Cambria Math" panose="02040503050406030204" pitchFamily="18" charset="0"/>
                          <a:ea typeface="Cambria Math" panose="02040503050406030204" pitchFamily="18" charset="0"/>
                        </a:rPr>
                        <m:t>𝜆</m:t>
                      </m:r>
                      <m:sSup>
                        <m:sSupPr>
                          <m:ctrlPr>
                            <a:rPr lang="en-US" altLang="zh-CN" sz="400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𝑒</m:t>
                          </m:r>
                        </m:e>
                        <m:sup>
                          <m:r>
                            <a:rPr lang="en-US" altLang="zh-CN" sz="4000" b="0" i="1" smtClean="0">
                              <a:latin typeface="Cambria Math" panose="02040503050406030204" pitchFamily="18" charset="0"/>
                              <a:ea typeface="Cambria Math" panose="02040503050406030204" pitchFamily="18" charset="0"/>
                            </a:rPr>
                            <m:t>−</m:t>
                          </m:r>
                          <m:sSub>
                            <m:sSubPr>
                              <m:ctrlPr>
                                <a:rPr lang="en-US" altLang="zh-CN" sz="4000" b="0" i="1" smtClean="0">
                                  <a:latin typeface="Cambria Math" panose="02040503050406030204" pitchFamily="18" charset="0"/>
                                  <a:ea typeface="Cambria Math" panose="02040503050406030204" pitchFamily="18" charset="0"/>
                                </a:rPr>
                              </m:ctrlPr>
                            </m:sSubPr>
                            <m:e>
                              <m:r>
                                <a:rPr lang="en-US" altLang="zh-CN" sz="4000" b="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ea typeface="Cambria Math" panose="02040503050406030204" pitchFamily="18" charset="0"/>
                                </a:rPr>
                                <m:t>𝑖</m:t>
                              </m:r>
                            </m:sub>
                          </m:sSub>
                          <m:r>
                            <a:rPr lang="en-US" altLang="zh-CN" sz="4000" b="0" i="1" smtClean="0">
                              <a:latin typeface="Cambria Math" panose="02040503050406030204" pitchFamily="18" charset="0"/>
                              <a:ea typeface="Cambria Math" panose="02040503050406030204" pitchFamily="18" charset="0"/>
                            </a:rPr>
                            <m:t>/</m:t>
                          </m:r>
                          <m:r>
                            <a:rPr lang="en-US" altLang="zh-CN" sz="4000" b="0" i="1" smtClean="0">
                              <a:latin typeface="Cambria Math" panose="02040503050406030204" pitchFamily="18" charset="0"/>
                              <a:ea typeface="Cambria Math" panose="02040503050406030204" pitchFamily="18" charset="0"/>
                            </a:rPr>
                            <m:t>𝜏</m:t>
                          </m:r>
                        </m:sup>
                      </m:sSup>
                    </m:oMath>
                  </m:oMathPara>
                </a14:m>
                <a:endParaRPr lang="en-CN" sz="4000" dirty="0"/>
              </a:p>
            </p:txBody>
          </p:sp>
        </mc:Choice>
        <mc:Fallback xmlns="">
          <p:sp>
            <p:nvSpPr>
              <p:cNvPr id="5" name="TextBox 4">
                <a:extLst>
                  <a:ext uri="{FF2B5EF4-FFF2-40B4-BE49-F238E27FC236}">
                    <a16:creationId xmlns:a16="http://schemas.microsoft.com/office/drawing/2014/main" id="{687A894C-7143-924B-A801-96C8B02C4F6A}"/>
                  </a:ext>
                </a:extLst>
              </p:cNvPr>
              <p:cNvSpPr txBox="1">
                <a:spLocks noRot="1" noChangeAspect="1" noMove="1" noResize="1" noEditPoints="1" noAdjustHandles="1" noChangeArrowheads="1" noChangeShapeType="1" noTextEdit="1"/>
              </p:cNvSpPr>
              <p:nvPr/>
            </p:nvSpPr>
            <p:spPr>
              <a:xfrm>
                <a:off x="7280564" y="961582"/>
                <a:ext cx="4558146" cy="730969"/>
              </a:xfrm>
              <a:prstGeom prst="rect">
                <a:avLst/>
              </a:prstGeom>
              <a:blipFill>
                <a:blip r:embed="rId3"/>
                <a:stretch>
                  <a:fillRect b="-22034"/>
                </a:stretch>
              </a:blipFill>
            </p:spPr>
            <p:txBody>
              <a:bodyPr/>
              <a:lstStyle/>
              <a:p>
                <a:r>
                  <a:rPr lang="en-CN">
                    <a:noFill/>
                  </a:rPr>
                  <a:t> </a:t>
                </a:r>
              </a:p>
            </p:txBody>
          </p:sp>
        </mc:Fallback>
      </mc:AlternateContent>
      <p:sp>
        <p:nvSpPr>
          <p:cNvPr id="6" name="Right Arrow 5">
            <a:extLst>
              <a:ext uri="{FF2B5EF4-FFF2-40B4-BE49-F238E27FC236}">
                <a16:creationId xmlns:a16="http://schemas.microsoft.com/office/drawing/2014/main" id="{9A0D1B1F-84D0-494D-BE67-53A7E12E9F9C}"/>
              </a:ext>
            </a:extLst>
          </p:cNvPr>
          <p:cNvSpPr/>
          <p:nvPr/>
        </p:nvSpPr>
        <p:spPr>
          <a:xfrm>
            <a:off x="5070764" y="1263235"/>
            <a:ext cx="2209800" cy="1276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C2F3E42-8E11-3B40-BE5C-AF1CD990EEE6}"/>
                  </a:ext>
                </a:extLst>
              </p:cNvPr>
              <p:cNvSpPr txBox="1"/>
              <p:nvPr/>
            </p:nvSpPr>
            <p:spPr>
              <a:xfrm>
                <a:off x="4921827" y="820390"/>
                <a:ext cx="2348346" cy="3808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CN"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sSub>
                            <m:sSubPr>
                              <m:ctrlPr>
                                <a:rPr lang="en-CN"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m:t>
                              </m:r>
                              <m:r>
                                <a:rPr lang="en-CN" i="1" smtClean="0">
                                  <a:solidFill>
                                    <a:srgbClr val="FF0000"/>
                                  </a:solidFill>
                                  <a:latin typeface="Cambria Math" panose="02040503050406030204" pitchFamily="18" charset="0"/>
                                  <a:ea typeface="Cambria Math" panose="02040503050406030204" pitchFamily="18" charset="0"/>
                                </a:rPr>
                                <m:t>𝜀</m:t>
                              </m:r>
                            </m:e>
                            <m:sub>
                              <m:r>
                                <a:rPr lang="en-US" b="0" i="1" smtClean="0">
                                  <a:solidFill>
                                    <a:srgbClr val="FF0000"/>
                                  </a:solidFill>
                                  <a:latin typeface="Cambria Math" panose="02040503050406030204" pitchFamily="18" charset="0"/>
                                </a:rPr>
                                <m:t>𝑖</m:t>
                              </m:r>
                            </m:sub>
                          </m:sSub>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𝜇</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𝜏</m:t>
                          </m:r>
                        </m:sup>
                      </m:sSup>
                      <m:r>
                        <a:rPr lang="en-CN"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1</m:t>
                      </m:r>
                    </m:oMath>
                  </m:oMathPara>
                </a14:m>
                <a:endParaRPr lang="en-CN" dirty="0"/>
              </a:p>
            </p:txBody>
          </p:sp>
        </mc:Choice>
        <mc:Fallback xmlns="">
          <p:sp>
            <p:nvSpPr>
              <p:cNvPr id="7" name="TextBox 6">
                <a:extLst>
                  <a:ext uri="{FF2B5EF4-FFF2-40B4-BE49-F238E27FC236}">
                    <a16:creationId xmlns:a16="http://schemas.microsoft.com/office/drawing/2014/main" id="{2C2F3E42-8E11-3B40-BE5C-AF1CD990EEE6}"/>
                  </a:ext>
                </a:extLst>
              </p:cNvPr>
              <p:cNvSpPr txBox="1">
                <a:spLocks noRot="1" noChangeAspect="1" noMove="1" noResize="1" noEditPoints="1" noAdjustHandles="1" noChangeArrowheads="1" noChangeShapeType="1" noTextEdit="1"/>
              </p:cNvSpPr>
              <p:nvPr/>
            </p:nvSpPr>
            <p:spPr>
              <a:xfrm>
                <a:off x="4921827" y="820390"/>
                <a:ext cx="2348346" cy="380810"/>
              </a:xfrm>
              <a:prstGeom prst="rect">
                <a:avLst/>
              </a:prstGeom>
              <a:blipFill>
                <a:blip r:embed="rId4"/>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F9EA5A4-7691-6345-8684-14E5103974CD}"/>
                  </a:ext>
                </a:extLst>
              </p:cNvPr>
              <p:cNvSpPr txBox="1"/>
              <p:nvPr/>
            </p:nvSpPr>
            <p:spPr>
              <a:xfrm>
                <a:off x="4447309" y="2840182"/>
                <a:ext cx="3813463" cy="337368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p>
                      <m:sSupPr>
                        <m:ctrlPr>
                          <a:rPr lang="en-CN" sz="3200" i="1" smtClean="0">
                            <a:solidFill>
                              <a:srgbClr val="FF0000"/>
                            </a:solidFill>
                            <a:latin typeface="Cambria Math" panose="02040503050406030204" pitchFamily="18" charset="0"/>
                          </a:rPr>
                        </m:ctrlPr>
                      </m:sSupPr>
                      <m:e>
                        <m:r>
                          <a:rPr lang="en-US" sz="3200" i="1">
                            <a:solidFill>
                              <a:srgbClr val="FF0000"/>
                            </a:solidFill>
                            <a:latin typeface="Cambria Math" panose="02040503050406030204" pitchFamily="18" charset="0"/>
                          </a:rPr>
                          <m:t>𝑒</m:t>
                        </m:r>
                      </m:e>
                      <m:sup>
                        <m:sSub>
                          <m:sSubPr>
                            <m:ctrlPr>
                              <a:rPr lang="en-CN" sz="3200" i="1">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m:t>
                            </m:r>
                            <m:r>
                              <a:rPr lang="en-CN" sz="3200" i="1">
                                <a:solidFill>
                                  <a:srgbClr val="FF0000"/>
                                </a:solidFill>
                                <a:latin typeface="Cambria Math" panose="02040503050406030204" pitchFamily="18" charset="0"/>
                                <a:ea typeface="Cambria Math" panose="02040503050406030204" pitchFamily="18" charset="0"/>
                              </a:rPr>
                              <m:t>𝜀</m:t>
                            </m:r>
                          </m:e>
                          <m:sub>
                            <m:r>
                              <a:rPr lang="en-US" sz="3200" i="1">
                                <a:solidFill>
                                  <a:srgbClr val="FF0000"/>
                                </a:solidFill>
                                <a:latin typeface="Cambria Math" panose="02040503050406030204" pitchFamily="18" charset="0"/>
                              </a:rPr>
                              <m:t>𝑖</m:t>
                            </m:r>
                          </m:sub>
                        </m:sSub>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ea typeface="Cambria Math" panose="02040503050406030204" pitchFamily="18" charset="0"/>
                          </a:rPr>
                          <m:t>𝜇</m:t>
                        </m:r>
                        <m:r>
                          <a:rPr lang="en-US" sz="3200" b="0" i="1" smtClean="0">
                            <a:solidFill>
                              <a:srgbClr val="FF0000"/>
                            </a:solidFill>
                            <a:latin typeface="Cambria Math" panose="02040503050406030204" pitchFamily="18" charset="0"/>
                            <a:ea typeface="Cambria Math" panose="02040503050406030204" pitchFamily="18" charset="0"/>
                          </a:rPr>
                          <m:t>)/</m:t>
                        </m:r>
                        <m:r>
                          <a:rPr lang="en-US" sz="3200" b="0" i="1" smtClean="0">
                            <a:solidFill>
                              <a:srgbClr val="FF0000"/>
                            </a:solidFill>
                            <a:latin typeface="Cambria Math" panose="02040503050406030204" pitchFamily="18" charset="0"/>
                            <a:ea typeface="Cambria Math" panose="02040503050406030204" pitchFamily="18" charset="0"/>
                          </a:rPr>
                          <m:t>𝜏</m:t>
                        </m:r>
                      </m:sup>
                    </m:sSup>
                    <m:r>
                      <a:rPr lang="en-CN" sz="3200" i="1">
                        <a:solidFill>
                          <a:srgbClr val="FF0000"/>
                        </a:solidFill>
                        <a:latin typeface="Cambria Math" panose="02040503050406030204" pitchFamily="18" charset="0"/>
                        <a:ea typeface="Cambria Math" panose="02040503050406030204" pitchFamily="18" charset="0"/>
                      </a:rPr>
                      <m:t>≫</m:t>
                    </m:r>
                    <m:r>
                      <a:rPr lang="en-US" sz="3200" i="1">
                        <a:solidFill>
                          <a:srgbClr val="FF0000"/>
                        </a:solidFill>
                        <a:latin typeface="Cambria Math" panose="02040503050406030204" pitchFamily="18" charset="0"/>
                        <a:ea typeface="Cambria Math" panose="02040503050406030204" pitchFamily="18" charset="0"/>
                      </a:rPr>
                      <m:t>1</m:t>
                    </m:r>
                  </m:oMath>
                </a14:m>
                <a:endParaRPr lang="en-CN" sz="3200" dirty="0"/>
              </a:p>
              <a:p>
                <a:pPr marL="285750" indent="-285750">
                  <a:buFont typeface="Arial" panose="020B0604020202020204" pitchFamily="34" charset="0"/>
                  <a:buChar char="•"/>
                </a:pPr>
                <a14:m>
                  <m:oMath xmlns:m="http://schemas.openxmlformats.org/officeDocument/2006/math">
                    <m:sSub>
                      <m:sSubPr>
                        <m:ctrlPr>
                          <a:rPr lang="en-CN" sz="3200" i="1" smtClean="0">
                            <a:latin typeface="Cambria Math" panose="02040503050406030204" pitchFamily="18" charset="0"/>
                          </a:rPr>
                        </m:ctrlPr>
                      </m:sSubPr>
                      <m:e>
                        <m:r>
                          <a:rPr lang="en-US" sz="3200" b="0" i="1" smtClean="0">
                            <a:latin typeface="Cambria Math" panose="02040503050406030204" pitchFamily="18" charset="0"/>
                          </a:rPr>
                          <m:t>(</m:t>
                        </m:r>
                        <m:r>
                          <a:rPr lang="en-CN" sz="3200" i="1" smtClean="0">
                            <a:latin typeface="Cambria Math" panose="02040503050406030204" pitchFamily="18" charset="0"/>
                            <a:ea typeface="Cambria Math" panose="02040503050406030204" pitchFamily="18" charset="0"/>
                          </a:rPr>
                          <m:t>𝜀</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𝜇</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𝜏</m:t>
                    </m:r>
                    <m:r>
                      <a:rPr lang="en-US" sz="3200" b="0" i="1" smtClean="0">
                        <a:latin typeface="Cambria Math" panose="02040503050406030204" pitchFamily="18" charset="0"/>
                        <a:ea typeface="Cambria Math" panose="02040503050406030204" pitchFamily="18" charset="0"/>
                      </a:rPr>
                      <m:t>≫1</m:t>
                    </m:r>
                  </m:oMath>
                </a14:m>
                <a:endParaRPr lang="en-US" sz="3200" b="0" dirty="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en-CN" sz="3200" i="1" smtClean="0">
                        <a:latin typeface="Cambria Math" panose="02040503050406030204" pitchFamily="18" charset="0"/>
                        <a:ea typeface="Cambria Math" panose="02040503050406030204" pitchFamily="18" charset="0"/>
                      </a:rPr>
                      <m:t>𝜇</m:t>
                    </m:r>
                    <m:r>
                      <a:rPr lang="en-CN"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𝜏</m:t>
                    </m:r>
                  </m:oMath>
                </a14:m>
                <a:endParaRPr lang="en-US" sz="3200" b="0" dirty="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en-CN" sz="3200" i="1" smtClean="0">
                        <a:latin typeface="Cambria Math" panose="02040503050406030204" pitchFamily="18" charset="0"/>
                        <a:ea typeface="Cambria Math" panose="02040503050406030204" pitchFamily="18" charset="0"/>
                      </a:rPr>
                      <m:t>𝜇</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𝜏</m:t>
                    </m:r>
                    <m:func>
                      <m:funcPr>
                        <m:ctrlPr>
                          <a:rPr lang="en-US" sz="3200" b="0" i="1" smtClean="0">
                            <a:latin typeface="Cambria Math" panose="02040503050406030204" pitchFamily="18" charset="0"/>
                            <a:ea typeface="Cambria Math" panose="02040503050406030204" pitchFamily="18" charset="0"/>
                          </a:rPr>
                        </m:ctrlPr>
                      </m:funcPr>
                      <m:fName>
                        <m:r>
                          <m:rPr>
                            <m:sty m:val="p"/>
                          </m:rPr>
                          <a:rPr lang="en-US" sz="3200" b="0" i="0" smtClean="0">
                            <a:latin typeface="Cambria Math" panose="02040503050406030204" pitchFamily="18" charset="0"/>
                            <a:ea typeface="Cambria Math" panose="02040503050406030204" pitchFamily="18" charset="0"/>
                          </a:rPr>
                          <m:t>log</m:t>
                        </m:r>
                      </m:fName>
                      <m:e>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𝑛</m:t>
                            </m:r>
                          </m:num>
                          <m:den>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𝑛</m:t>
                                </m:r>
                              </m:e>
                              <m:sub>
                                <m:r>
                                  <a:rPr lang="en-US" sz="3200" b="0" i="1" smtClean="0">
                                    <a:latin typeface="Cambria Math" panose="02040503050406030204" pitchFamily="18" charset="0"/>
                                    <a:ea typeface="Cambria Math" panose="02040503050406030204" pitchFamily="18" charset="0"/>
                                  </a:rPr>
                                  <m:t>𝑄</m:t>
                                </m:r>
                              </m:sub>
                            </m:sSub>
                          </m:den>
                        </m:f>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𝜏</m:t>
                        </m:r>
                      </m:e>
                    </m:func>
                  </m:oMath>
                </a14:m>
                <a:endParaRPr lang="en-CN" sz="3200" dirty="0"/>
              </a:p>
              <a:p>
                <a:pPr marL="285750" indent="-285750">
                  <a:buFont typeface="Arial" panose="020B0604020202020204" pitchFamily="34" charset="0"/>
                  <a:buChar char="•"/>
                </a:pP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ea typeface="Cambria Math" panose="02040503050406030204" pitchFamily="18" charset="0"/>
                      </a:rPr>
                      <m:t>≪</m:t>
                    </m:r>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𝑛</m:t>
                        </m:r>
                      </m:e>
                      <m:sub>
                        <m:r>
                          <a:rPr lang="en-US" sz="3200" b="0" i="1" smtClean="0">
                            <a:latin typeface="Cambria Math" panose="02040503050406030204" pitchFamily="18" charset="0"/>
                            <a:ea typeface="Cambria Math" panose="02040503050406030204" pitchFamily="18" charset="0"/>
                          </a:rPr>
                          <m:t>𝑄</m:t>
                        </m:r>
                      </m:sub>
                    </m:sSub>
                  </m:oMath>
                </a14:m>
                <a:endParaRPr lang="en-CN" sz="3200" dirty="0"/>
              </a:p>
              <a:p>
                <a:pPr marL="285750" indent="-285750">
                  <a:buFont typeface="Arial" panose="020B0604020202020204" pitchFamily="34" charset="0"/>
                  <a:buChar char="•"/>
                </a:pPr>
                <a14:m>
                  <m:oMath xmlns:m="http://schemas.openxmlformats.org/officeDocument/2006/math">
                    <m:sSub>
                      <m:sSubPr>
                        <m:ctrlPr>
                          <a:rPr lang="en-CN" sz="3200" i="1" smtClean="0">
                            <a:latin typeface="Cambria Math" panose="02040503050406030204" pitchFamily="18" charset="0"/>
                          </a:rPr>
                        </m:ctrlPr>
                      </m:sSubPr>
                      <m:e>
                        <m:r>
                          <a:rPr lang="en-US" sz="3200" b="0" i="1" smtClean="0">
                            <a:latin typeface="Cambria Math" panose="02040503050406030204" pitchFamily="18" charset="0"/>
                          </a:rPr>
                          <m:t>𝑍</m:t>
                        </m:r>
                      </m:e>
                      <m:sub>
                        <m:r>
                          <a:rPr lang="en-US" sz="3200" b="0" i="1" smtClean="0">
                            <a:latin typeface="Cambria Math" panose="02040503050406030204" pitchFamily="18" charset="0"/>
                          </a:rPr>
                          <m:t>1</m:t>
                        </m:r>
                      </m:sub>
                    </m:sSub>
                    <m:r>
                      <a:rPr lang="en-CN"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𝑁</m:t>
                    </m:r>
                  </m:oMath>
                </a14:m>
                <a:endParaRPr lang="en-CN" sz="3200" dirty="0"/>
              </a:p>
            </p:txBody>
          </p:sp>
        </mc:Choice>
        <mc:Fallback xmlns="">
          <p:sp>
            <p:nvSpPr>
              <p:cNvPr id="8" name="TextBox 7">
                <a:extLst>
                  <a:ext uri="{FF2B5EF4-FFF2-40B4-BE49-F238E27FC236}">
                    <a16:creationId xmlns:a16="http://schemas.microsoft.com/office/drawing/2014/main" id="{0F9EA5A4-7691-6345-8684-14E5103974CD}"/>
                  </a:ext>
                </a:extLst>
              </p:cNvPr>
              <p:cNvSpPr txBox="1">
                <a:spLocks noRot="1" noChangeAspect="1" noMove="1" noResize="1" noEditPoints="1" noAdjustHandles="1" noChangeArrowheads="1" noChangeShapeType="1" noTextEdit="1"/>
              </p:cNvSpPr>
              <p:nvPr/>
            </p:nvSpPr>
            <p:spPr>
              <a:xfrm>
                <a:off x="4447309" y="2840182"/>
                <a:ext cx="3813463" cy="3373680"/>
              </a:xfrm>
              <a:prstGeom prst="rect">
                <a:avLst/>
              </a:prstGeom>
              <a:blipFill>
                <a:blip r:embed="rId5"/>
                <a:stretch>
                  <a:fillRect l="-3654" t="-1124" b="-4120"/>
                </a:stretch>
              </a:blipFill>
            </p:spPr>
            <p:txBody>
              <a:bodyPr/>
              <a:lstStyle/>
              <a:p>
                <a:r>
                  <a:rPr lang="en-CN">
                    <a:noFill/>
                  </a:rPr>
                  <a:t> </a:t>
                </a:r>
              </a:p>
            </p:txBody>
          </p:sp>
        </mc:Fallback>
      </mc:AlternateContent>
    </p:spTree>
    <p:extLst>
      <p:ext uri="{BB962C8B-B14F-4D97-AF65-F5344CB8AC3E}">
        <p14:creationId xmlns:p14="http://schemas.microsoft.com/office/powerpoint/2010/main" val="3637741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55D94E-C119-C040-BD03-F4678FDBB573}"/>
                  </a:ext>
                </a:extLst>
              </p:cNvPr>
              <p:cNvSpPr txBox="1"/>
              <p:nvPr/>
            </p:nvSpPr>
            <p:spPr>
              <a:xfrm>
                <a:off x="547254" y="1122218"/>
                <a:ext cx="11623964" cy="4827604"/>
              </a:xfrm>
              <a:prstGeom prst="rect">
                <a:avLst/>
              </a:prstGeom>
              <a:noFill/>
            </p:spPr>
            <p:txBody>
              <a:bodyPr wrap="square" rtlCol="0">
                <a:spAutoFit/>
              </a:bodyPr>
              <a:lstStyle/>
              <a:p>
                <a:pPr marL="285750" indent="-285750">
                  <a:buFont typeface="Arial" panose="020B0604020202020204" pitchFamily="34" charset="0"/>
                  <a:buChar char="•"/>
                </a:pPr>
                <a:r>
                  <a:rPr lang="en-CN" dirty="0"/>
                  <a:t>Grand potential</a:t>
                </a:r>
              </a:p>
              <a:p>
                <a:endParaRPr lang="en-CN" dirty="0"/>
              </a:p>
              <a:p>
                <a:pPr/>
                <a14:m>
                  <m:oMathPara xmlns:m="http://schemas.openxmlformats.org/officeDocument/2006/math">
                    <m:oMathParaPr>
                      <m:jc m:val="centerGroup"/>
                    </m:oMathParaPr>
                    <m:oMath xmlns:m="http://schemas.openxmlformats.org/officeDocument/2006/math">
                      <m:r>
                        <m:rPr>
                          <m:sty m:val="p"/>
                        </m:rPr>
                        <a:rPr lang="el-GR" i="1">
                          <a:latin typeface="Cambria Math" panose="02040503050406030204" pitchFamily="18" charset="0"/>
                          <a:ea typeface="Cambria Math" panose="02040503050406030204" pitchFamily="18" charset="0"/>
                        </a:rPr>
                        <m:t>Ω</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nary>
                        <m:naryPr>
                          <m:chr m:val="∑"/>
                          <m:supHide m:val="on"/>
                          <m:ctrlPr>
                            <a:rPr lang="en-US" altLang="zh-CN" i="1">
                              <a:latin typeface="Cambria Math" panose="02040503050406030204" pitchFamily="18" charset="0"/>
                              <a:ea typeface="Cambria Math" panose="02040503050406030204" pitchFamily="18" charset="0"/>
                            </a:rPr>
                          </m:ctrlPr>
                        </m:naryPr>
                        <m:sub>
                          <m:r>
                            <m:rPr>
                              <m:brk m:alnAt="7"/>
                            </m:rPr>
                            <a:rPr lang="en-US" altLang="zh-CN" i="1">
                              <a:latin typeface="Cambria Math" panose="02040503050406030204" pitchFamily="18" charset="0"/>
                              <a:ea typeface="Cambria Math" panose="02040503050406030204" pitchFamily="18" charset="0"/>
                            </a:rPr>
                            <m:t>𝑖</m:t>
                          </m:r>
                        </m:sub>
                        <m:sup/>
                        <m:e>
                          <m:func>
                            <m:funcPr>
                              <m:ctrlPr>
                                <a:rPr lang="en-US" altLang="zh-CN" i="1">
                                  <a:latin typeface="Cambria Math" panose="02040503050406030204" pitchFamily="18" charset="0"/>
                                  <a:ea typeface="Cambria Math" panose="02040503050406030204" pitchFamily="18" charset="0"/>
                                </a:rPr>
                              </m:ctrlPr>
                            </m:funcPr>
                            <m:fName>
                              <m:r>
                                <m:rPr>
                                  <m:sty m:val="p"/>
                                </m:rPr>
                                <a:rPr lang="en-US" altLang="zh-CN">
                                  <a:latin typeface="Cambria Math" panose="02040503050406030204" pitchFamily="18" charset="0"/>
                                  <a:ea typeface="Cambria Math" panose="02040503050406030204" pitchFamily="18" charset="0"/>
                                </a:rPr>
                                <m:t>log</m:t>
                              </m:r>
                            </m:fName>
                            <m:e>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1±</m:t>
                                  </m:r>
                                  <m:r>
                                    <a:rPr lang="en-US" altLang="zh-CN" i="1">
                                      <a:latin typeface="Cambria Math" panose="02040503050406030204" pitchFamily="18" charset="0"/>
                                      <a:ea typeface="Cambria Math" panose="02040503050406030204" pitchFamily="18" charset="0"/>
                                    </a:rPr>
                                    <m:t>𝜆</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𝑒</m:t>
                                      </m:r>
                                    </m:e>
                                    <m:sup>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ea typeface="Cambria Math" panose="02040503050406030204" pitchFamily="18" charset="0"/>
                                            </a:rPr>
                                            <m:t>𝑖</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e>
                              </m:d>
                            </m:e>
                          </m:func>
                        </m:e>
                      </m:nary>
                      <m:groupChr>
                        <m:groupChrPr>
                          <m:chr m:val="→"/>
                          <m:vertJc m:val="bot"/>
                          <m:ctrlPr>
                            <a:rPr lang="en-US" altLang="zh-CN" i="1" smtClean="0">
                              <a:latin typeface="Cambria Math" panose="02040503050406030204" pitchFamily="18" charset="0"/>
                              <a:ea typeface="Cambria Math" panose="02040503050406030204" pitchFamily="18" charset="0"/>
                            </a:rPr>
                          </m:ctrlPr>
                        </m:groupChrPr>
                        <m:e>
                          <m:sSup>
                            <m:sSupPr>
                              <m:ctrlPr>
                                <a:rPr lang="en-CN"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𝑒</m:t>
                              </m:r>
                            </m:e>
                            <m:sup>
                              <m:sSub>
                                <m:sSubPr>
                                  <m:ctrlPr>
                                    <a:rPr lang="en-CN"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m:t>
                                  </m:r>
                                  <m:r>
                                    <a:rPr lang="en-CN" i="1">
                                      <a:solidFill>
                                        <a:srgbClr val="FF0000"/>
                                      </a:solidFill>
                                      <a:latin typeface="Cambria Math" panose="02040503050406030204" pitchFamily="18" charset="0"/>
                                      <a:ea typeface="Cambria Math" panose="02040503050406030204" pitchFamily="18" charset="0"/>
                                    </a:rPr>
                                    <m:t>𝜀</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𝜇</m:t>
                              </m:r>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𝜏</m:t>
                              </m:r>
                            </m:sup>
                          </m:sSup>
                          <m:r>
                            <a:rPr lang="en-CN"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1</m:t>
                          </m:r>
                        </m:e>
                      </m:groupChr>
                      <m:r>
                        <a:rPr lang="en-US" altLang="zh-CN" i="1" smtClean="0">
                          <a:latin typeface="Cambria Math" panose="02040503050406030204" pitchFamily="18" charset="0"/>
                          <a:ea typeface="Cambria Math" panose="02040503050406030204" pitchFamily="18" charset="0"/>
                        </a:rPr>
                        <m:t>𝜏𝜆</m:t>
                      </m:r>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𝑖</m:t>
                          </m:r>
                        </m:sub>
                        <m:sup/>
                        <m:e>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𝑒</m:t>
                              </m:r>
                            </m:e>
                            <m:sup>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𝑖</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𝑒</m:t>
                              </m:r>
                            </m:e>
                            <m:sup>
                              <m:r>
                                <a:rPr lang="en-US" altLang="zh-CN" b="0" i="1" smtClean="0">
                                  <a:latin typeface="Cambria Math" panose="02040503050406030204" pitchFamily="18" charset="0"/>
                                  <a:ea typeface="Cambria Math" panose="02040503050406030204" pitchFamily="18" charset="0"/>
                                </a:rPr>
                                <m:t>𝜇</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𝜏</m:t>
                              </m:r>
                            </m:sup>
                          </m:sSup>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𝑛</m:t>
                              </m:r>
                            </m:e>
                            <m:sub>
                              <m:r>
                                <a:rPr lang="en-US" altLang="zh-CN" b="0" i="1" smtClean="0">
                                  <a:latin typeface="Cambria Math" panose="02040503050406030204" pitchFamily="18" charset="0"/>
                                  <a:ea typeface="Cambria Math" panose="02040503050406030204" pitchFamily="18" charset="0"/>
                                </a:rPr>
                                <m:t>𝑄</m:t>
                              </m:r>
                            </m:sub>
                          </m:sSub>
                          <m:r>
                            <a:rPr lang="en-US" altLang="zh-CN" b="0" i="1" smtClean="0">
                              <a:latin typeface="Cambria Math" panose="02040503050406030204" pitchFamily="18" charset="0"/>
                              <a:ea typeface="Cambria Math" panose="02040503050406030204" pitchFamily="18" charset="0"/>
                            </a:rPr>
                            <m:t>𝑉</m:t>
                          </m:r>
                        </m:e>
                      </m:nary>
                    </m:oMath>
                  </m:oMathPara>
                </a14:m>
                <a:endParaRPr lang="en-CN" dirty="0"/>
              </a:p>
              <a:p>
                <a:pPr marL="285750" indent="-285750">
                  <a:buFont typeface="Arial" panose="020B0604020202020204" pitchFamily="34" charset="0"/>
                  <a:buChar char="•"/>
                </a:pPr>
                <a:r>
                  <a:rPr lang="en-CN" dirty="0"/>
                  <a:t>Number</a:t>
                </a:r>
              </a:p>
              <a:p>
                <a:pPr algn="ct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𝑁</m:t>
                      </m:r>
                      <m:r>
                        <a:rPr lang="en-US" b="0" i="1" smtClean="0">
                          <a:solidFill>
                            <a:srgbClr val="7030A0"/>
                          </a:solidFill>
                          <a:latin typeface="Cambria Math" panose="02040503050406030204" pitchFamily="18" charset="0"/>
                        </a:rPr>
                        <m:t>=−</m:t>
                      </m:r>
                      <m:f>
                        <m:fPr>
                          <m:ctrlPr>
                            <a:rPr lang="en-US" b="0" i="1" smtClean="0">
                              <a:solidFill>
                                <a:srgbClr val="7030A0"/>
                              </a:solidFill>
                              <a:latin typeface="Cambria Math" panose="02040503050406030204" pitchFamily="18" charset="0"/>
                            </a:rPr>
                          </m:ctrlPr>
                        </m:fPr>
                        <m:num>
                          <m:r>
                            <a:rPr lang="en-US" b="0" i="1" smtClean="0">
                              <a:solidFill>
                                <a:srgbClr val="7030A0"/>
                              </a:solidFill>
                              <a:latin typeface="Cambria Math" panose="02040503050406030204" pitchFamily="18" charset="0"/>
                              <a:ea typeface="Cambria Math" panose="02040503050406030204" pitchFamily="18" charset="0"/>
                            </a:rPr>
                            <m:t>𝜕</m:t>
                          </m:r>
                          <m:r>
                            <m:rPr>
                              <m:sty m:val="p"/>
                            </m:rPr>
                            <a:rPr lang="el-GR" i="1">
                              <a:solidFill>
                                <a:srgbClr val="7030A0"/>
                              </a:solidFill>
                              <a:latin typeface="Cambria Math" panose="02040503050406030204" pitchFamily="18" charset="0"/>
                              <a:ea typeface="Cambria Math" panose="02040503050406030204" pitchFamily="18" charset="0"/>
                            </a:rPr>
                            <m:t>Ω</m:t>
                          </m:r>
                        </m:num>
                        <m:den>
                          <m:r>
                            <a:rPr lang="en-US" b="0" i="1" smtClean="0">
                              <a:solidFill>
                                <a:srgbClr val="7030A0"/>
                              </a:solidFill>
                              <a:latin typeface="Cambria Math" panose="02040503050406030204" pitchFamily="18" charset="0"/>
                              <a:ea typeface="Cambria Math" panose="02040503050406030204" pitchFamily="18" charset="0"/>
                            </a:rPr>
                            <m:t>𝜕𝜇</m:t>
                          </m:r>
                        </m:den>
                      </m:f>
                      <m:r>
                        <a:rPr lang="en-US" b="0" i="1" smtClean="0">
                          <a:latin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𝑒</m:t>
                          </m:r>
                        </m:e>
                        <m:sup>
                          <m:r>
                            <a:rPr lang="en-US" altLang="zh-CN" i="1">
                              <a:latin typeface="Cambria Math" panose="02040503050406030204" pitchFamily="18" charset="0"/>
                              <a:ea typeface="Cambria Math" panose="02040503050406030204" pitchFamily="18" charset="0"/>
                            </a:rPr>
                            <m:t>𝜇</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𝑛</m:t>
                          </m:r>
                        </m:e>
                        <m:sub>
                          <m:r>
                            <a:rPr lang="en-US" altLang="zh-CN" i="1">
                              <a:latin typeface="Cambria Math" panose="02040503050406030204" pitchFamily="18" charset="0"/>
                              <a:ea typeface="Cambria Math" panose="02040503050406030204" pitchFamily="18" charset="0"/>
                            </a:rPr>
                            <m:t>𝑄</m:t>
                          </m:r>
                        </m:sub>
                      </m:sSub>
                      <m:r>
                        <a:rPr lang="en-US" altLang="zh-CN" i="1">
                          <a:latin typeface="Cambria Math" panose="02040503050406030204" pitchFamily="18" charset="0"/>
                          <a:ea typeface="Cambria Math" panose="02040503050406030204" pitchFamily="18" charset="0"/>
                        </a:rPr>
                        <m:t>𝑉</m:t>
                      </m:r>
                    </m:oMath>
                  </m:oMathPara>
                </a14:m>
                <a:endParaRPr lang="en-CN" dirty="0"/>
              </a:p>
              <a:p>
                <a:pPr marL="285750" indent="-285750">
                  <a:buFont typeface="Arial" panose="020B0604020202020204" pitchFamily="34" charset="0"/>
                  <a:buChar char="•"/>
                </a:pPr>
                <a:r>
                  <a:rPr lang="en-CN" dirty="0"/>
                  <a:t>Pressure</a:t>
                </a:r>
              </a:p>
              <a:p>
                <a:pPr algn="ct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𝑝</m:t>
                      </m:r>
                      <m:r>
                        <a:rPr lang="en-US" b="0" i="1" smtClean="0">
                          <a:solidFill>
                            <a:srgbClr val="7030A0"/>
                          </a:solidFill>
                          <a:latin typeface="Cambria Math" panose="02040503050406030204" pitchFamily="18" charset="0"/>
                        </a:rPr>
                        <m:t>=−</m:t>
                      </m:r>
                      <m:f>
                        <m:fPr>
                          <m:ctrlPr>
                            <a:rPr lang="en-US" b="0" i="1" smtClean="0">
                              <a:solidFill>
                                <a:srgbClr val="7030A0"/>
                              </a:solidFill>
                              <a:latin typeface="Cambria Math" panose="02040503050406030204" pitchFamily="18" charset="0"/>
                            </a:rPr>
                          </m:ctrlPr>
                        </m:fPr>
                        <m:num>
                          <m:r>
                            <a:rPr lang="en-US" b="0" i="1" smtClean="0">
                              <a:solidFill>
                                <a:srgbClr val="7030A0"/>
                              </a:solidFill>
                              <a:latin typeface="Cambria Math" panose="02040503050406030204" pitchFamily="18" charset="0"/>
                            </a:rPr>
                            <m:t>𝜕</m:t>
                          </m:r>
                          <m:r>
                            <m:rPr>
                              <m:sty m:val="p"/>
                            </m:rPr>
                            <a:rPr lang="el-GR" i="1">
                              <a:solidFill>
                                <a:srgbClr val="7030A0"/>
                              </a:solidFill>
                              <a:latin typeface="Cambria Math" panose="02040503050406030204" pitchFamily="18" charset="0"/>
                              <a:ea typeface="Cambria Math" panose="02040503050406030204" pitchFamily="18" charset="0"/>
                            </a:rPr>
                            <m:t>Ω</m:t>
                          </m:r>
                        </m:num>
                        <m:den>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𝑉</m:t>
                          </m:r>
                        </m:den>
                      </m:f>
                      <m:r>
                        <a:rPr lang="en-US" b="0" i="1" smtClean="0">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𝑒</m:t>
                          </m:r>
                        </m:e>
                        <m:sup>
                          <m:r>
                            <a:rPr lang="en-US" altLang="zh-CN" i="1">
                              <a:latin typeface="Cambria Math" panose="02040503050406030204" pitchFamily="18" charset="0"/>
                              <a:ea typeface="Cambria Math" panose="02040503050406030204" pitchFamily="18" charset="0"/>
                            </a:rPr>
                            <m:t>𝜇</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𝜏</m:t>
                          </m:r>
                        </m:sup>
                      </m:sSup>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𝑛</m:t>
                          </m:r>
                        </m:e>
                        <m:sub>
                          <m:r>
                            <a:rPr lang="en-US" altLang="zh-CN" i="1">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rPr>
                            <m:t>𝑉</m:t>
                          </m:r>
                        </m:den>
                      </m:f>
                    </m:oMath>
                  </m:oMathPara>
                </a14:m>
                <a:endParaRPr lang="en-CN" dirty="0"/>
              </a:p>
              <a:p>
                <a:pPr marL="285750" indent="-285750">
                  <a:buFont typeface="Arial" panose="020B0604020202020204" pitchFamily="34" charset="0"/>
                  <a:buChar char="•"/>
                </a:pPr>
                <a:r>
                  <a:rPr lang="en-CN" dirty="0"/>
                  <a:t>Entropy</a:t>
                </a:r>
              </a:p>
              <a:p>
                <a:pPr algn="ct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ea typeface="Cambria Math" panose="02040503050406030204" pitchFamily="18" charset="0"/>
                        </a:rPr>
                        <m:t>𝜎</m:t>
                      </m:r>
                      <m:r>
                        <a:rPr lang="en-US" b="0" i="1" smtClean="0">
                          <a:solidFill>
                            <a:srgbClr val="7030A0"/>
                          </a:solidFill>
                          <a:latin typeface="Cambria Math" panose="02040503050406030204" pitchFamily="18" charset="0"/>
                          <a:ea typeface="Cambria Math" panose="02040503050406030204" pitchFamily="18" charset="0"/>
                        </a:rPr>
                        <m:t>=−</m:t>
                      </m:r>
                      <m:f>
                        <m:fPr>
                          <m:ctrlPr>
                            <a:rPr lang="en-US" b="0" i="1" smtClean="0">
                              <a:solidFill>
                                <a:srgbClr val="7030A0"/>
                              </a:solidFill>
                              <a:latin typeface="Cambria Math" panose="02040503050406030204" pitchFamily="18" charset="0"/>
                              <a:ea typeface="Cambria Math" panose="02040503050406030204" pitchFamily="18" charset="0"/>
                            </a:rPr>
                          </m:ctrlPr>
                        </m:fPr>
                        <m:num>
                          <m:r>
                            <a:rPr lang="en-US" b="0" i="1" smtClean="0">
                              <a:solidFill>
                                <a:srgbClr val="7030A0"/>
                              </a:solidFill>
                              <a:latin typeface="Cambria Math" panose="02040503050406030204" pitchFamily="18" charset="0"/>
                              <a:ea typeface="Cambria Math" panose="02040503050406030204" pitchFamily="18" charset="0"/>
                            </a:rPr>
                            <m:t>𝜕</m:t>
                          </m:r>
                          <m:r>
                            <m:rPr>
                              <m:sty m:val="p"/>
                            </m:rPr>
                            <a:rPr lang="el-GR" i="1">
                              <a:solidFill>
                                <a:srgbClr val="7030A0"/>
                              </a:solidFill>
                              <a:latin typeface="Cambria Math" panose="02040503050406030204" pitchFamily="18" charset="0"/>
                              <a:ea typeface="Cambria Math" panose="02040503050406030204" pitchFamily="18" charset="0"/>
                            </a:rPr>
                            <m:t>Ω</m:t>
                          </m:r>
                        </m:num>
                        <m:den>
                          <m:r>
                            <a:rPr lang="en-US" b="0" i="1" smtClean="0">
                              <a:solidFill>
                                <a:srgbClr val="7030A0"/>
                              </a:solidFill>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ctrlPr>
                            <a:rPr lang="en-US" b="0" i="1" smtClean="0">
                              <a:latin typeface="Cambria Math" panose="02040503050406030204" pitchFamily="18" charset="0"/>
                              <a:ea typeface="Cambria Math" panose="02040503050406030204" pitchFamily="18" charset="0"/>
                            </a:rPr>
                          </m:ctrlPr>
                        </m:dPr>
                        <m:e>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num>
                                <m:den>
                                  <m:r>
                                    <a:rPr lang="en-US" b="0" i="1" smtClean="0">
                                      <a:latin typeface="Cambria Math" panose="02040503050406030204" pitchFamily="18" charset="0"/>
                                      <a:ea typeface="Cambria Math" panose="02040503050406030204" pitchFamily="18" charset="0"/>
                                    </a:rPr>
                                    <m:t>𝑛</m:t>
                                  </m:r>
                                </m:den>
                              </m:f>
                            </m:e>
                          </m:func>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5</m:t>
                              </m:r>
                            </m:num>
                            <m:den>
                              <m:r>
                                <a:rPr lang="en-US" b="0" i="1" smtClean="0">
                                  <a:latin typeface="Cambria Math" panose="02040503050406030204" pitchFamily="18" charset="0"/>
                                  <a:ea typeface="Cambria Math" panose="02040503050406030204" pitchFamily="18" charset="0"/>
                                </a:rPr>
                                <m:t>2</m:t>
                              </m:r>
                            </m:den>
                          </m:f>
                        </m:e>
                      </m:d>
                    </m:oMath>
                  </m:oMathPara>
                </a14:m>
                <a:endParaRPr lang="en-CN" dirty="0"/>
              </a:p>
              <a:p>
                <a:pPr marL="285750" indent="-285750">
                  <a:buFont typeface="Arial" panose="020B0604020202020204" pitchFamily="34" charset="0"/>
                  <a:buChar char="•"/>
                </a:pPr>
                <a:r>
                  <a:rPr lang="en-CN" dirty="0"/>
                  <a:t>Energy</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oMath>
                  </m:oMathPara>
                </a14:m>
                <a:endParaRPr lang="en-CN" dirty="0"/>
              </a:p>
              <a:p>
                <a:pPr marL="285750" indent="-285750">
                  <a:buFont typeface="Arial" panose="020B0604020202020204" pitchFamily="34" charset="0"/>
                  <a:buChar char="•"/>
                </a:pPr>
                <a:r>
                  <a:rPr lang="en-CN" dirty="0"/>
                  <a:t>Heat capacity</a:t>
                </a:r>
              </a:p>
            </p:txBody>
          </p:sp>
        </mc:Choice>
        <mc:Fallback xmlns="">
          <p:sp>
            <p:nvSpPr>
              <p:cNvPr id="2" name="TextBox 1">
                <a:extLst>
                  <a:ext uri="{FF2B5EF4-FFF2-40B4-BE49-F238E27FC236}">
                    <a16:creationId xmlns:a16="http://schemas.microsoft.com/office/drawing/2014/main" id="{CA55D94E-C119-C040-BD03-F4678FDBB573}"/>
                  </a:ext>
                </a:extLst>
              </p:cNvPr>
              <p:cNvSpPr txBox="1">
                <a:spLocks noRot="1" noChangeAspect="1" noMove="1" noResize="1" noEditPoints="1" noAdjustHandles="1" noChangeArrowheads="1" noChangeShapeType="1" noTextEdit="1"/>
              </p:cNvSpPr>
              <p:nvPr/>
            </p:nvSpPr>
            <p:spPr>
              <a:xfrm>
                <a:off x="547254" y="1122218"/>
                <a:ext cx="11623964" cy="4827604"/>
              </a:xfrm>
              <a:prstGeom prst="rect">
                <a:avLst/>
              </a:prstGeom>
              <a:blipFill>
                <a:blip r:embed="rId2"/>
                <a:stretch>
                  <a:fillRect l="-437" t="-8136" b="-1837"/>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B73A56AA-726D-3446-9D3F-39C4629D694E}"/>
              </a:ext>
            </a:extLst>
          </p:cNvPr>
          <p:cNvSpPr txBox="1"/>
          <p:nvPr/>
        </p:nvSpPr>
        <p:spPr>
          <a:xfrm>
            <a:off x="318655" y="249382"/>
            <a:ext cx="6040581" cy="369332"/>
          </a:xfrm>
          <a:prstGeom prst="rect">
            <a:avLst/>
          </a:prstGeom>
          <a:noFill/>
        </p:spPr>
        <p:txBody>
          <a:bodyPr wrap="square" rtlCol="0">
            <a:spAutoFit/>
          </a:bodyPr>
          <a:lstStyle/>
          <a:p>
            <a:r>
              <a:rPr lang="en-CN" dirty="0"/>
              <a:t>思路一</a:t>
            </a:r>
            <a:r>
              <a:rPr lang="zh-CN" altLang="en-US" dirty="0"/>
              <a:t>：</a:t>
            </a:r>
            <a:endParaRPr lang="en-CN" dirty="0"/>
          </a:p>
        </p:txBody>
      </p:sp>
    </p:spTree>
    <p:extLst>
      <p:ext uri="{BB962C8B-B14F-4D97-AF65-F5344CB8AC3E}">
        <p14:creationId xmlns:p14="http://schemas.microsoft.com/office/powerpoint/2010/main" val="3619040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55D94E-C119-C040-BD03-F4678FDBB573}"/>
                  </a:ext>
                </a:extLst>
              </p:cNvPr>
              <p:cNvSpPr txBox="1"/>
              <p:nvPr/>
            </p:nvSpPr>
            <p:spPr>
              <a:xfrm>
                <a:off x="547254" y="1122218"/>
                <a:ext cx="11623964" cy="5130059"/>
              </a:xfrm>
              <a:prstGeom prst="rect">
                <a:avLst/>
              </a:prstGeom>
              <a:noFill/>
            </p:spPr>
            <p:txBody>
              <a:bodyPr wrap="square" rtlCol="0">
                <a:spAutoFit/>
              </a:bodyPr>
              <a:lstStyle/>
              <a:p>
                <a:pPr marL="285750" indent="-285750">
                  <a:buFont typeface="Arial" panose="020B0604020202020204" pitchFamily="34" charset="0"/>
                  <a:buChar char="•"/>
                </a:pPr>
                <a:r>
                  <a:rPr lang="en-CN" dirty="0"/>
                  <a:t>Chemical potential</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 </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𝑖</m:t>
                              </m:r>
                            </m:sub>
                            <m:sup/>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e>
                          </m:nary>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𝑍</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r>
                            <a:rPr lang="en-US" b="0" i="1" smtClean="0">
                              <a:latin typeface="Cambria Math" panose="02040503050406030204" pitchFamily="18" charset="0"/>
                              <a:ea typeface="Cambria Math" panose="02040503050406030204" pitchFamily="18" charset="0"/>
                            </a:rPr>
                            <m:t>𝑉</m:t>
                          </m:r>
                        </m:e>
                      </m:nary>
                    </m:oMath>
                  </m:oMathPara>
                </a14:m>
                <a:endParaRPr lang="en-CN" dirty="0"/>
              </a:p>
              <a:p>
                <a:pPr algn="ctr"/>
                <a14:m>
                  <m:oMath xmlns:m="http://schemas.openxmlformats.org/officeDocument/2006/math">
                    <m:r>
                      <a:rPr lang="en-CN" i="1" smtClean="0">
                        <a:latin typeface="Cambria Math" panose="02040503050406030204" pitchFamily="18" charset="0"/>
                        <a:ea typeface="Cambria Math" panose="02040503050406030204" pitchFamily="18" charset="0"/>
                      </a:rPr>
                      <m:t>𝜆</m:t>
                    </m:r>
                    <m:r>
                      <a:rPr lang="en-CN" i="1" smtClean="0">
                        <a:latin typeface="Cambria Math" panose="02040503050406030204" pitchFamily="18" charset="0"/>
                        <a:ea typeface="Cambria Math" panose="02040503050406030204" pitchFamily="18" charset="0"/>
                      </a:rPr>
                      <m:t>≡</m:t>
                    </m:r>
                    <m:sSup>
                      <m:sSupPr>
                        <m:ctrlPr>
                          <a:rPr lang="en-CN"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f>
                          <m:fPr>
                            <m:ctrlPr>
                              <a:rPr lang="en-US" b="0" i="1" smtClean="0">
                                <a:latin typeface="Cambria Math" panose="02040503050406030204" pitchFamily="18" charset="0"/>
                                <a:ea typeface="Cambria Math" panose="02040503050406030204" pitchFamily="18" charset="0"/>
                              </a:rPr>
                            </m:ctrlPr>
                          </m:fPr>
                          <m:num>
                            <m:r>
                              <a:rPr lang="en-CN" i="1" smtClean="0">
                                <a:latin typeface="Cambria Math" panose="02040503050406030204" pitchFamily="18" charset="0"/>
                                <a:ea typeface="Cambria Math" panose="02040503050406030204" pitchFamily="18" charset="0"/>
                              </a:rPr>
                              <m:t>𝜇</m:t>
                            </m:r>
                          </m:num>
                          <m:den>
                            <m:r>
                              <a:rPr lang="en-US" b="0" i="1" smtClean="0">
                                <a:latin typeface="Cambria Math" panose="02040503050406030204" pitchFamily="18" charset="0"/>
                                <a:ea typeface="Cambria Math" panose="02040503050406030204" pitchFamily="18" charset="0"/>
                              </a:rPr>
                              <m:t>𝜏</m:t>
                            </m:r>
                          </m:den>
                        </m:f>
                      </m:sup>
                    </m:s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𝑛</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den>
                    </m:f>
                  </m:oMath>
                </a14:m>
                <a:r>
                  <a:rPr lang="en-CN" dirty="0"/>
                  <a:t>                                                  </a:t>
                </a:r>
                <a14:m>
                  <m:oMath xmlns:m="http://schemas.openxmlformats.org/officeDocument/2006/math">
                    <m:r>
                      <a:rPr lang="en-CN" i="1" dirty="0" smtClean="0">
                        <a:latin typeface="Cambria Math" panose="02040503050406030204" pitchFamily="18" charset="0"/>
                        <a:ea typeface="Cambria Math" panose="02040503050406030204" pitchFamily="18" charset="0"/>
                      </a:rPr>
                      <m:t>𝜇</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𝜏</m:t>
                    </m:r>
                    <m:func>
                      <m:funcPr>
                        <m:ctrlPr>
                          <a:rPr lang="en-US" b="0" i="1" dirty="0" smtClean="0">
                            <a:latin typeface="Cambria Math" panose="02040503050406030204" pitchFamily="18" charset="0"/>
                            <a:ea typeface="Cambria Math" panose="02040503050406030204" pitchFamily="18" charset="0"/>
                          </a:rPr>
                        </m:ctrlPr>
                      </m:funcPr>
                      <m:fName>
                        <m:r>
                          <m:rPr>
                            <m:sty m:val="p"/>
                          </m:rPr>
                          <a:rPr lang="en-US" b="0" i="0" dirty="0" smtClean="0">
                            <a:latin typeface="Cambria Math" panose="02040503050406030204" pitchFamily="18" charset="0"/>
                            <a:ea typeface="Cambria Math" panose="02040503050406030204" pitchFamily="18" charset="0"/>
                          </a:rPr>
                          <m:t>log</m:t>
                        </m:r>
                      </m:fName>
                      <m:e>
                        <m:f>
                          <m:fPr>
                            <m:ctrlPr>
                              <a:rPr lang="en-US" b="0" i="1" dirty="0" smtClean="0">
                                <a:latin typeface="Cambria Math" panose="02040503050406030204" pitchFamily="18" charset="0"/>
                                <a:ea typeface="Cambria Math" panose="02040503050406030204" pitchFamily="18" charset="0"/>
                              </a:rPr>
                            </m:ctrlPr>
                          </m:fPr>
                          <m:num>
                            <m:r>
                              <a:rPr lang="en-US" b="0" i="1" dirty="0" smtClean="0">
                                <a:latin typeface="Cambria Math" panose="02040503050406030204" pitchFamily="18" charset="0"/>
                                <a:ea typeface="Cambria Math" panose="02040503050406030204" pitchFamily="18" charset="0"/>
                              </a:rPr>
                              <m:t>𝑛</m:t>
                            </m:r>
                          </m:num>
                          <m:den>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𝑛</m:t>
                                </m:r>
                              </m:e>
                              <m:sub>
                                <m:r>
                                  <a:rPr lang="en-US" b="0" i="1" dirty="0" smtClean="0">
                                    <a:latin typeface="Cambria Math" panose="02040503050406030204" pitchFamily="18" charset="0"/>
                                    <a:ea typeface="Cambria Math" panose="02040503050406030204" pitchFamily="18" charset="0"/>
                                  </a:rPr>
                                  <m:t>𝑄</m:t>
                                </m:r>
                              </m:sub>
                            </m:sSub>
                          </m:den>
                        </m:f>
                      </m:e>
                    </m:func>
                  </m:oMath>
                </a14:m>
                <a:endParaRPr lang="en-CN" dirty="0"/>
              </a:p>
              <a:p>
                <a:pPr marL="285750" indent="-285750">
                  <a:buFont typeface="Arial" panose="020B0604020202020204" pitchFamily="34" charset="0"/>
                  <a:buChar char="•"/>
                </a:pPr>
                <a:r>
                  <a:rPr lang="en-CN" dirty="0"/>
                  <a:t>Free Energy</a:t>
                </a:r>
              </a:p>
              <a:p>
                <a:pPr algn="ct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𝑁</m:t>
                          </m:r>
                        </m:sup>
                        <m:e>
                          <m:r>
                            <a:rPr lang="en-US" b="0" i="1" smtClean="0">
                              <a:latin typeface="Cambria Math" panose="02040503050406030204" pitchFamily="18" charset="0"/>
                              <a:ea typeface="Cambria Math" panose="02040503050406030204" pitchFamily="18" charset="0"/>
                            </a:rPr>
                            <m:t>𝜇</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e>
                          </m:d>
                          <m:r>
                            <a:rPr lang="en-US" b="0" i="1" smtClean="0">
                              <a:latin typeface="Cambria Math" panose="02040503050406030204" pitchFamily="18" charset="0"/>
                              <a:ea typeface="Cambria Math" panose="02040503050406030204" pitchFamily="18" charset="0"/>
                            </a:rPr>
                            <m:t>𝑑𝑁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d>
                            <m:dPr>
                              <m:ctrlPr>
                                <a:rPr lang="en-US" b="0" i="1" smtClean="0">
                                  <a:latin typeface="Cambria Math" panose="02040503050406030204" pitchFamily="18" charset="0"/>
                                  <a:ea typeface="Cambria Math" panose="02040503050406030204" pitchFamily="18" charset="0"/>
                                </a:rPr>
                              </m:ctrlPr>
                            </m:dPr>
                            <m:e>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𝑛</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den>
                                  </m:f>
                                  <m:r>
                                    <a:rPr lang="en-US" b="0" i="1" smtClean="0">
                                      <a:latin typeface="Cambria Math" panose="02040503050406030204" pitchFamily="18" charset="0"/>
                                      <a:ea typeface="Cambria Math" panose="02040503050406030204" pitchFamily="18" charset="0"/>
                                    </a:rPr>
                                    <m:t>−1</m:t>
                                  </m:r>
                                </m:e>
                              </m:func>
                            </m:e>
                          </m:d>
                        </m:e>
                      </m:nary>
                    </m:oMath>
                  </m:oMathPara>
                </a14:m>
                <a:endParaRPr lang="en-CN" dirty="0"/>
              </a:p>
              <a:p>
                <a:pPr marL="285750" indent="-285750">
                  <a:buFont typeface="Arial" panose="020B0604020202020204" pitchFamily="34" charset="0"/>
                  <a:buChar char="•"/>
                </a:pPr>
                <a:r>
                  <a:rPr lang="en-CN" dirty="0"/>
                  <a:t>Pressure</a:t>
                </a:r>
              </a:p>
              <a:p>
                <a:pPr algn="ct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𝑝</m:t>
                      </m:r>
                      <m:r>
                        <a:rPr lang="en-US" b="0" i="1" smtClean="0">
                          <a:solidFill>
                            <a:srgbClr val="7030A0"/>
                          </a:solidFill>
                          <a:latin typeface="Cambria Math" panose="02040503050406030204" pitchFamily="18" charset="0"/>
                        </a:rPr>
                        <m:t>=−</m:t>
                      </m:r>
                      <m:f>
                        <m:fPr>
                          <m:ctrlPr>
                            <a:rPr lang="en-US" b="0" i="1" smtClean="0">
                              <a:solidFill>
                                <a:srgbClr val="7030A0"/>
                              </a:solidFill>
                              <a:latin typeface="Cambria Math" panose="02040503050406030204" pitchFamily="18" charset="0"/>
                            </a:rPr>
                          </m:ctrlPr>
                        </m:fPr>
                        <m:num>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𝐹</m:t>
                          </m:r>
                        </m:num>
                        <m:den>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𝑉</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rPr>
                            <m:t>𝑉</m:t>
                          </m:r>
                        </m:den>
                      </m:f>
                    </m:oMath>
                  </m:oMathPara>
                </a14:m>
                <a:endParaRPr lang="en-CN" dirty="0"/>
              </a:p>
              <a:p>
                <a:pPr marL="285750" indent="-285750">
                  <a:buFont typeface="Arial" panose="020B0604020202020204" pitchFamily="34" charset="0"/>
                  <a:buChar char="•"/>
                </a:pPr>
                <a:r>
                  <a:rPr lang="en-CN" dirty="0"/>
                  <a:t>Entropy</a:t>
                </a:r>
              </a:p>
              <a:p>
                <a:pPr algn="ct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ea typeface="Cambria Math" panose="02040503050406030204" pitchFamily="18" charset="0"/>
                        </a:rPr>
                        <m:t>𝜎</m:t>
                      </m:r>
                      <m:r>
                        <a:rPr lang="en-US" b="0" i="1" smtClean="0">
                          <a:solidFill>
                            <a:srgbClr val="7030A0"/>
                          </a:solidFill>
                          <a:latin typeface="Cambria Math" panose="02040503050406030204" pitchFamily="18" charset="0"/>
                          <a:ea typeface="Cambria Math" panose="02040503050406030204" pitchFamily="18" charset="0"/>
                        </a:rPr>
                        <m:t>=−</m:t>
                      </m:r>
                      <m:f>
                        <m:fPr>
                          <m:ctrlPr>
                            <a:rPr lang="en-US" b="0" i="1" smtClean="0">
                              <a:solidFill>
                                <a:srgbClr val="7030A0"/>
                              </a:solidFill>
                              <a:latin typeface="Cambria Math" panose="02040503050406030204" pitchFamily="18" charset="0"/>
                              <a:ea typeface="Cambria Math" panose="02040503050406030204" pitchFamily="18" charset="0"/>
                            </a:rPr>
                          </m:ctrlPr>
                        </m:fPr>
                        <m:num>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𝐹</m:t>
                          </m:r>
                        </m:num>
                        <m:den>
                          <m:r>
                            <a:rPr lang="en-US" b="0" i="1" smtClean="0">
                              <a:solidFill>
                                <a:srgbClr val="7030A0"/>
                              </a:solidFill>
                              <a:latin typeface="Cambria Math" panose="02040503050406030204" pitchFamily="18" charset="0"/>
                              <a:ea typeface="Cambria Math" panose="02040503050406030204" pitchFamily="18" charset="0"/>
                            </a:rPr>
                            <m:t>𝜕𝜏</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ctrlPr>
                            <a:rPr lang="en-US" b="0" i="1" smtClean="0">
                              <a:latin typeface="Cambria Math" panose="02040503050406030204" pitchFamily="18" charset="0"/>
                              <a:ea typeface="Cambria Math" panose="02040503050406030204" pitchFamily="18" charset="0"/>
                            </a:rPr>
                          </m:ctrlPr>
                        </m:dPr>
                        <m:e>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𝑄</m:t>
                                      </m:r>
                                    </m:sub>
                                  </m:sSub>
                                </m:num>
                                <m:den>
                                  <m:r>
                                    <a:rPr lang="en-US" b="0" i="1" smtClean="0">
                                      <a:latin typeface="Cambria Math" panose="02040503050406030204" pitchFamily="18" charset="0"/>
                                      <a:ea typeface="Cambria Math" panose="02040503050406030204" pitchFamily="18" charset="0"/>
                                    </a:rPr>
                                    <m:t>𝑛</m:t>
                                  </m:r>
                                </m:den>
                              </m:f>
                            </m:e>
                          </m:func>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5</m:t>
                              </m:r>
                            </m:num>
                            <m:den>
                              <m:r>
                                <a:rPr lang="en-US" b="0" i="1" smtClean="0">
                                  <a:latin typeface="Cambria Math" panose="02040503050406030204" pitchFamily="18" charset="0"/>
                                  <a:ea typeface="Cambria Math" panose="02040503050406030204" pitchFamily="18" charset="0"/>
                                </a:rPr>
                                <m:t>2</m:t>
                              </m:r>
                            </m:den>
                          </m:f>
                        </m:e>
                      </m:d>
                    </m:oMath>
                  </m:oMathPara>
                </a14:m>
                <a:endParaRPr lang="en-CN" dirty="0"/>
              </a:p>
              <a:p>
                <a:pPr marL="285750" indent="-285750">
                  <a:buFont typeface="Arial" panose="020B0604020202020204" pitchFamily="34" charset="0"/>
                  <a:buChar char="•"/>
                </a:pPr>
                <a:r>
                  <a:rPr lang="en-CN" dirty="0"/>
                  <a:t>Energy</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𝜏</m:t>
                      </m:r>
                    </m:oMath>
                  </m:oMathPara>
                </a14:m>
                <a:endParaRPr lang="en-CN" dirty="0"/>
              </a:p>
              <a:p>
                <a:pPr marL="285750" indent="-285750">
                  <a:buFont typeface="Arial" panose="020B0604020202020204" pitchFamily="34" charset="0"/>
                  <a:buChar char="•"/>
                </a:pPr>
                <a:r>
                  <a:rPr lang="en-CN" dirty="0"/>
                  <a:t>Heat capacity</a:t>
                </a:r>
              </a:p>
            </p:txBody>
          </p:sp>
        </mc:Choice>
        <mc:Fallback xmlns="">
          <p:sp>
            <p:nvSpPr>
              <p:cNvPr id="2" name="TextBox 1">
                <a:extLst>
                  <a:ext uri="{FF2B5EF4-FFF2-40B4-BE49-F238E27FC236}">
                    <a16:creationId xmlns:a16="http://schemas.microsoft.com/office/drawing/2014/main" id="{CA55D94E-C119-C040-BD03-F4678FDBB573}"/>
                  </a:ext>
                </a:extLst>
              </p:cNvPr>
              <p:cNvSpPr txBox="1">
                <a:spLocks noRot="1" noChangeAspect="1" noMove="1" noResize="1" noEditPoints="1" noAdjustHandles="1" noChangeArrowheads="1" noChangeShapeType="1" noTextEdit="1"/>
              </p:cNvSpPr>
              <p:nvPr/>
            </p:nvSpPr>
            <p:spPr>
              <a:xfrm>
                <a:off x="547254" y="1122218"/>
                <a:ext cx="11623964" cy="5130059"/>
              </a:xfrm>
              <a:prstGeom prst="rect">
                <a:avLst/>
              </a:prstGeom>
              <a:blipFill>
                <a:blip r:embed="rId2"/>
                <a:stretch>
                  <a:fillRect l="-437" t="-13086" b="-988"/>
                </a:stretch>
              </a:blipFill>
            </p:spPr>
            <p:txBody>
              <a:bodyPr/>
              <a:lstStyle/>
              <a:p>
                <a:r>
                  <a:rPr lang="en-CN">
                    <a:noFill/>
                  </a:rPr>
                  <a:t> </a:t>
                </a:r>
              </a:p>
            </p:txBody>
          </p:sp>
        </mc:Fallback>
      </mc:AlternateContent>
      <p:sp>
        <p:nvSpPr>
          <p:cNvPr id="3" name="Right Arrow 2">
            <a:extLst>
              <a:ext uri="{FF2B5EF4-FFF2-40B4-BE49-F238E27FC236}">
                <a16:creationId xmlns:a16="http://schemas.microsoft.com/office/drawing/2014/main" id="{AB50A36C-5B66-B849-8FD0-ADBCC5F0C70A}"/>
              </a:ext>
            </a:extLst>
          </p:cNvPr>
          <p:cNvSpPr/>
          <p:nvPr/>
        </p:nvSpPr>
        <p:spPr>
          <a:xfrm>
            <a:off x="5708072" y="2272147"/>
            <a:ext cx="1302328" cy="180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TextBox 3">
            <a:extLst>
              <a:ext uri="{FF2B5EF4-FFF2-40B4-BE49-F238E27FC236}">
                <a16:creationId xmlns:a16="http://schemas.microsoft.com/office/drawing/2014/main" id="{B73A56AA-726D-3446-9D3F-39C4629D694E}"/>
              </a:ext>
            </a:extLst>
          </p:cNvPr>
          <p:cNvSpPr txBox="1"/>
          <p:nvPr/>
        </p:nvSpPr>
        <p:spPr>
          <a:xfrm>
            <a:off x="318655" y="249382"/>
            <a:ext cx="6040581" cy="369332"/>
          </a:xfrm>
          <a:prstGeom prst="rect">
            <a:avLst/>
          </a:prstGeom>
          <a:noFill/>
        </p:spPr>
        <p:txBody>
          <a:bodyPr wrap="square" rtlCol="0">
            <a:spAutoFit/>
          </a:bodyPr>
          <a:lstStyle/>
          <a:p>
            <a:r>
              <a:rPr lang="en-CN" dirty="0"/>
              <a:t>思路二</a:t>
            </a:r>
            <a:r>
              <a:rPr lang="zh-CN" altLang="en-US" dirty="0"/>
              <a:t>：</a:t>
            </a:r>
            <a:endParaRPr lang="en-CN" dirty="0"/>
          </a:p>
        </p:txBody>
      </p:sp>
    </p:spTree>
    <p:extLst>
      <p:ext uri="{BB962C8B-B14F-4D97-AF65-F5344CB8AC3E}">
        <p14:creationId xmlns:p14="http://schemas.microsoft.com/office/powerpoint/2010/main" val="3376429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7DBF52-FFCB-3F44-912D-F98FA053C3C7}"/>
              </a:ext>
            </a:extLst>
          </p:cNvPr>
          <p:cNvPicPr>
            <a:picLocks noChangeAspect="1"/>
          </p:cNvPicPr>
          <p:nvPr/>
        </p:nvPicPr>
        <p:blipFill>
          <a:blip r:embed="rId2"/>
          <a:stretch>
            <a:fillRect/>
          </a:stretch>
        </p:blipFill>
        <p:spPr>
          <a:xfrm>
            <a:off x="2795984" y="692727"/>
            <a:ext cx="6541980" cy="4397664"/>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543100B-73FE-AFDD-15D0-375B24A34501}"/>
                  </a:ext>
                </a:extLst>
              </p:cNvPr>
              <p:cNvSpPr txBox="1"/>
              <p:nvPr/>
            </p:nvSpPr>
            <p:spPr>
              <a:xfrm>
                <a:off x="7116943" y="2067299"/>
                <a:ext cx="4558146" cy="1013354"/>
              </a:xfrm>
              <a:prstGeom prst="rect">
                <a:avLst/>
              </a:prstGeom>
              <a:noFill/>
            </p:spPr>
            <p:txBody>
              <a:bodyPr wrap="square">
                <a:spAutoFit/>
              </a:bodyPr>
              <a:lstStyle/>
              <a:p>
                <a:pPr algn="ctr"/>
                <a14:m>
                  <m:oMath xmlns:m="http://schemas.openxmlformats.org/officeDocument/2006/math">
                    <m:r>
                      <a:rPr lang="en-US" altLang="zh-CN" sz="4000" i="1" smtClean="0">
                        <a:latin typeface="Cambria Math" panose="02040503050406030204" pitchFamily="18" charset="0"/>
                      </a:rPr>
                      <m:t>𝑓</m:t>
                    </m:r>
                    <m:d>
                      <m:dPr>
                        <m:ctrlPr>
                          <a:rPr lang="en-US" altLang="zh-CN" sz="4000" i="1">
                            <a:latin typeface="Cambria Math" panose="02040503050406030204" pitchFamily="18" charset="0"/>
                          </a:rPr>
                        </m:ctrlPr>
                      </m:dPr>
                      <m:e>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e>
                    </m:d>
                    <m:r>
                      <a:rPr lang="en-US" altLang="zh-CN" sz="4000" i="1">
                        <a:latin typeface="Cambria Math" panose="02040503050406030204" pitchFamily="18" charset="0"/>
                      </a:rPr>
                      <m:t>=</m:t>
                    </m:r>
                  </m:oMath>
                </a14:m>
                <a:r>
                  <a:rPr lang="en-US" altLang="zh-CN" sz="4000" dirty="0"/>
                  <a:t> </a:t>
                </a:r>
                <a14:m>
                  <m:oMath xmlns:m="http://schemas.openxmlformats.org/officeDocument/2006/math">
                    <m:f>
                      <m:fPr>
                        <m:ctrlPr>
                          <a:rPr lang="en-US" altLang="zh-CN" sz="4000" i="1">
                            <a:latin typeface="Cambria Math" panose="02040503050406030204" pitchFamily="18" charset="0"/>
                          </a:rPr>
                        </m:ctrlPr>
                      </m:fPr>
                      <m:num>
                        <m:r>
                          <a:rPr lang="en-US" altLang="zh-CN" sz="4000" i="1">
                            <a:latin typeface="Cambria Math" panose="02040503050406030204" pitchFamily="18" charset="0"/>
                          </a:rPr>
                          <m:t>1</m:t>
                        </m:r>
                      </m:num>
                      <m:den>
                        <m:sSup>
                          <m:sSupPr>
                            <m:ctrlPr>
                              <a:rPr lang="en-US" altLang="zh-CN" sz="4000" i="1">
                                <a:latin typeface="Cambria Math" panose="02040503050406030204" pitchFamily="18" charset="0"/>
                              </a:rPr>
                            </m:ctrlPr>
                          </m:sSupPr>
                          <m:e>
                            <m:r>
                              <a:rPr lang="en-US" altLang="zh-CN" sz="4000" i="1">
                                <a:latin typeface="Cambria Math" panose="02040503050406030204" pitchFamily="18" charset="0"/>
                              </a:rPr>
                              <m:t>𝑒</m:t>
                            </m:r>
                          </m:e>
                          <m:sup>
                            <m:r>
                              <a:rPr lang="en-US" altLang="zh-CN" sz="4000" i="1">
                                <a:latin typeface="Cambria Math" panose="02040503050406030204" pitchFamily="18" charset="0"/>
                              </a:rPr>
                              <m:t>(</m:t>
                            </m:r>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𝜇</m:t>
                            </m:r>
                            <m:r>
                              <a:rPr lang="en-US" altLang="zh-CN" sz="4000" i="1">
                                <a:latin typeface="Cambria Math" panose="02040503050406030204" pitchFamily="18" charset="0"/>
                              </a:rPr>
                              <m:t>)/</m:t>
                            </m:r>
                            <m:r>
                              <a:rPr lang="en-US" altLang="zh-CN" sz="4000" i="1">
                                <a:latin typeface="Cambria Math" panose="02040503050406030204" pitchFamily="18" charset="0"/>
                                <a:ea typeface="Cambria Math" panose="02040503050406030204" pitchFamily="18" charset="0"/>
                              </a:rPr>
                              <m:t>𝜏</m:t>
                            </m:r>
                          </m:sup>
                        </m:sSup>
                        <m:r>
                          <a:rPr lang="en-US" altLang="zh-CN" sz="4000" i="1">
                            <a:latin typeface="Cambria Math" panose="02040503050406030204" pitchFamily="18" charset="0"/>
                            <a:ea typeface="Cambria Math" panose="02040503050406030204" pitchFamily="18" charset="0"/>
                          </a:rPr>
                          <m:t>±</m:t>
                        </m:r>
                        <m:r>
                          <a:rPr lang="en-US" altLang="zh-CN" sz="4000" i="1">
                            <a:latin typeface="Cambria Math" panose="02040503050406030204" pitchFamily="18" charset="0"/>
                          </a:rPr>
                          <m:t>1</m:t>
                        </m:r>
                      </m:den>
                    </m:f>
                  </m:oMath>
                </a14:m>
                <a:endParaRPr lang="en-CN" sz="4000" dirty="0"/>
              </a:p>
            </p:txBody>
          </p:sp>
        </mc:Choice>
        <mc:Fallback xmlns="">
          <p:sp>
            <p:nvSpPr>
              <p:cNvPr id="2" name="TextBox 1">
                <a:extLst>
                  <a:ext uri="{FF2B5EF4-FFF2-40B4-BE49-F238E27FC236}">
                    <a16:creationId xmlns:a16="http://schemas.microsoft.com/office/drawing/2014/main" id="{F543100B-73FE-AFDD-15D0-375B24A34501}"/>
                  </a:ext>
                </a:extLst>
              </p:cNvPr>
              <p:cNvSpPr txBox="1">
                <a:spLocks noRot="1" noChangeAspect="1" noMove="1" noResize="1" noEditPoints="1" noAdjustHandles="1" noChangeArrowheads="1" noChangeShapeType="1" noTextEdit="1"/>
              </p:cNvSpPr>
              <p:nvPr/>
            </p:nvSpPr>
            <p:spPr>
              <a:xfrm>
                <a:off x="7116943" y="2067299"/>
                <a:ext cx="4558146" cy="1013354"/>
              </a:xfrm>
              <a:prstGeom prst="rect">
                <a:avLst/>
              </a:prstGeom>
              <a:blipFill>
                <a:blip r:embed="rId3"/>
                <a:stretch>
                  <a:fillRect b="-987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F11D87A-B7DD-F14C-E5A3-BA40EE04B716}"/>
                  </a:ext>
                </a:extLst>
              </p:cNvPr>
              <p:cNvSpPr txBox="1"/>
              <p:nvPr/>
            </p:nvSpPr>
            <p:spPr>
              <a:xfrm>
                <a:off x="7058891" y="1014529"/>
                <a:ext cx="4558146" cy="73096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4000" i="1" smtClean="0">
                          <a:latin typeface="Cambria Math" panose="02040503050406030204" pitchFamily="18" charset="0"/>
                        </a:rPr>
                        <m:t>𝑓</m:t>
                      </m:r>
                      <m:d>
                        <m:dPr>
                          <m:ctrlPr>
                            <a:rPr lang="en-US" altLang="zh-CN" sz="4000" i="1">
                              <a:latin typeface="Cambria Math" panose="02040503050406030204" pitchFamily="18" charset="0"/>
                            </a:rPr>
                          </m:ctrlPr>
                        </m:dPr>
                        <m:e>
                          <m:sSub>
                            <m:sSubPr>
                              <m:ctrlPr>
                                <a:rPr lang="en-US" altLang="zh-CN" sz="4000" i="1" smtClean="0">
                                  <a:latin typeface="Cambria Math" panose="02040503050406030204" pitchFamily="18" charset="0"/>
                                </a:rPr>
                              </m:ctrlPr>
                            </m:sSubPr>
                            <m:e>
                              <m:r>
                                <a:rPr lang="en-US" altLang="zh-CN" sz="400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rPr>
                                <m:t>𝑖</m:t>
                              </m:r>
                            </m:sub>
                          </m:sSub>
                        </m:e>
                      </m:d>
                      <m:r>
                        <a:rPr lang="en-US" altLang="zh-CN" sz="4000" i="1">
                          <a:latin typeface="Cambria Math" panose="02040503050406030204" pitchFamily="18" charset="0"/>
                        </a:rPr>
                        <m:t>=</m:t>
                      </m:r>
                      <m:r>
                        <a:rPr lang="en-US" altLang="zh-CN" sz="4000" i="1" smtClean="0">
                          <a:latin typeface="Cambria Math" panose="02040503050406030204" pitchFamily="18" charset="0"/>
                          <a:ea typeface="Cambria Math" panose="02040503050406030204" pitchFamily="18" charset="0"/>
                        </a:rPr>
                        <m:t>𝜆</m:t>
                      </m:r>
                      <m:sSup>
                        <m:sSupPr>
                          <m:ctrlPr>
                            <a:rPr lang="en-US" altLang="zh-CN" sz="400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𝑒</m:t>
                          </m:r>
                        </m:e>
                        <m:sup>
                          <m:r>
                            <a:rPr lang="en-US" altLang="zh-CN" sz="4000" b="0" i="1" smtClean="0">
                              <a:latin typeface="Cambria Math" panose="02040503050406030204" pitchFamily="18" charset="0"/>
                              <a:ea typeface="Cambria Math" panose="02040503050406030204" pitchFamily="18" charset="0"/>
                            </a:rPr>
                            <m:t>−</m:t>
                          </m:r>
                          <m:sSub>
                            <m:sSubPr>
                              <m:ctrlPr>
                                <a:rPr lang="en-US" altLang="zh-CN" sz="4000" b="0" i="1" smtClean="0">
                                  <a:latin typeface="Cambria Math" panose="02040503050406030204" pitchFamily="18" charset="0"/>
                                  <a:ea typeface="Cambria Math" panose="02040503050406030204" pitchFamily="18" charset="0"/>
                                </a:rPr>
                              </m:ctrlPr>
                            </m:sSubPr>
                            <m:e>
                              <m:r>
                                <a:rPr lang="en-US" altLang="zh-CN" sz="4000" b="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ea typeface="Cambria Math" panose="02040503050406030204" pitchFamily="18" charset="0"/>
                                </a:rPr>
                                <m:t>𝑖</m:t>
                              </m:r>
                            </m:sub>
                          </m:sSub>
                          <m:r>
                            <a:rPr lang="en-US" altLang="zh-CN" sz="4000" b="0" i="1" smtClean="0">
                              <a:latin typeface="Cambria Math" panose="02040503050406030204" pitchFamily="18" charset="0"/>
                              <a:ea typeface="Cambria Math" panose="02040503050406030204" pitchFamily="18" charset="0"/>
                            </a:rPr>
                            <m:t>/</m:t>
                          </m:r>
                          <m:r>
                            <a:rPr lang="en-US" altLang="zh-CN" sz="4000" b="0" i="1" smtClean="0">
                              <a:latin typeface="Cambria Math" panose="02040503050406030204" pitchFamily="18" charset="0"/>
                              <a:ea typeface="Cambria Math" panose="02040503050406030204" pitchFamily="18" charset="0"/>
                            </a:rPr>
                            <m:t>𝜏</m:t>
                          </m:r>
                        </m:sup>
                      </m:sSup>
                    </m:oMath>
                  </m:oMathPara>
                </a14:m>
                <a:endParaRPr lang="en-CN" sz="4000" dirty="0"/>
              </a:p>
            </p:txBody>
          </p:sp>
        </mc:Choice>
        <mc:Fallback xmlns="">
          <p:sp>
            <p:nvSpPr>
              <p:cNvPr id="4" name="TextBox 3">
                <a:extLst>
                  <a:ext uri="{FF2B5EF4-FFF2-40B4-BE49-F238E27FC236}">
                    <a16:creationId xmlns:a16="http://schemas.microsoft.com/office/drawing/2014/main" id="{1F11D87A-B7DD-F14C-E5A3-BA40EE04B716}"/>
                  </a:ext>
                </a:extLst>
              </p:cNvPr>
              <p:cNvSpPr txBox="1">
                <a:spLocks noRot="1" noChangeAspect="1" noMove="1" noResize="1" noEditPoints="1" noAdjustHandles="1" noChangeArrowheads="1" noChangeShapeType="1" noTextEdit="1"/>
              </p:cNvSpPr>
              <p:nvPr/>
            </p:nvSpPr>
            <p:spPr>
              <a:xfrm>
                <a:off x="7058891" y="1014529"/>
                <a:ext cx="4558146" cy="730969"/>
              </a:xfrm>
              <a:prstGeom prst="rect">
                <a:avLst/>
              </a:prstGeom>
              <a:blipFill>
                <a:blip r:embed="rId4"/>
                <a:stretch>
                  <a:fillRect b="-2372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40DDB01-5B6C-874E-C345-1DDE14868F96}"/>
                  </a:ext>
                </a:extLst>
              </p:cNvPr>
              <p:cNvSpPr txBox="1"/>
              <p:nvPr/>
            </p:nvSpPr>
            <p:spPr>
              <a:xfrm>
                <a:off x="7671125" y="5129743"/>
                <a:ext cx="2581239" cy="564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rPr>
                                <m:t>𝑖</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𝜇</m:t>
                          </m:r>
                        </m:num>
                        <m:den>
                          <m:r>
                            <a:rPr lang="en-CN" i="1" smtClean="0">
                              <a:latin typeface="Cambria Math" panose="02040503050406030204" pitchFamily="18" charset="0"/>
                              <a:ea typeface="Cambria Math" panose="02040503050406030204" pitchFamily="18" charset="0"/>
                            </a:rPr>
                            <m:t>𝜏</m:t>
                          </m:r>
                        </m:den>
                      </m:f>
                    </m:oMath>
                  </m:oMathPara>
                </a14:m>
                <a:endParaRPr lang="en-CN" dirty="0"/>
              </a:p>
            </p:txBody>
          </p:sp>
        </mc:Choice>
        <mc:Fallback xmlns="">
          <p:sp>
            <p:nvSpPr>
              <p:cNvPr id="5" name="TextBox 4">
                <a:extLst>
                  <a:ext uri="{FF2B5EF4-FFF2-40B4-BE49-F238E27FC236}">
                    <a16:creationId xmlns:a16="http://schemas.microsoft.com/office/drawing/2014/main" id="{640DDB01-5B6C-874E-C345-1DDE14868F96}"/>
                  </a:ext>
                </a:extLst>
              </p:cNvPr>
              <p:cNvSpPr txBox="1">
                <a:spLocks noRot="1" noChangeAspect="1" noMove="1" noResize="1" noEditPoints="1" noAdjustHandles="1" noChangeArrowheads="1" noChangeShapeType="1" noTextEdit="1"/>
              </p:cNvSpPr>
              <p:nvPr/>
            </p:nvSpPr>
            <p:spPr>
              <a:xfrm>
                <a:off x="7671125" y="5129743"/>
                <a:ext cx="2581239" cy="564898"/>
              </a:xfrm>
              <a:prstGeom prst="rect">
                <a:avLst/>
              </a:prstGeom>
              <a:blipFill>
                <a:blip r:embed="rId5"/>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3522209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293F9E-6E7C-5242-8977-3A1ABCD809EA}"/>
              </a:ext>
            </a:extLst>
          </p:cNvPr>
          <p:cNvPicPr>
            <a:picLocks noChangeAspect="1"/>
          </p:cNvPicPr>
          <p:nvPr/>
        </p:nvPicPr>
        <p:blipFill>
          <a:blip r:embed="rId2"/>
          <a:stretch>
            <a:fillRect/>
          </a:stretch>
        </p:blipFill>
        <p:spPr>
          <a:xfrm>
            <a:off x="0" y="0"/>
            <a:ext cx="4948219" cy="2754862"/>
          </a:xfrm>
          <a:prstGeom prst="rect">
            <a:avLst/>
          </a:prstGeom>
        </p:spPr>
      </p:pic>
      <p:pic>
        <p:nvPicPr>
          <p:cNvPr id="6" name="Picture 5">
            <a:extLst>
              <a:ext uri="{FF2B5EF4-FFF2-40B4-BE49-F238E27FC236}">
                <a16:creationId xmlns:a16="http://schemas.microsoft.com/office/drawing/2014/main" id="{7ABC593A-50D6-E247-BF1D-30EBEBFACAB9}"/>
              </a:ext>
            </a:extLst>
          </p:cNvPr>
          <p:cNvPicPr>
            <a:picLocks noChangeAspect="1"/>
          </p:cNvPicPr>
          <p:nvPr/>
        </p:nvPicPr>
        <p:blipFill>
          <a:blip r:embed="rId3"/>
          <a:stretch>
            <a:fillRect/>
          </a:stretch>
        </p:blipFill>
        <p:spPr>
          <a:xfrm rot="5400000">
            <a:off x="3969329" y="857250"/>
            <a:ext cx="6858000" cy="5143500"/>
          </a:xfrm>
          <a:prstGeom prst="rect">
            <a:avLst/>
          </a:prstGeom>
        </p:spPr>
      </p:pic>
    </p:spTree>
    <p:extLst>
      <p:ext uri="{BB962C8B-B14F-4D97-AF65-F5344CB8AC3E}">
        <p14:creationId xmlns:p14="http://schemas.microsoft.com/office/powerpoint/2010/main" val="31893388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786560-A110-C1E7-AA94-E6C898F69979}"/>
              </a:ext>
            </a:extLst>
          </p:cNvPr>
          <p:cNvSpPr txBox="1"/>
          <p:nvPr/>
        </p:nvSpPr>
        <p:spPr>
          <a:xfrm>
            <a:off x="2161309" y="2598003"/>
            <a:ext cx="6954981" cy="830997"/>
          </a:xfrm>
          <a:prstGeom prst="rect">
            <a:avLst/>
          </a:prstGeom>
          <a:noFill/>
        </p:spPr>
        <p:txBody>
          <a:bodyPr wrap="square" rtlCol="0">
            <a:spAutoFit/>
          </a:bodyPr>
          <a:lstStyle/>
          <a:p>
            <a:pPr algn="ctr"/>
            <a:r>
              <a:rPr lang="en-CN" sz="4800" dirty="0">
                <a:latin typeface="FangSong" panose="02010609060101010101" pitchFamily="49" charset="-122"/>
                <a:ea typeface="FangSong" panose="02010609060101010101" pitchFamily="49" charset="-122"/>
              </a:rPr>
              <a:t>从固体热熔讲起</a:t>
            </a:r>
          </a:p>
        </p:txBody>
      </p:sp>
    </p:spTree>
    <p:extLst>
      <p:ext uri="{BB962C8B-B14F-4D97-AF65-F5344CB8AC3E}">
        <p14:creationId xmlns:p14="http://schemas.microsoft.com/office/powerpoint/2010/main" val="3296733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CB23F7-41C4-E8D4-E472-3489122AF78C}"/>
              </a:ext>
            </a:extLst>
          </p:cNvPr>
          <p:cNvPicPr>
            <a:picLocks noChangeAspect="1"/>
          </p:cNvPicPr>
          <p:nvPr/>
        </p:nvPicPr>
        <p:blipFill>
          <a:blip r:embed="rId2"/>
          <a:stretch>
            <a:fillRect/>
          </a:stretch>
        </p:blipFill>
        <p:spPr>
          <a:xfrm>
            <a:off x="1267152" y="180108"/>
            <a:ext cx="10107430" cy="4660312"/>
          </a:xfrm>
          <a:prstGeom prst="rect">
            <a:avLst/>
          </a:prstGeom>
        </p:spPr>
      </p:pic>
      <p:pic>
        <p:nvPicPr>
          <p:cNvPr id="6" name="Picture 5">
            <a:extLst>
              <a:ext uri="{FF2B5EF4-FFF2-40B4-BE49-F238E27FC236}">
                <a16:creationId xmlns:a16="http://schemas.microsoft.com/office/drawing/2014/main" id="{51297B68-152D-62A9-F07A-8C1924D544C1}"/>
              </a:ext>
            </a:extLst>
          </p:cNvPr>
          <p:cNvPicPr>
            <a:picLocks noChangeAspect="1"/>
          </p:cNvPicPr>
          <p:nvPr/>
        </p:nvPicPr>
        <p:blipFill>
          <a:blip r:embed="rId3"/>
          <a:stretch>
            <a:fillRect/>
          </a:stretch>
        </p:blipFill>
        <p:spPr>
          <a:xfrm>
            <a:off x="2445504" y="4923549"/>
            <a:ext cx="7935454" cy="1837472"/>
          </a:xfrm>
          <a:prstGeom prst="rect">
            <a:avLst/>
          </a:prstGeom>
        </p:spPr>
      </p:pic>
    </p:spTree>
    <p:extLst>
      <p:ext uri="{BB962C8B-B14F-4D97-AF65-F5344CB8AC3E}">
        <p14:creationId xmlns:p14="http://schemas.microsoft.com/office/powerpoint/2010/main" val="1452426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75A1A9-E242-9DE7-CA1B-30B8A612D89C}"/>
              </a:ext>
            </a:extLst>
          </p:cNvPr>
          <p:cNvPicPr>
            <a:picLocks noChangeAspect="1"/>
          </p:cNvPicPr>
          <p:nvPr/>
        </p:nvPicPr>
        <p:blipFill>
          <a:blip r:embed="rId2"/>
          <a:stretch>
            <a:fillRect/>
          </a:stretch>
        </p:blipFill>
        <p:spPr>
          <a:xfrm>
            <a:off x="908050" y="203200"/>
            <a:ext cx="10375900" cy="6451600"/>
          </a:xfrm>
          <a:prstGeom prst="rect">
            <a:avLst/>
          </a:prstGeom>
        </p:spPr>
      </p:pic>
    </p:spTree>
    <p:extLst>
      <p:ext uri="{BB962C8B-B14F-4D97-AF65-F5344CB8AC3E}">
        <p14:creationId xmlns:p14="http://schemas.microsoft.com/office/powerpoint/2010/main" val="3341371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FFA6664-B317-B7BE-8994-33C5A10572E0}"/>
                  </a:ext>
                </a:extLst>
              </p:cNvPr>
              <p:cNvSpPr txBox="1"/>
              <p:nvPr/>
            </p:nvSpPr>
            <p:spPr>
              <a:xfrm>
                <a:off x="1801091" y="637309"/>
                <a:ext cx="8589818"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𝐶</m:t>
                      </m:r>
                      <m:r>
                        <a:rPr lang="en-US" sz="4000" b="0" i="1" smtClean="0">
                          <a:latin typeface="Cambria Math" panose="02040503050406030204" pitchFamily="18" charset="0"/>
                        </a:rPr>
                        <m:t>=</m:t>
                      </m:r>
                      <m:r>
                        <a:rPr lang="en-US" sz="4000" b="0" i="1" smtClean="0">
                          <a:solidFill>
                            <a:srgbClr val="7030A0"/>
                          </a:solidFill>
                          <a:latin typeface="Cambria Math" panose="02040503050406030204" pitchFamily="18" charset="0"/>
                          <a:ea typeface="Cambria Math" panose="02040503050406030204" pitchFamily="18" charset="0"/>
                        </a:rPr>
                        <m:t>𝛾𝜏</m:t>
                      </m:r>
                      <m:r>
                        <a:rPr lang="en-US" sz="4000" b="0" i="1" smtClean="0">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𝛽</m:t>
                      </m:r>
                      <m:sSup>
                        <m:sSupPr>
                          <m:ctrlPr>
                            <a:rPr lang="en-US" sz="4000" b="0" i="1" smtClean="0">
                              <a:solidFill>
                                <a:srgbClr val="FF0000"/>
                              </a:solidFill>
                              <a:latin typeface="Cambria Math" panose="02040503050406030204" pitchFamily="18" charset="0"/>
                              <a:ea typeface="Cambria Math" panose="02040503050406030204" pitchFamily="18" charset="0"/>
                            </a:rPr>
                          </m:ctrlPr>
                        </m:sSupPr>
                        <m:e>
                          <m:r>
                            <a:rPr lang="en-US" sz="4000" b="0" i="1" smtClean="0">
                              <a:solidFill>
                                <a:srgbClr val="FF0000"/>
                              </a:solidFill>
                              <a:latin typeface="Cambria Math" panose="02040503050406030204" pitchFamily="18" charset="0"/>
                              <a:ea typeface="Cambria Math" panose="02040503050406030204" pitchFamily="18" charset="0"/>
                            </a:rPr>
                            <m:t>𝜏</m:t>
                          </m:r>
                        </m:e>
                        <m:sup>
                          <m:r>
                            <a:rPr lang="en-US" sz="4000" b="0" i="1" smtClean="0">
                              <a:solidFill>
                                <a:srgbClr val="FF0000"/>
                              </a:solidFill>
                              <a:latin typeface="Cambria Math" panose="02040503050406030204" pitchFamily="18" charset="0"/>
                              <a:ea typeface="Cambria Math" panose="02040503050406030204" pitchFamily="18" charset="0"/>
                            </a:rPr>
                            <m:t>3</m:t>
                          </m:r>
                        </m:sup>
                      </m:sSup>
                    </m:oMath>
                  </m:oMathPara>
                </a14:m>
                <a:endParaRPr lang="en-CN" sz="4000" dirty="0"/>
              </a:p>
            </p:txBody>
          </p:sp>
        </mc:Choice>
        <mc:Fallback xmlns="">
          <p:sp>
            <p:nvSpPr>
              <p:cNvPr id="2" name="TextBox 1">
                <a:extLst>
                  <a:ext uri="{FF2B5EF4-FFF2-40B4-BE49-F238E27FC236}">
                    <a16:creationId xmlns:a16="http://schemas.microsoft.com/office/drawing/2014/main" id="{9FFA6664-B317-B7BE-8994-33C5A10572E0}"/>
                  </a:ext>
                </a:extLst>
              </p:cNvPr>
              <p:cNvSpPr txBox="1">
                <a:spLocks noRot="1" noChangeAspect="1" noMove="1" noResize="1" noEditPoints="1" noAdjustHandles="1" noChangeArrowheads="1" noChangeShapeType="1" noTextEdit="1"/>
              </p:cNvSpPr>
              <p:nvPr/>
            </p:nvSpPr>
            <p:spPr>
              <a:xfrm>
                <a:off x="1801091" y="637309"/>
                <a:ext cx="8589818" cy="707886"/>
              </a:xfrm>
              <a:prstGeom prst="rect">
                <a:avLst/>
              </a:prstGeom>
              <a:blipFill>
                <a:blip r:embed="rId2"/>
                <a:stretch>
                  <a:fillRect b="-21053"/>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4FEF5B93-1DA9-87D9-9D92-94CC74E43D58}"/>
              </a:ext>
            </a:extLst>
          </p:cNvPr>
          <p:cNvSpPr txBox="1"/>
          <p:nvPr/>
        </p:nvSpPr>
        <p:spPr>
          <a:xfrm>
            <a:off x="364837" y="1295840"/>
            <a:ext cx="6303818" cy="369332"/>
          </a:xfrm>
          <a:prstGeom prst="rect">
            <a:avLst/>
          </a:prstGeom>
          <a:noFill/>
        </p:spPr>
        <p:txBody>
          <a:bodyPr wrap="square" rtlCol="0">
            <a:spAutoFit/>
          </a:bodyPr>
          <a:lstStyle/>
          <a:p>
            <a:r>
              <a:rPr lang="en-CN" dirty="0"/>
              <a:t>Part-</a:t>
            </a:r>
            <a:r>
              <a:rPr lang="en-US" altLang="zh-CN" dirty="0"/>
              <a:t>2</a:t>
            </a:r>
            <a:r>
              <a:rPr lang="en-CN" dirty="0"/>
              <a:t>, 爱因斯坦solid</a:t>
            </a:r>
            <a:r>
              <a:rPr lang="zh-CN" altLang="en-US" dirty="0"/>
              <a:t> 查笔记</a:t>
            </a:r>
            <a:endParaRPr lang="en-CN" dirty="0"/>
          </a:p>
        </p:txBody>
      </p:sp>
      <p:pic>
        <p:nvPicPr>
          <p:cNvPr id="3" name="Picture 2">
            <a:extLst>
              <a:ext uri="{FF2B5EF4-FFF2-40B4-BE49-F238E27FC236}">
                <a16:creationId xmlns:a16="http://schemas.microsoft.com/office/drawing/2014/main" id="{1D1DD7DA-AF20-15CA-52CA-A08BCAB69163}"/>
              </a:ext>
            </a:extLst>
          </p:cNvPr>
          <p:cNvPicPr>
            <a:picLocks noChangeAspect="1"/>
          </p:cNvPicPr>
          <p:nvPr/>
        </p:nvPicPr>
        <p:blipFill>
          <a:blip r:embed="rId3"/>
          <a:stretch>
            <a:fillRect/>
          </a:stretch>
        </p:blipFill>
        <p:spPr>
          <a:xfrm>
            <a:off x="1939636" y="1664296"/>
            <a:ext cx="7499928" cy="4632595"/>
          </a:xfrm>
          <a:prstGeom prst="rect">
            <a:avLst/>
          </a:prstGeom>
        </p:spPr>
      </p:pic>
      <p:sp>
        <p:nvSpPr>
          <p:cNvPr id="4" name="TextBox 3">
            <a:extLst>
              <a:ext uri="{FF2B5EF4-FFF2-40B4-BE49-F238E27FC236}">
                <a16:creationId xmlns:a16="http://schemas.microsoft.com/office/drawing/2014/main" id="{A53BA9C0-0624-BC8D-0F4B-B71C37BF814F}"/>
              </a:ext>
            </a:extLst>
          </p:cNvPr>
          <p:cNvSpPr txBox="1"/>
          <p:nvPr/>
        </p:nvSpPr>
        <p:spPr>
          <a:xfrm>
            <a:off x="4627418" y="2943300"/>
            <a:ext cx="5015345" cy="646331"/>
          </a:xfrm>
          <a:prstGeom prst="rect">
            <a:avLst/>
          </a:prstGeom>
          <a:noFill/>
        </p:spPr>
        <p:txBody>
          <a:bodyPr wrap="square" rtlCol="0">
            <a:spAutoFit/>
          </a:bodyPr>
          <a:lstStyle/>
          <a:p>
            <a:r>
              <a:rPr lang="en-US" dirty="0"/>
              <a:t>T</a:t>
            </a:r>
            <a:r>
              <a:rPr lang="en-CN" dirty="0"/>
              <a:t>he heat capacity goes to zero exponentially in the limit tau-&gt;0.</a:t>
            </a:r>
          </a:p>
        </p:txBody>
      </p:sp>
    </p:spTree>
    <p:extLst>
      <p:ext uri="{BB962C8B-B14F-4D97-AF65-F5344CB8AC3E}">
        <p14:creationId xmlns:p14="http://schemas.microsoft.com/office/powerpoint/2010/main" val="3935124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24418</TotalTime>
  <Words>760</Words>
  <Application>Microsoft Macintosh PowerPoint</Application>
  <PresentationFormat>Widescreen</PresentationFormat>
  <Paragraphs>131</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FangSong</vt: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336</cp:revision>
  <dcterms:created xsi:type="dcterms:W3CDTF">2022-02-02T22:31:46Z</dcterms:created>
  <dcterms:modified xsi:type="dcterms:W3CDTF">2023-04-01T11:22:09Z</dcterms:modified>
</cp:coreProperties>
</file>