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8" r:id="rId2"/>
    <p:sldId id="321" r:id="rId3"/>
    <p:sldId id="295" r:id="rId4"/>
    <p:sldId id="259" r:id="rId5"/>
    <p:sldId id="26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262" r:id="rId14"/>
    <p:sldId id="263" r:id="rId15"/>
    <p:sldId id="265" r:id="rId16"/>
    <p:sldId id="266" r:id="rId17"/>
    <p:sldId id="260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8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22" autoAdjust="0"/>
    <p:restoredTop sz="93541"/>
  </p:normalViewPr>
  <p:slideViewPr>
    <p:cSldViewPr snapToGrid="0" snapToObjects="1">
      <p:cViewPr varScale="1">
        <p:scale>
          <a:sx n="65" d="100"/>
          <a:sy n="65" d="100"/>
        </p:scale>
        <p:origin x="1136" y="184"/>
      </p:cViewPr>
      <p:guideLst>
        <p:guide orient="horz" pos="2160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33AB7-723E-4799-A03E-CDF944E2C097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91DC5-59CB-4571-B2B3-854C7737B8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91DC5-59CB-4571-B2B3-854C7737B8A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7809B-D10E-4740-8978-86F57B01A21C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1C6DD-249C-2547-8673-98CAB0319AA6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E3A7D-000E-F84C-96EE-85C582FA1C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lxzhang@nankai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aike.baidu.com/pic/%E7%A1%85/2142941/0/bba1cd11728b4710c1538962cdcec3fdfc03231b?fr=lemma&amp;ct=singl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4" Type="http://schemas.openxmlformats.org/officeDocument/2006/relationships/hyperlink" Target="https://image.baidu.com/search/redirect?tn=redirect&amp;word=j&amp;juid=366B7C&amp;sign=ckbgibagki&amp;url=http://www.nipic.com/detail/huitu/20161102/095902282051.html&amp;objurl=https://timgsa.baidu.com/timg?image&amp;quality=80&amp;size=b9999_10000&amp;sec=1573480433199&amp;di=60f2a9438c27544020671ee37a4da441&amp;imgtype=0&amp;src=http://pic89.huitu.com/res/20161102/633020_20161102095902282051_1.jpg" TargetMode="External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4" Type="http://schemas.openxmlformats.org/officeDocument/2006/relationships/hyperlink" Target="https://en.wikipedia.org/wiki/Scanning_probe_microscopy" TargetMode="External"/><Relationship Id="rId5" Type="http://schemas.openxmlformats.org/officeDocument/2006/relationships/image" Target="../media/image17.tiff"/><Relationship Id="rId6" Type="http://schemas.openxmlformats.org/officeDocument/2006/relationships/image" Target="../media/image18.tiff"/><Relationship Id="rId7" Type="http://schemas.openxmlformats.org/officeDocument/2006/relationships/image" Target="../media/image19.tiff"/><Relationship Id="rId8" Type="http://schemas.openxmlformats.org/officeDocument/2006/relationships/image" Target="../media/image20.tiff"/><Relationship Id="rId9" Type="http://schemas.openxmlformats.org/officeDocument/2006/relationships/image" Target="../media/image21.tif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emf"/><Relationship Id="rId3" Type="http://schemas.openxmlformats.org/officeDocument/2006/relationships/image" Target="../media/image17.tif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4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/>
          <p:cNvSpPr txBox="1"/>
          <p:nvPr/>
        </p:nvSpPr>
        <p:spPr>
          <a:xfrm>
            <a:off x="1662430" y="1113155"/>
            <a:ext cx="9489440" cy="16408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3200" dirty="0" smtClean="0"/>
              <a:t>主讲：张立新</a:t>
            </a:r>
            <a:r>
              <a:rPr kumimoji="1" lang="zh-CN" altLang="en-US" sz="3200" dirty="0"/>
              <a:t>（</a:t>
            </a:r>
            <a:r>
              <a:rPr kumimoji="1" lang="en-US" altLang="zh-CN" sz="3200" dirty="0"/>
              <a:t>5</a:t>
            </a:r>
            <a:r>
              <a:rPr kumimoji="1" lang="zh-CN" altLang="en-US" sz="3200" dirty="0"/>
              <a:t>教</a:t>
            </a:r>
            <a:r>
              <a:rPr kumimoji="1" lang="en-US" altLang="zh-CN" sz="3200" dirty="0"/>
              <a:t>120</a:t>
            </a:r>
            <a:r>
              <a:rPr kumimoji="1" lang="zh-CN" altLang="en-US" sz="3200" dirty="0"/>
              <a:t>，</a:t>
            </a:r>
            <a:r>
              <a:rPr kumimoji="1" lang="en-US" altLang="zh-CN" sz="3200" dirty="0">
                <a:hlinkClick r:id="rId2"/>
              </a:rPr>
              <a:t>lxzhang@nankai.edu.cn</a:t>
            </a:r>
            <a:r>
              <a:rPr kumimoji="1" lang="zh-CN" altLang="en-US" sz="3200" dirty="0"/>
              <a:t>）</a:t>
            </a:r>
          </a:p>
          <a:p>
            <a:pPr marL="0" indent="0">
              <a:buNone/>
            </a:pPr>
            <a:r>
              <a:rPr kumimoji="1" lang="zh-CN" altLang="en-US" sz="3200" dirty="0"/>
              <a:t>助教： 杨轩溥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62522" y="2563956"/>
            <a:ext cx="9291484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/>
              <a:t>教材：</a:t>
            </a:r>
            <a:r>
              <a:rPr kumimoji="1" lang="en-US" altLang="zh-CN" sz="2400" dirty="0" smtClean="0"/>
              <a:t>《</a:t>
            </a:r>
            <a:r>
              <a:rPr kumimoji="1" lang="zh-CN" altLang="en-US" sz="2400" dirty="0" smtClean="0"/>
              <a:t>固体物理学</a:t>
            </a:r>
            <a:r>
              <a:rPr kumimoji="1" lang="en-US" altLang="zh-CN" sz="2400" dirty="0" smtClean="0"/>
              <a:t>》</a:t>
            </a:r>
            <a:r>
              <a:rPr kumimoji="1" lang="zh-CN" altLang="en-US" sz="2400" dirty="0" smtClean="0"/>
              <a:t>陆栋  蒋平  徐至中 编著 （第一至第七章）</a:t>
            </a:r>
            <a:endParaRPr kumimoji="1" lang="en-US" altLang="zh-CN" sz="2400" dirty="0" smtClean="0"/>
          </a:p>
          <a:p>
            <a:endParaRPr kumimoji="1" lang="zh-CN" altLang="en-US" sz="2400" i="1" dirty="0" smtClean="0"/>
          </a:p>
          <a:p>
            <a:r>
              <a:rPr kumimoji="1" lang="zh-CN" altLang="en-US" sz="2400" dirty="0" smtClean="0"/>
              <a:t>参考书：</a:t>
            </a:r>
            <a:endParaRPr kumimoji="1" lang="en-US" altLang="zh-CN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400" dirty="0" smtClean="0"/>
              <a:t>《</a:t>
            </a:r>
            <a:r>
              <a:rPr kumimoji="1" lang="zh-CN" altLang="en-US" sz="2400" dirty="0"/>
              <a:t>固体物理学</a:t>
            </a:r>
            <a:r>
              <a:rPr kumimoji="1" lang="en-US" altLang="zh-CN" sz="2400" dirty="0" smtClean="0"/>
              <a:t>》</a:t>
            </a:r>
            <a:r>
              <a:rPr kumimoji="1" lang="zh-CN" altLang="en-US" sz="2400" dirty="0"/>
              <a:t>黄昆 </a:t>
            </a:r>
            <a:r>
              <a:rPr kumimoji="1" lang="zh-CN" altLang="en-US" sz="2400" dirty="0" smtClean="0"/>
              <a:t> 韩汝琦编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400" dirty="0" smtClean="0"/>
              <a:t>  </a:t>
            </a:r>
            <a:r>
              <a:rPr kumimoji="1" lang="en-US" altLang="zh-CN" sz="2400" dirty="0" smtClean="0"/>
              <a:t>Introduction to Solid State Physics, </a:t>
            </a:r>
            <a:r>
              <a:rPr kumimoji="1" lang="en-US" altLang="zh-CN" sz="2400" dirty="0" err="1" smtClean="0"/>
              <a:t>Kittel</a:t>
            </a:r>
            <a:r>
              <a:rPr kumimoji="1" lang="en-US" altLang="zh-CN" sz="2400" dirty="0" smtClean="0"/>
              <a:t> C.</a:t>
            </a:r>
            <a:endParaRPr kumimoji="1" lang="en-US" altLang="zh-CN" sz="2400" dirty="0"/>
          </a:p>
          <a:p>
            <a:r>
              <a:rPr kumimoji="1" lang="zh-CN" altLang="en-US" sz="2400" dirty="0" smtClean="0"/>
              <a:t>学时数：</a:t>
            </a:r>
            <a:r>
              <a:rPr kumimoji="1" lang="en-US" altLang="zh-CN" sz="2400" dirty="0" smtClean="0"/>
              <a:t>17X4=68</a:t>
            </a:r>
            <a:r>
              <a:rPr kumimoji="1" lang="zh-CN" altLang="en-US" sz="2400" dirty="0" smtClean="0"/>
              <a:t> （周二周五上午</a:t>
            </a:r>
            <a:r>
              <a:rPr kumimoji="1" lang="en-US" altLang="zh-CN" sz="2400" dirty="0"/>
              <a:t>8</a:t>
            </a:r>
            <a:r>
              <a:rPr kumimoji="1" lang="zh-CN" altLang="en-US" sz="2400" dirty="0" smtClean="0"/>
              <a:t>：</a:t>
            </a:r>
            <a:r>
              <a:rPr kumimoji="1" lang="en-US" altLang="zh-CN" sz="2400" dirty="0" smtClean="0"/>
              <a:t>00</a:t>
            </a:r>
            <a:r>
              <a:rPr kumimoji="1" lang="zh-CN" altLang="en-US" sz="2400" dirty="0" smtClean="0"/>
              <a:t>）（包括实践环节</a:t>
            </a:r>
            <a:r>
              <a:rPr kumimoji="1" lang="en-US" altLang="zh-CN" sz="2400" dirty="0"/>
              <a:t>4</a:t>
            </a:r>
            <a:r>
              <a:rPr kumimoji="1" lang="zh-CN" altLang="en-US" sz="2400" dirty="0" smtClean="0"/>
              <a:t>学时，习题课</a:t>
            </a:r>
            <a:r>
              <a:rPr kumimoji="1" lang="en-US" altLang="zh-CN" sz="2400" dirty="0" smtClean="0"/>
              <a:t>8</a:t>
            </a:r>
            <a:r>
              <a:rPr kumimoji="1" lang="zh-CN" altLang="en-US" sz="2400" dirty="0" smtClean="0"/>
              <a:t>学时）</a:t>
            </a:r>
          </a:p>
          <a:p>
            <a:r>
              <a:rPr kumimoji="1" lang="zh-CN" altLang="en-US" sz="2400" dirty="0" smtClean="0"/>
              <a:t>学分：</a:t>
            </a:r>
            <a:r>
              <a:rPr kumimoji="1" lang="en-US" altLang="zh-CN" sz="2400" dirty="0" smtClean="0"/>
              <a:t>3.5		</a:t>
            </a:r>
            <a:r>
              <a:rPr kumimoji="1" lang="zh-CN" altLang="en-US" sz="2400" dirty="0" smtClean="0"/>
              <a:t>班级情况：。。。</a:t>
            </a:r>
          </a:p>
          <a:p>
            <a:r>
              <a:rPr kumimoji="1" lang="zh-CN" altLang="en-US" sz="2400" dirty="0" smtClean="0"/>
              <a:t>考核方式：作业</a:t>
            </a:r>
            <a:r>
              <a:rPr kumimoji="1" lang="en-US" altLang="zh-CN" sz="2400" dirty="0" smtClean="0"/>
              <a:t>+</a:t>
            </a:r>
            <a:r>
              <a:rPr kumimoji="1" lang="zh-CN" altLang="en-US" sz="2400" dirty="0" smtClean="0"/>
              <a:t>实践（</a:t>
            </a:r>
            <a:r>
              <a:rPr kumimoji="1" lang="en-US" altLang="zh-CN" sz="2400" dirty="0"/>
              <a:t>4</a:t>
            </a:r>
            <a:r>
              <a:rPr kumimoji="1" lang="en-US" altLang="zh-CN" sz="2400" dirty="0" smtClean="0"/>
              <a:t>0%</a:t>
            </a:r>
            <a:r>
              <a:rPr kumimoji="1" lang="zh-CN" altLang="en-US" sz="2400" dirty="0" smtClean="0"/>
              <a:t>）＋ 期末考试（</a:t>
            </a:r>
            <a:r>
              <a:rPr kumimoji="1" lang="en-US" altLang="zh-CN" sz="2400" dirty="0"/>
              <a:t>6</a:t>
            </a:r>
            <a:r>
              <a:rPr kumimoji="1" lang="en-US" altLang="zh-CN" sz="2400" dirty="0" smtClean="0"/>
              <a:t>0%</a:t>
            </a:r>
            <a:r>
              <a:rPr kumimoji="1" lang="zh-CN" altLang="en-US" sz="2400" dirty="0" smtClean="0"/>
              <a:t>）</a:t>
            </a:r>
          </a:p>
          <a:p>
            <a:r>
              <a:rPr kumimoji="1" lang="zh-CN" altLang="en-US" sz="2400" dirty="0" smtClean="0"/>
              <a:t>往年优秀率：～</a:t>
            </a:r>
            <a:r>
              <a:rPr kumimoji="1" lang="en-US" altLang="zh-CN" sz="2400" dirty="0" smtClean="0"/>
              <a:t>10%</a:t>
            </a:r>
            <a:r>
              <a:rPr kumimoji="1" lang="zh-CN" altLang="en-US" sz="2400" dirty="0" smtClean="0"/>
              <a:t>；良好率：～</a:t>
            </a:r>
            <a:r>
              <a:rPr kumimoji="1" lang="en-US" altLang="zh-CN" sz="2400" dirty="0" smtClean="0"/>
              <a:t>40%</a:t>
            </a:r>
            <a:r>
              <a:rPr kumimoji="1" lang="zh-CN" altLang="en-US" sz="2400" dirty="0" smtClean="0"/>
              <a:t>；通过率：</a:t>
            </a:r>
            <a:r>
              <a:rPr kumimoji="1" lang="en-US" altLang="zh-CN" sz="2400" dirty="0" smtClean="0"/>
              <a:t>&gt;=90%</a:t>
            </a:r>
          </a:p>
          <a:p>
            <a:r>
              <a:rPr kumimoji="1" lang="zh-CN" altLang="en-US" sz="2400" dirty="0" smtClean="0"/>
              <a:t>特殊问题？</a:t>
            </a:r>
          </a:p>
          <a:p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4244009" y="278295"/>
            <a:ext cx="5581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 smtClean="0"/>
              <a:t>课程整体情况</a:t>
            </a:r>
            <a:endParaRPr kumimoji="1"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44009" y="278295"/>
            <a:ext cx="55819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 smtClean="0"/>
              <a:t>主要内容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50340" y="1724660"/>
            <a:ext cx="941768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/>
                </a:solidFill>
                <a:uFillTx/>
              </a:rPr>
              <a:t>第一章</a:t>
            </a:r>
            <a:r>
              <a:rPr lang="en-US" altLang="zh-CN" sz="2800">
                <a:solidFill>
                  <a:schemeClr val="tx1"/>
                </a:solidFill>
                <a:uFillTx/>
              </a:rPr>
              <a:t>  </a:t>
            </a:r>
            <a:r>
              <a:rPr lang="zh-CN" altLang="en-US" sz="2800">
                <a:solidFill>
                  <a:schemeClr val="tx1"/>
                </a:solidFill>
                <a:uFillTx/>
              </a:rPr>
              <a:t>晶体结构</a:t>
            </a:r>
          </a:p>
          <a:p>
            <a:r>
              <a:rPr lang="zh-CN" altLang="en-US" sz="2800">
                <a:solidFill>
                  <a:schemeClr val="tx1"/>
                </a:solidFill>
                <a:uFillTx/>
              </a:rPr>
              <a:t>第二章</a:t>
            </a:r>
            <a:r>
              <a:rPr lang="en-US" altLang="zh-CN" sz="2800">
                <a:solidFill>
                  <a:schemeClr val="tx1"/>
                </a:solidFill>
                <a:uFillTx/>
              </a:rPr>
              <a:t>  </a:t>
            </a:r>
            <a:r>
              <a:rPr lang="zh-CN" altLang="en-US" sz="2800">
                <a:solidFill>
                  <a:schemeClr val="tx1"/>
                </a:solidFill>
                <a:uFillTx/>
              </a:rPr>
              <a:t>晶体中的衍射</a:t>
            </a:r>
          </a:p>
          <a:p>
            <a:r>
              <a:rPr lang="zh-CN" altLang="en-US" sz="2800">
                <a:solidFill>
                  <a:schemeClr val="tx1"/>
                </a:solidFill>
                <a:uFillTx/>
              </a:rPr>
              <a:t>第三章</a:t>
            </a:r>
            <a:r>
              <a:rPr lang="en-US" altLang="zh-CN" sz="2800">
                <a:solidFill>
                  <a:schemeClr val="tx1"/>
                </a:solidFill>
                <a:uFillTx/>
              </a:rPr>
              <a:t>  </a:t>
            </a:r>
            <a:r>
              <a:rPr lang="zh-CN" altLang="en-US" sz="2800">
                <a:solidFill>
                  <a:schemeClr val="tx1"/>
                </a:solidFill>
                <a:uFillTx/>
              </a:rPr>
              <a:t>晶体的结合</a:t>
            </a:r>
          </a:p>
          <a:p>
            <a:r>
              <a:rPr lang="zh-CN" altLang="en-US" sz="2800">
                <a:solidFill>
                  <a:schemeClr val="tx1"/>
                </a:solidFill>
                <a:uFillTx/>
              </a:rPr>
              <a:t>第四章</a:t>
            </a:r>
            <a:r>
              <a:rPr lang="en-US" altLang="zh-CN" sz="2800">
                <a:solidFill>
                  <a:schemeClr val="tx1"/>
                </a:solidFill>
                <a:uFillTx/>
              </a:rPr>
              <a:t>  </a:t>
            </a:r>
            <a:r>
              <a:rPr lang="zh-CN" altLang="en-US" sz="2800">
                <a:solidFill>
                  <a:schemeClr val="tx1"/>
                </a:solidFill>
                <a:uFillTx/>
              </a:rPr>
              <a:t>晶格振动和晶体的热学性质</a:t>
            </a:r>
          </a:p>
          <a:p>
            <a:r>
              <a:rPr lang="zh-CN" altLang="en-US" sz="2800">
                <a:solidFill>
                  <a:schemeClr val="tx1"/>
                </a:solidFill>
                <a:uFillTx/>
              </a:rPr>
              <a:t>第五章</a:t>
            </a:r>
            <a:r>
              <a:rPr lang="en-US" altLang="zh-CN" sz="2800">
                <a:solidFill>
                  <a:schemeClr val="tx1"/>
                </a:solidFill>
                <a:uFillTx/>
              </a:rPr>
              <a:t>  </a:t>
            </a:r>
            <a:r>
              <a:rPr lang="zh-CN" altLang="en-US" sz="2800">
                <a:solidFill>
                  <a:schemeClr val="tx1"/>
                </a:solidFill>
                <a:uFillTx/>
              </a:rPr>
              <a:t>晶体中的缺陷</a:t>
            </a:r>
          </a:p>
          <a:p>
            <a:r>
              <a:rPr lang="zh-CN" altLang="en-US" sz="2800">
                <a:solidFill>
                  <a:schemeClr val="tx1"/>
                </a:solidFill>
                <a:uFillTx/>
              </a:rPr>
              <a:t>第六章</a:t>
            </a:r>
            <a:r>
              <a:rPr lang="en-US" altLang="zh-CN" sz="2800">
                <a:solidFill>
                  <a:schemeClr val="tx1"/>
                </a:solidFill>
                <a:uFillTx/>
              </a:rPr>
              <a:t>  </a:t>
            </a:r>
            <a:r>
              <a:rPr lang="zh-CN" altLang="en-US" sz="2800">
                <a:solidFill>
                  <a:schemeClr val="tx1"/>
                </a:solidFill>
                <a:uFillTx/>
              </a:rPr>
              <a:t>金属电子论</a:t>
            </a:r>
          </a:p>
          <a:p>
            <a:r>
              <a:rPr lang="zh-CN" altLang="en-US" sz="2800">
                <a:solidFill>
                  <a:schemeClr val="tx1"/>
                </a:solidFill>
                <a:uFillTx/>
              </a:rPr>
              <a:t>第七章</a:t>
            </a:r>
            <a:r>
              <a:rPr lang="en-US" altLang="zh-CN" sz="2800">
                <a:solidFill>
                  <a:schemeClr val="tx1"/>
                </a:solidFill>
                <a:uFillTx/>
              </a:rPr>
              <a:t>  </a:t>
            </a:r>
            <a:r>
              <a:rPr lang="zh-CN" altLang="en-US" sz="2800">
                <a:solidFill>
                  <a:schemeClr val="tx1"/>
                </a:solidFill>
                <a:uFillTx/>
              </a:rPr>
              <a:t>周期场中的电子态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62522" y="1115402"/>
            <a:ext cx="92914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形式：由</a:t>
            </a:r>
            <a:r>
              <a:rPr lang="zh-CN" altLang="en-US" sz="2400" dirty="0"/>
              <a:t>同学们备课、主讲 ，教师讲评，同学们讨</a:t>
            </a:r>
            <a:r>
              <a:rPr lang="zh-CN" altLang="en-US" sz="2400" dirty="0" smtClean="0"/>
              <a:t>论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zh-CN" altLang="en-US" sz="2400" dirty="0" smtClean="0"/>
              <a:t>时间：第</a:t>
            </a:r>
            <a:r>
              <a:rPr lang="en-US" altLang="zh-CN" sz="2400" dirty="0" smtClean="0"/>
              <a:t>15-16</a:t>
            </a:r>
            <a:r>
              <a:rPr lang="zh-CN" altLang="en-US" sz="2400" dirty="0" smtClean="0"/>
              <a:t>周周五各</a:t>
            </a:r>
            <a:r>
              <a:rPr lang="zh-CN" altLang="en-US" sz="2400" dirty="0"/>
              <a:t>安排一次，主讲的同学依效果</a:t>
            </a:r>
            <a:r>
              <a:rPr lang="zh-CN" altLang="en-US" sz="2400" dirty="0" smtClean="0"/>
              <a:t>按五次</a:t>
            </a:r>
            <a:r>
              <a:rPr lang="zh-CN" altLang="en-US" sz="2400" dirty="0"/>
              <a:t>作业计入平时成</a:t>
            </a:r>
            <a:r>
              <a:rPr lang="zh-CN" altLang="en-US" sz="2400" dirty="0" smtClean="0"/>
              <a:t>绩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 smtClean="0"/>
              <a:t>时长：每</a:t>
            </a:r>
            <a:r>
              <a:rPr lang="zh-CN" altLang="en-US" sz="2400" dirty="0"/>
              <a:t>人</a:t>
            </a:r>
            <a:r>
              <a:rPr lang="en-US" altLang="zh-CN" sz="2400" dirty="0"/>
              <a:t>5</a:t>
            </a:r>
            <a:r>
              <a:rPr lang="zh-CN" altLang="en-US" sz="2400" dirty="0"/>
              <a:t>分钟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主题</a:t>
            </a:r>
            <a:r>
              <a:rPr lang="zh-CN" altLang="en-US" sz="2400" dirty="0" smtClean="0"/>
              <a:t>：自拟，与</a:t>
            </a:r>
            <a:r>
              <a:rPr lang="zh-CN" altLang="en-US" sz="2400" dirty="0"/>
              <a:t>本课内容相关，来源于实习、课外学习</a:t>
            </a:r>
            <a:r>
              <a:rPr lang="zh-CN" altLang="en-US" sz="2400" dirty="0" smtClean="0"/>
              <a:t>、科研实</a:t>
            </a:r>
            <a:r>
              <a:rPr lang="zh-CN" altLang="en-US" sz="2400" dirty="0"/>
              <a:t>践，有一定理论深</a:t>
            </a:r>
            <a:r>
              <a:rPr lang="zh-CN" altLang="en-US" sz="2400" dirty="0" smtClean="0"/>
              <a:t>度，有趣味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目的：增长见闻、引起思考、学以致用</a:t>
            </a:r>
          </a:p>
          <a:p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4244009" y="278295"/>
            <a:ext cx="5581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 smtClean="0"/>
              <a:t>实</a:t>
            </a:r>
            <a:r>
              <a:rPr kumimoji="1" lang="zh-CN" altLang="en-US" sz="3200" dirty="0"/>
              <a:t>践环节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8104" y="5639717"/>
            <a:ext cx="147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 smtClean="0">
                <a:solidFill>
                  <a:srgbClr val="FF0000"/>
                </a:solidFill>
              </a:rPr>
              <a:t>第一次课止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97521" y="603504"/>
            <a:ext cx="7170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 smtClean="0"/>
              <a:t>为什么要学习</a:t>
            </a:r>
            <a:r>
              <a:rPr kumimoji="1" lang="zh-CN" altLang="en-US" sz="3200" dirty="0"/>
              <a:t>固</a:t>
            </a:r>
            <a:r>
              <a:rPr kumimoji="1" lang="zh-CN" altLang="en-US" sz="3200" dirty="0" smtClean="0"/>
              <a:t>体</a:t>
            </a:r>
            <a:r>
              <a:rPr kumimoji="1" lang="zh-CN" altLang="en-US" sz="3200" dirty="0"/>
              <a:t>物理</a:t>
            </a:r>
            <a:r>
              <a:rPr kumimoji="1" lang="zh-CN" altLang="en-US" sz="3200" dirty="0" smtClean="0"/>
              <a:t>（凝聚态</a:t>
            </a:r>
            <a:r>
              <a:rPr kumimoji="1" lang="zh-CN" altLang="en-US" sz="3200" dirty="0"/>
              <a:t>物理</a:t>
            </a:r>
            <a:r>
              <a:rPr kumimoji="1" lang="zh-CN" altLang="en-US" sz="3200" dirty="0" smtClean="0"/>
              <a:t>）？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445742" y="1935915"/>
            <a:ext cx="96446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/>
              <a:t>1</a:t>
            </a:r>
            <a:r>
              <a:rPr kumimoji="1" lang="zh-CN" altLang="en-US" sz="2800" dirty="0" smtClean="0"/>
              <a:t>、人类文明的发展是以所使用的核心材料（晶体）为标志的</a:t>
            </a:r>
            <a:endParaRPr kumimoji="1" lang="en-US" altLang="zh-CN" sz="2800" dirty="0" smtClean="0"/>
          </a:p>
          <a:p>
            <a:r>
              <a:rPr kumimoji="1" lang="en-US" altLang="zh-CN" sz="2800" dirty="0" smtClean="0"/>
              <a:t>2</a:t>
            </a:r>
            <a:r>
              <a:rPr kumimoji="1" lang="zh-CN" altLang="en-US" sz="2800" dirty="0" smtClean="0"/>
              <a:t>、材料有丰富的力、热、声、光、电等性质，为什么？</a:t>
            </a:r>
          </a:p>
          <a:p>
            <a:r>
              <a:rPr kumimoji="1" lang="en-US" altLang="zh-CN" sz="2800" dirty="0" smtClean="0"/>
              <a:t>3</a:t>
            </a:r>
            <a:r>
              <a:rPr kumimoji="1" lang="zh-CN" altLang="en-US" sz="2800" dirty="0" smtClean="0"/>
              <a:t>、人类</a:t>
            </a:r>
            <a:r>
              <a:rPr kumimoji="1" lang="zh-CN" altLang="en-US" sz="2800" dirty="0"/>
              <a:t>文明</a:t>
            </a:r>
            <a:r>
              <a:rPr kumimoji="1" lang="zh-CN" altLang="en-US" sz="2800" dirty="0" smtClean="0"/>
              <a:t>面临空前挑战</a:t>
            </a:r>
          </a:p>
          <a:p>
            <a:r>
              <a:rPr kumimoji="1" lang="en-US" altLang="zh-CN" sz="2800" dirty="0" smtClean="0"/>
              <a:t>4</a:t>
            </a:r>
            <a:r>
              <a:rPr kumimoji="1" lang="zh-CN" altLang="en-US" sz="2800" dirty="0" smtClean="0"/>
              <a:t>、战胜这些挑战依赖新材料的发明、发现</a:t>
            </a:r>
            <a:endParaRPr kumimoji="1"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3776036" y="5027816"/>
            <a:ext cx="4453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 smtClean="0"/>
              <a:t>天底下没有容易的事情！</a:t>
            </a:r>
            <a:endParaRPr kumimoji="1" lang="zh-CN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541224" y="1782357"/>
                <a:ext cx="10382190" cy="2252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b="1" dirty="0" smtClean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电子主导</a:t>
                </a:r>
                <a:endParaRPr kumimoji="1" lang="en-US" altLang="zh-CN" sz="2400" b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kumimoji="1" lang="en-US" altLang="zh-CN" sz="2400" b="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kumimoji="1" lang="en-US" altLang="zh-CN" sz="2400" dirty="0" smtClean="0">
                    <a:solidFill>
                      <a:schemeClr val="tx1"/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𝑖𝑜𝑛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𝑖𝑜𝑛</m:t>
                        </m:r>
                      </m:sub>
                    </m:sSub>
                  </m:oMath>
                </a14:m>
                <a:endParaRPr kumimoji="1" lang="zh-CN" altLang="en-US" sz="2400" dirty="0" smtClean="0">
                  <a:solidFill>
                    <a:schemeClr val="tx1"/>
                  </a:solidFill>
                </a:endParaRPr>
              </a:p>
              <a:p>
                <a:endParaRPr kumimoji="1"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ℏ</m:t>
                                    </m:r>
                                  </m:e>
                                  <m:sup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𝛁</m:t>
                                </m:r>
                              </m:e>
                              <m:sub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1"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kumimoji="1"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a:rPr kumimoji="1"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7"/>
                                  </m:rP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f>
                                  <m:fPr>
                                    <m:ctrlPr>
                                      <a:rPr kumimoji="1"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ℏ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kumimoji="1"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kumimoji="1" lang="zh-CN" alt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𝛁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  <m:sup>
                                        <m:r>
                                          <a:rPr kumimoji="1"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kumimoji="1"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den>
                                </m:f>
                                <m:r>
                                  <a:rPr kumimoji="1"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1"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kumimoji="1"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kumimoji="1"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kumimoji="1"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kumimoji="1" lang="zh-CN" altLang="en-US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zh-CN" altLang="en-US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𝜀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sz="2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𝑅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sz="2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𝐼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sz="2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𝑅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sz="2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𝐽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den>
                                    </m:f>
                                    <m:r>
                                      <a:rPr kumimoji="1"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kumimoji="1"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kumimoji="1"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kumimoji="1" lang="en-US" altLang="zh-CN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sub>
                                      <m:sup/>
                                      <m:e>
                                        <m:f>
                                          <m:fPr>
                                            <m:ctrlP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kumimoji="1" lang="en-US" altLang="zh-CN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  <m:r>
                                              <a:rPr kumimoji="1" lang="zh-CN" altLang="en-US" sz="2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zh-CN" altLang="en-US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zh-CN" sz="2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kumimoji="1" lang="en-US" altLang="zh-CN" sz="2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kumimoji="1" lang="en-US" altLang="zh-CN" sz="24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1" lang="en-US" altLang="zh-CN" sz="24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𝑅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1" lang="en-US" altLang="zh-CN" sz="2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𝐽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den>
                                        </m:f>
                                        <m:r>
                                          <a:rPr kumimoji="1"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nary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</m:oMath>
                </a14:m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 </a:t>
                </a:r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224" y="1782357"/>
                <a:ext cx="10382190" cy="2252540"/>
              </a:xfrm>
              <a:prstGeom prst="rect">
                <a:avLst/>
              </a:prstGeom>
              <a:blipFill rotWithShape="1">
                <a:blip r:embed="rId2"/>
                <a:stretch>
                  <a:fillRect l="-1" t="-2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060678" y="553535"/>
            <a:ext cx="5581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 smtClean="0"/>
              <a:t>固体物理为什么难</a:t>
            </a:r>
            <a:r>
              <a:rPr kumimoji="1" lang="zh-CN" altLang="en-US" sz="3200" dirty="0"/>
              <a:t>学</a:t>
            </a:r>
            <a:r>
              <a:rPr kumimoji="1" lang="zh-CN" altLang="en-US" sz="3200" dirty="0" smtClean="0"/>
              <a:t>？</a:t>
            </a:r>
            <a:endParaRPr kumimoji="1"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541224" y="4264849"/>
                <a:ext cx="92914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zh-CN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𝛹</m:t>
                      </m:r>
                      <m:r>
                        <a:rPr kumimoji="1"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kumimoji="1"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𝛹</m:t>
                      </m:r>
                    </m:oMath>
                  </m:oMathPara>
                </a14:m>
                <a:endParaRPr kumimoji="1" lang="en-US" altLang="zh-CN" sz="2400" dirty="0" smtClean="0">
                  <a:solidFill>
                    <a:schemeClr val="tx1"/>
                  </a:solidFill>
                </a:endParaRPr>
              </a:p>
              <a:p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224" y="4264849"/>
                <a:ext cx="9291484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" t="-23" r="3" b="-1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541224" y="5078962"/>
            <a:ext cx="6073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求解容易吗？所有体系都能精确求解吗？</a:t>
            </a:r>
            <a:endParaRPr lang="en-US" altLang="zh-CN" sz="2400" dirty="0" smtClean="0"/>
          </a:p>
          <a:p>
            <a:endParaRPr lang="en-US" alt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1083" y="711786"/>
            <a:ext cx="152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原</a:t>
            </a:r>
            <a:r>
              <a:rPr lang="zh-CN" altLang="en-US" sz="2800" dirty="0" smtClean="0"/>
              <a:t>子（</a:t>
            </a:r>
            <a:r>
              <a:rPr lang="en-US" altLang="zh-CN" sz="2800" dirty="0" smtClean="0"/>
              <a:t>atom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	</a:t>
            </a:r>
            <a:endParaRPr lang="zh-CN" alt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5071910" y="721085"/>
            <a:ext cx="1905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/>
              <a:t>分子（</a:t>
            </a:r>
            <a:r>
              <a:rPr lang="en-US" altLang="zh-CN" sz="2800" dirty="0" smtClean="0"/>
              <a:t>molecule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	</a:t>
            </a:r>
            <a:endParaRPr lang="zh-CN" altLang="en-US" sz="2800" dirty="0"/>
          </a:p>
        </p:txBody>
      </p:sp>
      <p:sp>
        <p:nvSpPr>
          <p:cNvPr id="4" name="TextBox 4"/>
          <p:cNvSpPr txBox="1"/>
          <p:nvPr/>
        </p:nvSpPr>
        <p:spPr>
          <a:xfrm>
            <a:off x="2371415" y="1948341"/>
            <a:ext cx="5205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固体和液体（</a:t>
            </a:r>
            <a:r>
              <a:rPr lang="en-US" altLang="zh-CN" sz="2800" dirty="0" smtClean="0"/>
              <a:t>solid and liquid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	</a:t>
            </a:r>
            <a:endParaRPr lang="zh-CN" altLang="en-US" sz="2800" dirty="0"/>
          </a:p>
        </p:txBody>
      </p:sp>
      <p:sp>
        <p:nvSpPr>
          <p:cNvPr id="5" name="Right Arrow 6"/>
          <p:cNvSpPr/>
          <p:nvPr/>
        </p:nvSpPr>
        <p:spPr>
          <a:xfrm>
            <a:off x="4345083" y="834016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" name="Right Brace 7"/>
          <p:cNvSpPr/>
          <p:nvPr/>
        </p:nvSpPr>
        <p:spPr>
          <a:xfrm rot="5400000">
            <a:off x="4192683" y="300616"/>
            <a:ext cx="609600" cy="228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pic>
        <p:nvPicPr>
          <p:cNvPr id="7" name="Picture 2" descr="https://timgsa.baidu.com/timg?image&amp;quality=80&amp;size=b10000_10000&amp;sec=1567419418&amp;di=5577e7b47688e62647be085504aca9c7&amp;src=http://i0.hdslb.com/bfs/article/d12dc6312771bc1a68d452c9d876c5b8690292d4.jpg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576" y="176784"/>
            <a:ext cx="1981200" cy="194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576" y="2209800"/>
            <a:ext cx="1981200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10"/>
          <p:cNvSpPr txBox="1"/>
          <p:nvPr/>
        </p:nvSpPr>
        <p:spPr>
          <a:xfrm>
            <a:off x="9499272" y="3364992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chemeClr val="bg1"/>
                </a:solidFill>
              </a:rPr>
              <a:t>分子</a:t>
            </a:r>
            <a:r>
              <a:rPr lang="zh-CN" altLang="en-US" sz="1200" dirty="0">
                <a:solidFill>
                  <a:schemeClr val="bg1"/>
                </a:solidFill>
              </a:rPr>
              <a:t>示意图</a:t>
            </a:r>
            <a:r>
              <a:rPr lang="en-US" altLang="zh-CN" dirty="0" smtClean="0">
                <a:solidFill>
                  <a:schemeClr val="bg1"/>
                </a:solidFill>
              </a:rPr>
              <a:t>	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Rectangle 8"/>
          <p:cNvSpPr/>
          <p:nvPr/>
        </p:nvSpPr>
        <p:spPr>
          <a:xfrm>
            <a:off x="4055360" y="1580111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凝</a:t>
            </a:r>
            <a:r>
              <a:rPr lang="zh-CN" altLang="en-US" sz="2800" dirty="0" smtClean="0">
                <a:latin typeface="华文新魏" pitchFamily="2" charset="-122"/>
                <a:ea typeface="华文新魏" pitchFamily="2" charset="-122"/>
              </a:rPr>
              <a:t>聚</a:t>
            </a:r>
            <a:endParaRPr lang="zh-CN" altLang="en-US" sz="2800" dirty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89" y="2773345"/>
            <a:ext cx="6106708" cy="28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9"/>
          <p:cNvSpPr txBox="1"/>
          <p:nvPr/>
        </p:nvSpPr>
        <p:spPr>
          <a:xfrm>
            <a:off x="3276600" y="525780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H</a:t>
            </a:r>
            <a:r>
              <a:rPr lang="en-US" altLang="zh-CN" baseline="-25000" dirty="0" smtClean="0">
                <a:solidFill>
                  <a:schemeClr val="bg1"/>
                </a:solidFill>
              </a:rPr>
              <a:t>2</a:t>
            </a:r>
            <a:r>
              <a:rPr lang="en-US" altLang="zh-CN" dirty="0" smtClean="0">
                <a:solidFill>
                  <a:schemeClr val="bg1"/>
                </a:solidFill>
              </a:rPr>
              <a:t>O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Rectangle 14"/>
          <p:cNvSpPr/>
          <p:nvPr/>
        </p:nvSpPr>
        <p:spPr>
          <a:xfrm>
            <a:off x="4003568" y="291008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凝</a:t>
            </a:r>
            <a:r>
              <a:rPr lang="zh-CN" altLang="en-US" sz="2800" dirty="0" smtClean="0">
                <a:latin typeface="华文新魏" pitchFamily="2" charset="-122"/>
                <a:ea typeface="华文新魏" pitchFamily="2" charset="-122"/>
              </a:rPr>
              <a:t>聚</a:t>
            </a:r>
            <a:endParaRPr lang="zh-CN" altLang="en-US" sz="28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" name="TextBox 15"/>
          <p:cNvSpPr txBox="1"/>
          <p:nvPr/>
        </p:nvSpPr>
        <p:spPr>
          <a:xfrm>
            <a:off x="697603" y="5910485"/>
            <a:ext cx="8104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原</a:t>
            </a:r>
            <a:r>
              <a:rPr lang="zh-CN" altLang="en-US" dirty="0" smtClean="0">
                <a:solidFill>
                  <a:schemeClr val="bg1"/>
                </a:solidFill>
              </a:rPr>
              <a:t>子和分子为什么会发生凝聚现象？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原</a:t>
            </a:r>
            <a:r>
              <a:rPr lang="zh-CN" altLang="en-US" dirty="0" smtClean="0">
                <a:solidFill>
                  <a:schemeClr val="bg1"/>
                </a:solidFill>
              </a:rPr>
              <a:t>子或分子之间的吸引作用是普遍的吗？四种基本相互作用之外的第五种力？</a:t>
            </a:r>
            <a:r>
              <a:rPr lang="en-US" altLang="zh-CN" dirty="0" smtClean="0">
                <a:solidFill>
                  <a:schemeClr val="bg1"/>
                </a:solidFill>
              </a:rPr>
              <a:t>	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6"/>
          <a:stretch>
            <a:fillRect/>
          </a:stretch>
        </p:blipFill>
        <p:spPr bwMode="auto">
          <a:xfrm>
            <a:off x="9538896" y="3924198"/>
            <a:ext cx="1959689" cy="2629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511" y="2782644"/>
            <a:ext cx="1904104" cy="285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64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692219" y="260350"/>
            <a:ext cx="57594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 dirty="0"/>
              <a:t>古老而年轻的凝聚态物</a:t>
            </a:r>
            <a:r>
              <a:rPr lang="zh-CN" altLang="en-US" sz="2800" dirty="0" smtClean="0"/>
              <a:t>理</a:t>
            </a:r>
            <a:endParaRPr lang="en-US" altLang="zh-CN" sz="2800" dirty="0"/>
          </a:p>
        </p:txBody>
      </p:sp>
      <p:sp>
        <p:nvSpPr>
          <p:cNvPr id="3" name="TextBox 1"/>
          <p:cNvSpPr txBox="1"/>
          <p:nvPr/>
        </p:nvSpPr>
        <p:spPr>
          <a:xfrm>
            <a:off x="762000" y="1265202"/>
            <a:ext cx="104921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人类早期文明的三个时代：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			</a:t>
            </a:r>
            <a:r>
              <a:rPr lang="zh-CN" altLang="en-US" dirty="0" smtClean="0"/>
              <a:t>石器时代</a:t>
            </a:r>
            <a:r>
              <a:rPr lang="en-US" altLang="zh-CN" dirty="0" smtClean="0"/>
              <a:t>	</a:t>
            </a:r>
            <a:r>
              <a:rPr lang="zh-CN" altLang="en-US" dirty="0" smtClean="0"/>
              <a:t>石头（方解石，</a:t>
            </a:r>
            <a:r>
              <a:rPr lang="en-US" altLang="zh-CN" dirty="0" smtClean="0"/>
              <a:t>CaCO3</a:t>
            </a:r>
            <a:r>
              <a:rPr lang="zh-CN" altLang="en-US" dirty="0" smtClean="0"/>
              <a:t>晶体；石英，</a:t>
            </a:r>
            <a:r>
              <a:rPr lang="en-US" altLang="zh-CN" dirty="0" smtClean="0"/>
              <a:t>SiO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晶体）</a:t>
            </a:r>
            <a:endParaRPr lang="en-US" altLang="zh-CN" dirty="0" smtClean="0"/>
          </a:p>
          <a:p>
            <a:r>
              <a:rPr lang="en-US" altLang="zh-CN" dirty="0" smtClean="0"/>
              <a:t>			</a:t>
            </a:r>
            <a:r>
              <a:rPr lang="zh-CN" altLang="en-US" dirty="0" smtClean="0"/>
              <a:t>青铜器时代</a:t>
            </a:r>
            <a:r>
              <a:rPr lang="en-US" altLang="zh-CN" dirty="0" smtClean="0"/>
              <a:t>	</a:t>
            </a:r>
            <a:r>
              <a:rPr lang="zh-CN" altLang="en-US" dirty="0" smtClean="0"/>
              <a:t>铜锡或铜铅合金</a:t>
            </a:r>
            <a:endParaRPr lang="en-US" altLang="zh-CN" dirty="0" smtClean="0"/>
          </a:p>
          <a:p>
            <a:r>
              <a:rPr lang="en-US" altLang="zh-CN" dirty="0" smtClean="0"/>
              <a:t>			</a:t>
            </a:r>
            <a:r>
              <a:rPr lang="zh-CN" altLang="en-US" dirty="0" smtClean="0"/>
              <a:t>铁器时代</a:t>
            </a:r>
            <a:r>
              <a:rPr lang="en-US" altLang="zh-CN" dirty="0" smtClean="0"/>
              <a:t>	</a:t>
            </a:r>
            <a:r>
              <a:rPr lang="zh-CN" altLang="en-US" dirty="0" smtClean="0"/>
              <a:t>铁（</a:t>
            </a:r>
            <a:r>
              <a:rPr lang="en-US" altLang="zh-CN" dirty="0" smtClean="0"/>
              <a:t>Fe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         </a:t>
            </a:r>
            <a:endParaRPr lang="en-US" altLang="zh-CN" dirty="0" smtClean="0"/>
          </a:p>
          <a:p>
            <a:r>
              <a:rPr lang="en-US" altLang="zh-CN" dirty="0"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dirty="0" smtClean="0">
                <a:latin typeface="隶书" pitchFamily="49" charset="-122"/>
                <a:ea typeface="隶书" pitchFamily="49" charset="-122"/>
              </a:rPr>
              <a:t>   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铁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器技术大量散播使得</a:t>
            </a:r>
            <a:r>
              <a:rPr lang="zh-CN" altLang="en-US" u="sng" dirty="0">
                <a:latin typeface="隶书" pitchFamily="49" charset="-122"/>
                <a:ea typeface="隶书" pitchFamily="49" charset="-122"/>
              </a:rPr>
              <a:t>班图族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能改善其农耕技术，使得其脱离石器时代并将农业扩张至热带草原上。因为其掌握冶铁技术，所以其在南非具有</a:t>
            </a:r>
            <a:r>
              <a:rPr lang="zh-CN" altLang="en-US" u="sng" dirty="0">
                <a:latin typeface="隶书" pitchFamily="49" charset="-122"/>
                <a:ea typeface="隶书" pitchFamily="49" charset="-122"/>
              </a:rPr>
              <a:t>支配地位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，而且是</a:t>
            </a:r>
            <a:r>
              <a:rPr lang="zh-CN" altLang="en-US" u="sng" dirty="0">
                <a:latin typeface="隶书" pitchFamily="49" charset="-122"/>
                <a:ea typeface="隶书" pitchFamily="49" charset="-122"/>
              </a:rPr>
              <a:t>极富有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的民族，同时它们亦能制造</a:t>
            </a:r>
            <a:r>
              <a:rPr lang="zh-CN" altLang="en-US" u="sng" dirty="0">
                <a:latin typeface="隶书" pitchFamily="49" charset="-122"/>
                <a:ea typeface="隶书" pitchFamily="49" charset="-122"/>
              </a:rPr>
              <a:t>铁制工</a:t>
            </a:r>
            <a:r>
              <a:rPr lang="zh-CN" altLang="en-US" u="sng" dirty="0" smtClean="0">
                <a:latin typeface="隶书" pitchFamily="49" charset="-122"/>
                <a:ea typeface="隶书" pitchFamily="49" charset="-122"/>
              </a:rPr>
              <a:t>具、武</a:t>
            </a:r>
            <a:r>
              <a:rPr lang="zh-CN" altLang="en-US" u="sng" dirty="0">
                <a:latin typeface="隶书" pitchFamily="49" charset="-122"/>
                <a:ea typeface="隶书" pitchFamily="49" charset="-122"/>
              </a:rPr>
              <a:t>器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。</a:t>
            </a:r>
            <a:endParaRPr lang="en-US" altLang="zh-CN" dirty="0" smtClean="0">
              <a:latin typeface="隶书" pitchFamily="49" charset="-122"/>
              <a:ea typeface="隶书" pitchFamily="49" charset="-122"/>
            </a:endParaRPr>
          </a:p>
          <a:p>
            <a:endParaRPr lang="en-US" altLang="zh-CN" dirty="0"/>
          </a:p>
          <a:p>
            <a:r>
              <a:rPr lang="zh-CN" altLang="en-US" dirty="0" smtClean="0"/>
              <a:t>现代社会：硅的时代</a:t>
            </a:r>
            <a:endParaRPr lang="zh-CN" altLang="en-US" dirty="0"/>
          </a:p>
        </p:txBody>
      </p:sp>
      <p:pic>
        <p:nvPicPr>
          <p:cNvPr id="4" name="Picture 2" descr="https://gss0.bdstatic.com/94o3dSag_xI4khGkpoWK1HF6hhy/baike/w%3D268%3Bg%3D0/sign=71b6d1cc9622720e7bcee5fc43f06d7b/bba1cd11728b4710c1538962cdcec3fdfc03231b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17" y="4967287"/>
            <a:ext cx="19304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325" y="4634293"/>
            <a:ext cx="167640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953" y="4905375"/>
            <a:ext cx="2095500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229" y="4896231"/>
            <a:ext cx="2095500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ight Arrow 6"/>
          <p:cNvSpPr/>
          <p:nvPr/>
        </p:nvSpPr>
        <p:spPr>
          <a:xfrm>
            <a:off x="2888066" y="5576860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9" name="Right Arrow 6"/>
          <p:cNvSpPr/>
          <p:nvPr/>
        </p:nvSpPr>
        <p:spPr>
          <a:xfrm>
            <a:off x="5452075" y="5588580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0" name="Right Arrow 6"/>
          <p:cNvSpPr/>
          <p:nvPr/>
        </p:nvSpPr>
        <p:spPr>
          <a:xfrm>
            <a:off x="8377816" y="5590260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48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2130251" y="914400"/>
            <a:ext cx="8370275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 smtClean="0"/>
              <a:t>为什么晶体能发挥重要作用？ </a:t>
            </a:r>
            <a:endParaRPr lang="en-US" altLang="zh-CN" sz="2400" dirty="0" smtClean="0"/>
          </a:p>
          <a:p>
            <a:pPr eaLnBrk="1" hangingPunct="1"/>
            <a:endParaRPr lang="en-US" sz="2400" dirty="0"/>
          </a:p>
          <a:p>
            <a:pPr eaLnBrk="1" hangingPunct="1"/>
            <a:r>
              <a:rPr lang="zh-CN" altLang="en-US" sz="2400" dirty="0"/>
              <a:t>丰富的力、热、声、光、电等性质。</a:t>
            </a:r>
            <a:endParaRPr lang="en-US" altLang="zh-CN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zh-CN" altLang="en-US" sz="2400" dirty="0"/>
              <a:t>如按导电性分类：</a:t>
            </a:r>
            <a:endParaRPr lang="en-US" altLang="zh-CN" sz="2400" dirty="0"/>
          </a:p>
          <a:p>
            <a:pPr eaLnBrk="1" hangingPunct="1"/>
            <a:r>
              <a:rPr lang="en-US" sz="2400" dirty="0"/>
              <a:t>		</a:t>
            </a:r>
            <a:r>
              <a:rPr lang="zh-CN" altLang="en-US" sz="2000" dirty="0"/>
              <a:t>导体</a:t>
            </a:r>
            <a:endParaRPr lang="en-US" altLang="zh-CN" sz="2000" dirty="0"/>
          </a:p>
          <a:p>
            <a:pPr eaLnBrk="1" hangingPunct="1"/>
            <a:r>
              <a:rPr lang="en-US" sz="2000" dirty="0"/>
              <a:t>		</a:t>
            </a:r>
            <a:r>
              <a:rPr lang="zh-CN" altLang="en-US" sz="2000" dirty="0"/>
              <a:t>半导体</a:t>
            </a:r>
            <a:endParaRPr lang="en-US" altLang="zh-CN" sz="2000" dirty="0"/>
          </a:p>
          <a:p>
            <a:pPr eaLnBrk="1" hangingPunct="1"/>
            <a:r>
              <a:rPr lang="en-US" sz="2000" dirty="0"/>
              <a:t>		</a:t>
            </a:r>
            <a:r>
              <a:rPr lang="zh-CN" altLang="en-US" sz="2000" dirty="0"/>
              <a:t>绝缘体</a:t>
            </a:r>
            <a:endParaRPr lang="en-US" altLang="zh-CN" sz="2000" dirty="0"/>
          </a:p>
          <a:p>
            <a:pPr eaLnBrk="1" hangingPunct="1"/>
            <a:r>
              <a:rPr lang="en-US" sz="2000" dirty="0"/>
              <a:t>		</a:t>
            </a:r>
            <a:r>
              <a:rPr lang="zh-CN" altLang="en-US" sz="2000" dirty="0"/>
              <a:t>超导体</a:t>
            </a:r>
            <a:endParaRPr lang="en-US" altLang="zh-CN" sz="2000" dirty="0"/>
          </a:p>
          <a:p>
            <a:pPr eaLnBrk="1" hangingPunct="1"/>
            <a:r>
              <a:rPr lang="en-US" sz="2000" dirty="0"/>
              <a:t>		</a:t>
            </a:r>
            <a:r>
              <a:rPr lang="zh-CN" altLang="en-US" sz="2000" dirty="0"/>
              <a:t>铁磁</a:t>
            </a:r>
            <a:r>
              <a:rPr lang="zh-CN" altLang="en-US" sz="2000" dirty="0" smtClean="0"/>
              <a:t>体</a:t>
            </a:r>
            <a:endParaRPr lang="en-US" altLang="zh-CN" sz="2000" dirty="0" smtClean="0"/>
          </a:p>
          <a:p>
            <a:pPr eaLnBrk="1" hangingPunct="1"/>
            <a:r>
              <a:rPr lang="en-US" altLang="zh-CN" sz="2000" dirty="0"/>
              <a:t>	</a:t>
            </a:r>
            <a:r>
              <a:rPr lang="en-US" altLang="zh-CN" sz="2000" dirty="0" smtClean="0"/>
              <a:t>	</a:t>
            </a:r>
            <a:r>
              <a:rPr lang="zh-CN" altLang="en-US" sz="2000" dirty="0" smtClean="0"/>
              <a:t>铁电体</a:t>
            </a:r>
            <a:endParaRPr lang="en-US" altLang="zh-CN" sz="2000" dirty="0"/>
          </a:p>
          <a:p>
            <a:pPr eaLnBrk="1" hangingPunct="1"/>
            <a:r>
              <a:rPr lang="en-US" altLang="zh-CN" sz="2400" dirty="0"/>
              <a:t>		</a:t>
            </a:r>
            <a:r>
              <a:rPr lang="zh-CN" altLang="en-US" sz="2400" dirty="0"/>
              <a:t>。。。。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原因？</a:t>
            </a:r>
            <a:endParaRPr lang="en-US" altLang="zh-CN" sz="2400" dirty="0"/>
          </a:p>
          <a:p>
            <a:pPr eaLnBrk="1" hangingPunct="1"/>
            <a:r>
              <a:rPr lang="zh-CN" altLang="en-US" sz="3600" b="1" dirty="0"/>
              <a:t>相互作用的多电子</a:t>
            </a:r>
            <a:r>
              <a:rPr lang="zh-CN" altLang="en-US" sz="2400" dirty="0"/>
              <a:t>的状态是</a:t>
            </a:r>
            <a:r>
              <a:rPr lang="zh-CN" altLang="en-US" sz="2400" dirty="0" smtClean="0"/>
              <a:t>所有神奇性质</a:t>
            </a:r>
            <a:r>
              <a:rPr lang="zh-CN" altLang="en-US" sz="2400" dirty="0"/>
              <a:t>的源泉！</a:t>
            </a:r>
            <a:endParaRPr lang="en-US" altLang="zh-CN" sz="2400" dirty="0"/>
          </a:p>
          <a:p>
            <a:pPr eaLnBrk="1" hangingPunct="1"/>
            <a:endParaRPr lang="en-US" sz="2400" dirty="0"/>
          </a:p>
        </p:txBody>
      </p:sp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2371439" y="260350"/>
            <a:ext cx="7055309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800" dirty="0"/>
              <a:t>古老而年轻的凝聚态物</a:t>
            </a:r>
            <a:r>
              <a:rPr lang="zh-CN" altLang="en-US" sz="2800" dirty="0" smtClean="0"/>
              <a:t>理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46042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781068" y="422024"/>
            <a:ext cx="7696200" cy="12302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 smtClean="0"/>
              <a:t>超导体及应用</a:t>
            </a:r>
            <a:endParaRPr lang="zh-CN" altLang="en-US" sz="3200" dirty="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98" y="1365162"/>
            <a:ext cx="2362200" cy="180386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566" y="1363220"/>
            <a:ext cx="2685025" cy="402753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90598" y="3331022"/>
            <a:ext cx="1752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悬浮的超导体</a:t>
            </a:r>
            <a:endParaRPr lang="zh-CN" altLang="en-US" dirty="0"/>
          </a:p>
        </p:txBody>
      </p:sp>
      <p:sp>
        <p:nvSpPr>
          <p:cNvPr id="6" name="Rectangle 6"/>
          <p:cNvSpPr/>
          <p:nvPr/>
        </p:nvSpPr>
        <p:spPr>
          <a:xfrm>
            <a:off x="4271583" y="560114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4" tooltip="超导型磁共振成像系统"/>
              </a:rPr>
              <a:t>超导型磁共振成像系统</a:t>
            </a:r>
            <a:endParaRPr lang="zh-CN" altLang="en-US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01" y="4007544"/>
            <a:ext cx="2807208" cy="212198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958" y="1221142"/>
            <a:ext cx="3130619" cy="474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7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781068" y="422024"/>
            <a:ext cx="7696200" cy="12302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 smtClean="0"/>
              <a:t>中美在半导体等高科技领域的博弈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659468" y="1274224"/>
            <a:ext cx="906497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美国凭借其在高科技及军事领域的强势，扮演着世界警察的角色：</a:t>
            </a:r>
            <a:endParaRPr lang="en-US" altLang="zh-CN" sz="2400" dirty="0" smtClean="0"/>
          </a:p>
          <a:p>
            <a:endParaRPr lang="en-US" altLang="zh-CN" sz="1000" dirty="0" smtClean="0"/>
          </a:p>
          <a:p>
            <a:endParaRPr lang="en-US" altLang="zh-CN" sz="1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到处部署军事力量，培植</a:t>
            </a:r>
            <a:r>
              <a:rPr lang="zh-CN" altLang="en-US" dirty="0"/>
              <a:t>亲美</a:t>
            </a:r>
            <a:r>
              <a:rPr lang="zh-CN" altLang="en-US" dirty="0" smtClean="0"/>
              <a:t>势力，打击直至推翻反美政权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频频挥舞制裁大棒，干涉别国内政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使用阴谋诡计，阻档它国发展进步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输出美国价值观，维护美国利益</a:t>
            </a:r>
            <a:endParaRPr lang="en-US" altLang="zh-CN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侵蚀它国经济利益，获取美国特权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en-US" sz="2800" dirty="0" smtClean="0"/>
              <a:t>任何事情都有两个方面。</a:t>
            </a:r>
            <a:endParaRPr lang="en-US" altLang="zh-CN" sz="2800" dirty="0" smtClean="0"/>
          </a:p>
          <a:p>
            <a:endParaRPr lang="en-US" altLang="zh-CN" sz="1000" dirty="0" smtClean="0"/>
          </a:p>
          <a:p>
            <a:r>
              <a:rPr lang="zh-CN" altLang="en-US" sz="2800" dirty="0" smtClean="0"/>
              <a:t>我们可以在经济全球化的大趋势下，努力发展自己。</a:t>
            </a:r>
            <a:endParaRPr lang="en-US" altLang="zh-CN" sz="2800" dirty="0"/>
          </a:p>
          <a:p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1874367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8029" y="350018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/>
              <a:t>人</a:t>
            </a:r>
            <a:r>
              <a:rPr lang="zh-CN" altLang="en-US" sz="3600" dirty="0" smtClean="0"/>
              <a:t>类面临的共同难题</a:t>
            </a:r>
            <a:endParaRPr lang="zh-CN" alt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563672" y="1059472"/>
            <a:ext cx="363750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是</a:t>
            </a:r>
            <a:r>
              <a:rPr lang="zh-CN" altLang="en-US" sz="3200" dirty="0" smtClean="0"/>
              <a:t>饥饿？</a:t>
            </a:r>
            <a:endParaRPr lang="en-US" altLang="zh-CN" sz="3200" dirty="0" smtClean="0"/>
          </a:p>
          <a:p>
            <a:r>
              <a:rPr lang="zh-CN" altLang="en-US" sz="3200" dirty="0" smtClean="0"/>
              <a:t>     贫穷？</a:t>
            </a:r>
            <a:endParaRPr lang="en-US" altLang="zh-CN" sz="3200" dirty="0" smtClean="0"/>
          </a:p>
          <a:p>
            <a:r>
              <a:rPr lang="zh-CN" altLang="en-US" sz="3200" dirty="0" smtClean="0"/>
              <a:t>     疾病？</a:t>
            </a:r>
            <a:endParaRPr lang="en-US" altLang="zh-CN" sz="3200" dirty="0" smtClean="0"/>
          </a:p>
          <a:p>
            <a:r>
              <a:rPr lang="zh-CN" altLang="en-US" sz="3200" dirty="0" smtClean="0"/>
              <a:t>     战争？</a:t>
            </a:r>
            <a:endParaRPr lang="en-US" altLang="zh-CN" sz="3200" dirty="0" smtClean="0"/>
          </a:p>
          <a:p>
            <a:r>
              <a:rPr lang="zh-CN" altLang="en-US" sz="4000" dirty="0" smtClean="0"/>
              <a:t>（</a:t>
            </a:r>
            <a:r>
              <a:rPr lang="zh-CN" altLang="en-US" sz="2400" dirty="0" smtClean="0"/>
              <a:t>这些都可以通过人类的努力，很快予以解决</a:t>
            </a:r>
            <a:r>
              <a:rPr lang="zh-CN" altLang="en-US" sz="4000" dirty="0" smtClean="0"/>
              <a:t>）</a:t>
            </a:r>
            <a:endParaRPr lang="en-US" altLang="zh-CN" sz="4000" dirty="0" smtClean="0"/>
          </a:p>
          <a:p>
            <a:endParaRPr lang="en-US" altLang="zh-CN" sz="4000" dirty="0" smtClean="0"/>
          </a:p>
          <a:p>
            <a:pPr algn="ctr"/>
            <a:r>
              <a:rPr lang="zh-CN" altLang="en-US" sz="4000" dirty="0" smtClean="0"/>
              <a:t>能源危机！</a:t>
            </a:r>
            <a:endParaRPr lang="en-US" altLang="zh-CN" sz="4000" dirty="0" smtClean="0"/>
          </a:p>
          <a:p>
            <a:pPr algn="ctr"/>
            <a:r>
              <a:rPr lang="zh-CN" altLang="en-US" sz="4000" dirty="0"/>
              <a:t>气</a:t>
            </a:r>
            <a:r>
              <a:rPr lang="zh-CN" altLang="en-US" sz="4000" dirty="0" smtClean="0"/>
              <a:t>候变暖！</a:t>
            </a:r>
            <a:endParaRPr lang="zh-CN" altLang="en-US" sz="4000" dirty="0"/>
          </a:p>
        </p:txBody>
      </p:sp>
      <p:grpSp>
        <p:nvGrpSpPr>
          <p:cNvPr id="7" name="组合 6"/>
          <p:cNvGrpSpPr/>
          <p:nvPr/>
        </p:nvGrpSpPr>
        <p:grpSpPr>
          <a:xfrm>
            <a:off x="4312742" y="1247362"/>
            <a:ext cx="4728855" cy="4619395"/>
            <a:chOff x="4312742" y="1247362"/>
            <a:chExt cx="4728855" cy="4619395"/>
          </a:xfrm>
        </p:grpSpPr>
        <p:sp>
          <p:nvSpPr>
            <p:cNvPr id="6" name="矩形 5"/>
            <p:cNvSpPr/>
            <p:nvPr/>
          </p:nvSpPr>
          <p:spPr>
            <a:xfrm>
              <a:off x="4312742" y="1247362"/>
              <a:ext cx="4728855" cy="46193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4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1487" y="1571572"/>
              <a:ext cx="4690110" cy="4118025"/>
            </a:xfrm>
            <a:prstGeom prst="rect">
              <a:avLst/>
            </a:prstGeom>
          </p:spPr>
        </p:pic>
      </p:grpSp>
      <p:sp>
        <p:nvSpPr>
          <p:cNvPr id="5" name="TextBox 8"/>
          <p:cNvSpPr txBox="1"/>
          <p:nvPr/>
        </p:nvSpPr>
        <p:spPr>
          <a:xfrm>
            <a:off x="9164522" y="1645426"/>
            <a:ext cx="2819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Possible </a:t>
            </a:r>
            <a:r>
              <a:rPr lang="en-US" altLang="zh-CN" dirty="0"/>
              <a:t>e</a:t>
            </a:r>
            <a:r>
              <a:rPr lang="en-US" altLang="zh-CN" dirty="0" smtClean="0"/>
              <a:t>ffects:</a:t>
            </a:r>
          </a:p>
          <a:p>
            <a:endParaRPr lang="en-US" altLang="zh-CN" dirty="0"/>
          </a:p>
          <a:p>
            <a:pPr lvl="1"/>
            <a:r>
              <a:rPr lang="en-US" altLang="zh-CN" dirty="0" smtClean="0"/>
              <a:t>Rising of the sea level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 smtClean="0"/>
              <a:t>Extreme weathers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Ecosystem </a:t>
            </a:r>
            <a:r>
              <a:rPr lang="en-US" altLang="zh-CN" dirty="0" smtClean="0"/>
              <a:t>changes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</a:t>
            </a:r>
            <a:r>
              <a:rPr lang="en-US" altLang="zh-CN" dirty="0" smtClean="0"/>
              <a:t>hreatens to crop production and public health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 smtClean="0"/>
              <a:t>…………….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0887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8364" y="381000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/>
              <a:t>凝聚</a:t>
            </a:r>
            <a:r>
              <a:rPr lang="zh-CN" altLang="en-US" sz="3600" dirty="0" smtClean="0"/>
              <a:t>态与材料物理学</a:t>
            </a:r>
            <a:endParaRPr lang="zh-CN" alt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258364" y="1532368"/>
            <a:ext cx="7239000" cy="3252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dirty="0" smtClean="0"/>
              <a:t>         没有哪个学科和</a:t>
            </a:r>
            <a:r>
              <a:rPr lang="zh-CN" altLang="en-US" sz="3600" b="1" dirty="0" smtClean="0"/>
              <a:t>人类文明历史</a:t>
            </a:r>
            <a:r>
              <a:rPr lang="zh-CN" altLang="en-US" sz="3600" dirty="0" smtClean="0"/>
              <a:t>、</a:t>
            </a:r>
            <a:r>
              <a:rPr lang="zh-CN" altLang="en-US" sz="3600" b="1" dirty="0" smtClean="0"/>
              <a:t>国家和民族安危</a:t>
            </a:r>
            <a:r>
              <a:rPr lang="zh-CN" altLang="en-US" sz="3600" dirty="0" smtClean="0"/>
              <a:t>、</a:t>
            </a:r>
            <a:r>
              <a:rPr lang="zh-CN" altLang="en-US" sz="3600" b="1" dirty="0" smtClean="0"/>
              <a:t>人类共同命运</a:t>
            </a:r>
            <a:r>
              <a:rPr lang="zh-CN" altLang="en-US" sz="3600" dirty="0" smtClean="0"/>
              <a:t>如此紧密相连！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926891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 smtClean="0"/>
              <a:t>第一章 晶体结构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406399" y="1369963"/>
            <a:ext cx="118194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/>
              <a:t>物质的存在形式：气态、液态、固态（后二者统称凝聚态）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400" dirty="0" smtClean="0"/>
              <a:t>晶体：相同粒子组成，粒子在空间的排列具有周期性（每个粒子周围是全同的），有平移对称性</a:t>
            </a:r>
          </a:p>
          <a:p>
            <a:endParaRPr kumimoji="1" lang="zh-CN" altLang="en-US" sz="2400" dirty="0" smtClean="0"/>
          </a:p>
          <a:p>
            <a:endParaRPr kumimoji="1" lang="zh-CN" altLang="en-US" sz="2400" dirty="0"/>
          </a:p>
        </p:txBody>
      </p:sp>
      <p:cxnSp>
        <p:nvCxnSpPr>
          <p:cNvPr id="5" name="直线箭头连接符 4"/>
          <p:cNvCxnSpPr/>
          <p:nvPr/>
        </p:nvCxnSpPr>
        <p:spPr>
          <a:xfrm flipV="1">
            <a:off x="2481975" y="3230035"/>
            <a:ext cx="489857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13420" b="15421"/>
          <a:stretch>
            <a:fillRect/>
          </a:stretch>
        </p:blipFill>
        <p:spPr>
          <a:xfrm rot="5400000">
            <a:off x="523945" y="2970328"/>
            <a:ext cx="2818030" cy="28028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31542" y="6061285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Helvetica" charset="0"/>
                <a:hlinkClick r:id="rId4"/>
              </a:rPr>
              <a:t>SPM </a:t>
            </a:r>
            <a:r>
              <a:rPr lang="en-US" altLang="zh-CN" dirty="0">
                <a:latin typeface="Helvetica" charset="0"/>
                <a:hlinkClick r:id="rId4"/>
              </a:rPr>
              <a:t>image of graphene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/>
          <a:srcRect r="22692"/>
          <a:stretch>
            <a:fillRect/>
          </a:stretch>
        </p:blipFill>
        <p:spPr>
          <a:xfrm>
            <a:off x="3697465" y="2962730"/>
            <a:ext cx="2723213" cy="281803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6"/>
          <a:srcRect l="10081" t="14123" b="14018"/>
          <a:stretch>
            <a:fillRect/>
          </a:stretch>
        </p:blipFill>
        <p:spPr>
          <a:xfrm>
            <a:off x="6955791" y="2924444"/>
            <a:ext cx="2151006" cy="13731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7"/>
          <a:srcRect l="26401" t="19344" r="26206" b="20753"/>
          <a:stretch>
            <a:fillRect/>
          </a:stretch>
        </p:blipFill>
        <p:spPr>
          <a:xfrm>
            <a:off x="7242951" y="4669032"/>
            <a:ext cx="1773412" cy="14826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8"/>
          <a:srcRect l="4599" t="12238" r="52578" b="5744"/>
          <a:stretch>
            <a:fillRect/>
          </a:stretch>
        </p:blipFill>
        <p:spPr>
          <a:xfrm>
            <a:off x="9883770" y="4755258"/>
            <a:ext cx="1626318" cy="14193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9"/>
          <a:srcRect l="30028" t="3272" r="10140" b="11383"/>
          <a:stretch>
            <a:fillRect/>
          </a:stretch>
        </p:blipFill>
        <p:spPr>
          <a:xfrm>
            <a:off x="9883770" y="2842681"/>
            <a:ext cx="1626318" cy="152906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768132" y="6061285"/>
            <a:ext cx="250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石墨烯的原子结构模型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176202" y="6113205"/>
            <a:ext cx="229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加工</a:t>
            </a:r>
            <a:r>
              <a:rPr lang="zh-CN" altLang="en-US" dirty="0" smtClean="0"/>
              <a:t>后的天然钻石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519522" y="4286080"/>
            <a:ext cx="1305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天然石墨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0123719" y="4348048"/>
            <a:ext cx="1305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天然金属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9720107" y="6195269"/>
            <a:ext cx="229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加工</a:t>
            </a:r>
            <a:r>
              <a:rPr lang="zh-CN" altLang="en-US" dirty="0" smtClean="0"/>
              <a:t>后的贵重金属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 smtClean="0"/>
              <a:t>§1.1</a:t>
            </a:r>
            <a:r>
              <a:rPr kumimoji="1" lang="zh-CN" altLang="en-US" sz="3200" dirty="0" smtClean="0"/>
              <a:t> 晶体的周期结构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675862" y="1142470"/>
            <a:ext cx="110125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1.1.1</a:t>
            </a:r>
            <a:r>
              <a:rPr kumimoji="1" lang="zh-CN" altLang="en-US" sz="2400" dirty="0" smtClean="0"/>
              <a:t> 点阵和基元</a:t>
            </a:r>
          </a:p>
          <a:p>
            <a:endParaRPr kumimoji="1" lang="zh-CN" altLang="en-US" sz="2400" dirty="0"/>
          </a:p>
          <a:p>
            <a:r>
              <a:rPr kumimoji="1" lang="zh-CN" altLang="en-US" sz="2400" u="sng" dirty="0" smtClean="0"/>
              <a:t>晶体的组成粒子</a:t>
            </a:r>
            <a:r>
              <a:rPr kumimoji="1" lang="zh-CN" altLang="en-US" sz="2400" dirty="0" smtClean="0"/>
              <a:t>：用一个点表示，可代表一个原子、分子、或原子集团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400" u="sng" dirty="0" smtClean="0"/>
              <a:t>布拉维</a:t>
            </a:r>
            <a:r>
              <a:rPr kumimoji="1" lang="en-US" altLang="zh-CN" sz="2400" u="sng" dirty="0" smtClean="0"/>
              <a:t>(</a:t>
            </a:r>
            <a:r>
              <a:rPr kumimoji="1" lang="en-US" altLang="zh-CN" sz="2400" u="sng" dirty="0" err="1" smtClean="0"/>
              <a:t>Bravais</a:t>
            </a:r>
            <a:r>
              <a:rPr kumimoji="1" lang="en-US" altLang="zh-CN" sz="2400" u="sng" dirty="0" smtClean="0"/>
              <a:t>)</a:t>
            </a:r>
            <a:r>
              <a:rPr kumimoji="1" lang="zh-CN" altLang="en-US" sz="2400" u="sng" dirty="0" smtClean="0"/>
              <a:t>点阵或格子</a:t>
            </a:r>
            <a:r>
              <a:rPr kumimoji="1" lang="zh-CN" altLang="en-US" sz="2400" dirty="0" smtClean="0"/>
              <a:t>：点的周期性排列构成点阵，或格子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400" u="sng" dirty="0" smtClean="0"/>
              <a:t>基元</a:t>
            </a:r>
            <a:r>
              <a:rPr kumimoji="1" lang="zh-CN" altLang="en-US" sz="2400" dirty="0" smtClean="0"/>
              <a:t>：每种晶体的最小重复单元，即基元</a:t>
            </a:r>
          </a:p>
          <a:p>
            <a:endParaRPr kumimoji="1" lang="zh-CN" altLang="en-US" sz="2400" dirty="0"/>
          </a:p>
          <a:p>
            <a:r>
              <a:rPr kumimoji="1" lang="zh-CN" altLang="en-US" sz="2400" dirty="0" smtClean="0"/>
              <a:t>晶体结构 ＝ 点阵 ＋ 基元</a:t>
            </a:r>
            <a:endParaRPr kumimoji="1" lang="zh-CN" altLang="en-US" sz="2400" dirty="0"/>
          </a:p>
          <a:p>
            <a:endParaRPr kumimoji="1" lang="zh-CN" altLang="en-US" sz="2400" dirty="0" smtClean="0"/>
          </a:p>
          <a:p>
            <a:r>
              <a:rPr kumimoji="1" lang="zh-CN" altLang="en-US" sz="2400" dirty="0"/>
              <a:t>晶体</a:t>
            </a:r>
            <a:r>
              <a:rPr kumimoji="1" lang="zh-CN" altLang="en-US" sz="2400" dirty="0" smtClean="0"/>
              <a:t>结构的变化：点阵不同或基元不同，即形成新的晶体。</a:t>
            </a:r>
          </a:p>
          <a:p>
            <a:endParaRPr kumimoji="1" lang="zh-CN" altLang="en-US" sz="2400" dirty="0"/>
          </a:p>
          <a:p>
            <a:r>
              <a:rPr kumimoji="1" lang="zh-CN" altLang="en-US" sz="2400" dirty="0" smtClean="0"/>
              <a:t>晶体结构的描述是非唯一的 </a:t>
            </a:r>
            <a:r>
              <a:rPr kumimoji="1" lang="en-US" altLang="zh-CN" sz="2400" dirty="0" smtClean="0"/>
              <a:t>(?)</a:t>
            </a:r>
            <a:endParaRPr kumimoji="1" lang="zh-CN" altLang="en-US" sz="2400" dirty="0" smtClean="0"/>
          </a:p>
          <a:p>
            <a:endParaRPr kumimoji="1" lang="zh-CN" altLang="en-US" sz="2400" dirty="0"/>
          </a:p>
          <a:p>
            <a:r>
              <a:rPr kumimoji="1" lang="zh-CN" altLang="en-US" sz="2400" dirty="0" smtClean="0"/>
              <a:t>简单格子和复式格子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1.1</a:t>
            </a:r>
            <a:r>
              <a:rPr kumimoji="1" lang="zh-CN" altLang="en-US" sz="3200" dirty="0" smtClean="0"/>
              <a:t> 晶体的周期结构</a:t>
            </a:r>
            <a:endParaRPr kumimoji="1"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75861" y="1159510"/>
                <a:ext cx="11320195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 smtClean="0">
                    <a:solidFill>
                      <a:schemeClr val="tx1"/>
                    </a:solidFill>
                  </a:rPr>
                  <a:t>1.1.2</a:t>
                </a:r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 原胞的基矢</a:t>
                </a:r>
              </a:p>
              <a:p>
                <a:endParaRPr kumimoji="1" lang="zh-CN" altLang="en-US" sz="2400" dirty="0" smtClean="0">
                  <a:solidFill>
                    <a:schemeClr val="tx1"/>
                  </a:solidFill>
                </a:endParaRPr>
              </a:p>
              <a:p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原胞：点阵中最小的重复单元（平行六面体）</a:t>
                </a:r>
              </a:p>
              <a:p>
                <a:endParaRPr kumimoji="1" lang="zh-CN" altLang="en-US" sz="2400" dirty="0">
                  <a:solidFill>
                    <a:schemeClr val="tx1"/>
                  </a:solidFill>
                </a:endParaRPr>
              </a:p>
              <a:p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原胞的基矢：三个边长构成的矢量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</a:rPr>
                  <a:t>a</a:t>
                </a:r>
                <a:r>
                  <a:rPr kumimoji="1" lang="en-US" altLang="zh-CN" sz="2400" b="1" baseline="-25000" dirty="0">
                    <a:solidFill>
                      <a:schemeClr val="tx1"/>
                    </a:solidFill>
                  </a:rPr>
                  <a:t>1</a:t>
                </a:r>
                <a:r>
                  <a:rPr kumimoji="1" lang="en-US" altLang="zh-CN" sz="2400" dirty="0">
                    <a:solidFill>
                      <a:schemeClr val="tx1"/>
                    </a:solidFill>
                  </a:rPr>
                  <a:t>,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</a:rPr>
                  <a:t>a</a:t>
                </a:r>
                <a:r>
                  <a:rPr kumimoji="1" lang="en-US" altLang="zh-CN" sz="2400" b="1" baseline="-25000" dirty="0">
                    <a:solidFill>
                      <a:schemeClr val="tx1"/>
                    </a:solidFill>
                  </a:rPr>
                  <a:t>2</a:t>
                </a:r>
                <a:r>
                  <a:rPr kumimoji="1" lang="en-US" altLang="zh-CN" sz="2400" dirty="0">
                    <a:solidFill>
                      <a:schemeClr val="tx1"/>
                    </a:solidFill>
                  </a:rPr>
                  <a:t>,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</a:rPr>
                  <a:t>a</a:t>
                </a:r>
                <a:r>
                  <a:rPr kumimoji="1" lang="en-US" altLang="zh-CN" sz="2400" b="1" baseline="-25000" dirty="0">
                    <a:solidFill>
                      <a:schemeClr val="tx1"/>
                    </a:solidFill>
                  </a:rPr>
                  <a:t>3</a:t>
                </a:r>
                <a:endParaRPr kumimoji="1" lang="zh-CN" altLang="en-US" sz="2400" b="1" baseline="-25000" dirty="0">
                  <a:solidFill>
                    <a:schemeClr val="tx1"/>
                  </a:solidFill>
                </a:endParaRPr>
              </a:p>
              <a:p>
                <a:endParaRPr kumimoji="1" lang="zh-CN" altLang="en-US" sz="2400" dirty="0" smtClean="0">
                  <a:solidFill>
                    <a:schemeClr val="tx1"/>
                  </a:solidFill>
                </a:endParaRPr>
              </a:p>
              <a:p>
                <a:r>
                  <a:rPr kumimoji="1" lang="en-US" altLang="zh-CN" sz="2400" b="1" dirty="0" smtClean="0">
                    <a:solidFill>
                      <a:schemeClr val="tx1"/>
                    </a:solidFill>
                  </a:rPr>
                  <a:t>a</a:t>
                </a:r>
                <a:r>
                  <a:rPr kumimoji="1" lang="en-US" altLang="zh-CN" sz="2400" b="1" baseline="-25000" dirty="0" smtClean="0">
                    <a:solidFill>
                      <a:schemeClr val="tx1"/>
                    </a:solidFill>
                  </a:rPr>
                  <a:t>1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</a:rPr>
                  <a:t> · ( a</a:t>
                </a:r>
                <a:r>
                  <a:rPr kumimoji="1" lang="en-US" altLang="zh-CN" sz="2400" b="1" baseline="-25000" dirty="0" smtClean="0">
                    <a:solidFill>
                      <a:schemeClr val="tx1"/>
                    </a:solidFill>
                  </a:rPr>
                  <a:t>2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</a:rPr>
                  <a:t> X a</a:t>
                </a:r>
                <a:r>
                  <a:rPr kumimoji="1" lang="en-US" altLang="zh-CN" sz="2400" b="1" baseline="-25000" dirty="0" smtClean="0">
                    <a:solidFill>
                      <a:schemeClr val="tx1"/>
                    </a:solidFill>
                  </a:rPr>
                  <a:t>3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</a:rPr>
                  <a:t>)</a:t>
                </a:r>
                <a:r>
                  <a:rPr kumimoji="1" lang="en-US" altLang="zh-CN" sz="2400" b="1" baseline="-25000" dirty="0" smtClean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</a:rPr>
                  <a:t>=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Symbol" charset="2"/>
                    <a:ea typeface="Symbol" charset="2"/>
                    <a:cs typeface="Symbol" charset="2"/>
                  </a:rPr>
                  <a:t>W</a:t>
                </a:r>
                <a:endParaRPr kumimoji="1" lang="zh-CN" altLang="en-US" sz="2400" b="1" dirty="0">
                  <a:solidFill>
                    <a:schemeClr val="tx1"/>
                  </a:solidFill>
                </a:endParaRPr>
              </a:p>
              <a:p>
                <a:endParaRPr kumimoji="1" lang="zh-CN" altLang="en-US" sz="2400" dirty="0">
                  <a:solidFill>
                    <a:schemeClr val="tx1"/>
                  </a:solidFill>
                </a:endParaRPr>
              </a:p>
              <a:p>
                <a:r>
                  <a:rPr kumimoji="1" lang="en-US" altLang="zh-CN" sz="2400" b="1" dirty="0">
                    <a:solidFill>
                      <a:schemeClr val="tx1"/>
                    </a:solidFill>
                    <a:latin typeface="Symbol" charset="2"/>
                    <a:ea typeface="Symbol" charset="2"/>
                    <a:cs typeface="Symbol" charset="2"/>
                  </a:rPr>
                  <a:t>W</a:t>
                </a:r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即一个格点所占空间体积</a:t>
                </a:r>
              </a:p>
              <a:p>
                <a:endParaRPr kumimoji="1" lang="zh-CN" altLang="en-US" sz="2400" dirty="0">
                  <a:solidFill>
                    <a:schemeClr val="tx1"/>
                  </a:solidFill>
                </a:endParaRPr>
              </a:p>
              <a:p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原胞的选取是非唯一的</a:t>
                </a:r>
              </a:p>
              <a:p>
                <a:endParaRPr kumimoji="1" lang="zh-CN" altLang="en-US" sz="2400" dirty="0">
                  <a:solidFill>
                    <a:schemeClr val="tx1"/>
                  </a:solidFill>
                </a:endParaRPr>
              </a:p>
              <a:p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三个基矢也是平移不变的最小矢量</a:t>
                </a:r>
              </a:p>
              <a:p>
                <a:endParaRPr kumimoji="1" lang="zh-CN" altLang="en-US" sz="2400" dirty="0">
                  <a:solidFill>
                    <a:schemeClr val="tx1"/>
                  </a:solidFill>
                </a:endParaRPr>
              </a:p>
              <a:p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点阵（正格矢）：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kumimoji="1" lang="en-US" altLang="zh-CN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kumimoji="1"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kumimoji="1" lang="en-US" altLang="zh-CN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，其中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zh-CN" altLang="en-US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、</m:t>
                    </m:r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zh-CN" altLang="en-US" sz="2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、</m:t>
                    </m:r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kumimoji="1" lang="zh-CN" altLang="en-US" sz="2400" dirty="0" smtClean="0">
                    <a:solidFill>
                      <a:schemeClr val="tx1"/>
                    </a:solidFill>
                  </a:rPr>
                  <a:t>为整数。</a:t>
                </a:r>
              </a:p>
              <a:p>
                <a:endParaRPr kumimoji="1"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61" y="1159510"/>
                <a:ext cx="11320195" cy="6001643"/>
              </a:xfrm>
              <a:prstGeom prst="rect">
                <a:avLst/>
              </a:prstGeom>
              <a:blipFill rotWithShape="1">
                <a:blip r:embed="rId3"/>
                <a:stretch>
                  <a:fillRect l="-2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/>
          <p:cNvSpPr/>
          <p:nvPr/>
        </p:nvSpPr>
        <p:spPr>
          <a:xfrm>
            <a:off x="1113183" y="3577146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47468" y="4280908"/>
            <a:ext cx="191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</a:t>
            </a:r>
            <a:r>
              <a:rPr lang="en-US" altLang="zh-CN" baseline="-25000" dirty="0" smtClean="0"/>
              <a:t>1</a:t>
            </a:r>
            <a:endParaRPr lang="zh-CN" altLang="en-US" baseline="-25000" dirty="0"/>
          </a:p>
        </p:txBody>
      </p:sp>
      <p:sp>
        <p:nvSpPr>
          <p:cNvPr id="8" name="文本框 7"/>
          <p:cNvSpPr txBox="1"/>
          <p:nvPr/>
        </p:nvSpPr>
        <p:spPr>
          <a:xfrm>
            <a:off x="8182498" y="3834794"/>
            <a:ext cx="191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10" name="文本框 9"/>
          <p:cNvSpPr txBox="1"/>
          <p:nvPr/>
        </p:nvSpPr>
        <p:spPr>
          <a:xfrm>
            <a:off x="7949743" y="3302772"/>
            <a:ext cx="191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l="5374" t="5347" r="5222" b="5074"/>
          <a:stretch>
            <a:fillRect/>
          </a:stretch>
        </p:blipFill>
        <p:spPr>
          <a:xfrm>
            <a:off x="7154431" y="1376631"/>
            <a:ext cx="4521760" cy="4223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1.1</a:t>
            </a:r>
            <a:r>
              <a:rPr kumimoji="1" lang="zh-CN" altLang="en-US" sz="3200" dirty="0" smtClean="0"/>
              <a:t> 晶体的周期结构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675862" y="1420762"/>
            <a:ext cx="110125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1.1.3</a:t>
            </a:r>
            <a:r>
              <a:rPr kumimoji="1" lang="zh-CN" altLang="en-US" sz="2400" dirty="0" smtClean="0"/>
              <a:t> 晶胞 （晶体学原胞）</a:t>
            </a:r>
            <a:endParaRPr kumimoji="1" lang="en-US" altLang="zh-CN" sz="2400" dirty="0" smtClean="0"/>
          </a:p>
          <a:p>
            <a:endParaRPr kumimoji="1" lang="zh-CN" altLang="en-US" sz="2400" dirty="0" smtClean="0"/>
          </a:p>
          <a:p>
            <a:r>
              <a:rPr kumimoji="1" lang="zh-CN" altLang="en-US" sz="2400" dirty="0" smtClean="0"/>
              <a:t>晶胞：同时考虑晶体的对称性所选取的重复单元</a:t>
            </a:r>
          </a:p>
          <a:p>
            <a:endParaRPr kumimoji="1" lang="zh-CN" altLang="en-US" sz="2400" dirty="0"/>
          </a:p>
          <a:p>
            <a:r>
              <a:rPr kumimoji="1" lang="zh-CN" altLang="en-US" sz="2400" dirty="0" smtClean="0"/>
              <a:t>晶胞体积</a:t>
            </a:r>
          </a:p>
          <a:p>
            <a:endParaRPr kumimoji="1" lang="zh-CN" altLang="en-US" sz="2400" dirty="0"/>
          </a:p>
          <a:p>
            <a:r>
              <a:rPr kumimoji="1" lang="zh-CN" altLang="en-US" sz="2400" dirty="0" smtClean="0"/>
              <a:t>晶胞基矢</a:t>
            </a:r>
          </a:p>
          <a:p>
            <a:endParaRPr kumimoji="1" lang="zh-CN" altLang="en-US" sz="2400" dirty="0" smtClean="0"/>
          </a:p>
          <a:p>
            <a:r>
              <a:rPr kumimoji="1" lang="en-US" altLang="zh-CN" sz="2400" dirty="0" smtClean="0"/>
              <a:t>1.1.4</a:t>
            </a:r>
            <a:r>
              <a:rPr kumimoji="1" lang="zh-CN" altLang="en-US" sz="2400" dirty="0" smtClean="0"/>
              <a:t> 维格纳－赛茨原胞</a:t>
            </a:r>
          </a:p>
          <a:p>
            <a:endParaRPr kumimoji="1" lang="zh-CN" altLang="en-US" sz="2400" dirty="0"/>
          </a:p>
          <a:p>
            <a:r>
              <a:rPr kumimoji="1" lang="zh-CN" altLang="en-US" sz="2400" dirty="0"/>
              <a:t>既</a:t>
            </a:r>
            <a:r>
              <a:rPr kumimoji="1" lang="zh-CN" altLang="en-US" sz="2400" dirty="0" smtClean="0"/>
              <a:t>体现对称性，单元体积又最小的重复单元</a:t>
            </a:r>
            <a:endParaRPr kumimoji="1" lang="zh-CN" altLang="en-US" sz="2400" dirty="0"/>
          </a:p>
          <a:p>
            <a:endParaRPr kumimoji="1" lang="zh-CN" altLang="en-US" sz="2400" dirty="0"/>
          </a:p>
          <a:p>
            <a:endParaRPr kumimoji="1" lang="zh-CN" altLang="en-US" sz="2400" dirty="0" smtClean="0"/>
          </a:p>
          <a:p>
            <a:endParaRPr kumimoji="1"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 smtClean="0"/>
              <a:t>§1.1</a:t>
            </a:r>
            <a:r>
              <a:rPr kumimoji="1" lang="zh-CN" altLang="en-US" sz="3200" dirty="0" smtClean="0"/>
              <a:t> 晶体的周期结构</a:t>
            </a:r>
            <a:endParaRPr kumimoji="1"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396615" y="6226810"/>
            <a:ext cx="6400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（点阵举例，近似</a:t>
            </a:r>
            <a:r>
              <a:rPr lang="zh-CN" altLang="en-US" sz="2800" dirty="0"/>
              <a:t>石墨</a:t>
            </a:r>
            <a:r>
              <a:rPr lang="zh-CN" altLang="en-US" sz="2800" dirty="0" smtClean="0"/>
              <a:t>烯（？）的点阵）</a:t>
            </a: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94" y="1294204"/>
            <a:ext cx="8161614" cy="460683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r="22692"/>
          <a:stretch>
            <a:fillRect/>
          </a:stretch>
        </p:blipFill>
        <p:spPr>
          <a:xfrm>
            <a:off x="139619" y="1443834"/>
            <a:ext cx="3804371" cy="39368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1.2</a:t>
            </a:r>
            <a:r>
              <a:rPr kumimoji="1" lang="zh-CN" altLang="en-US" sz="3200" dirty="0" smtClean="0"/>
              <a:t> 十四种布拉维格子和七大晶系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565330" y="1215851"/>
            <a:ext cx="598619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1.2.1</a:t>
            </a:r>
            <a:r>
              <a:rPr kumimoji="1" lang="zh-CN" altLang="en-US" sz="2400" dirty="0" smtClean="0"/>
              <a:t> 布拉维点阵的晶胞类型</a:t>
            </a:r>
          </a:p>
          <a:p>
            <a:endParaRPr kumimoji="1" lang="zh-CN" altLang="en-US" sz="2400" dirty="0"/>
          </a:p>
          <a:p>
            <a:r>
              <a:rPr kumimoji="1" lang="zh-CN" altLang="en-US" sz="2400" dirty="0" smtClean="0"/>
              <a:t>由于受到对称性的限制，布拉维格子只有</a:t>
            </a:r>
            <a:r>
              <a:rPr kumimoji="1" lang="en-US" altLang="zh-CN" sz="2400" dirty="0" smtClean="0"/>
              <a:t>14</a:t>
            </a:r>
            <a:r>
              <a:rPr kumimoji="1" lang="zh-CN" altLang="en-US" sz="2400" dirty="0" smtClean="0"/>
              <a:t>种晶胞类型，即简式三斜、简式单斜、</a:t>
            </a:r>
          </a:p>
          <a:p>
            <a:r>
              <a:rPr kumimoji="1" lang="zh-CN" altLang="en-US" sz="2400" dirty="0" smtClean="0"/>
              <a:t>底心单斜、简式正交、底心正交、体心正交、面心正交、六角、三角、简式四角、体心四角、简立方、体心立方、面心立方等</a:t>
            </a:r>
          </a:p>
          <a:p>
            <a:endParaRPr kumimoji="1" lang="zh-CN" altLang="en-US" sz="2400" dirty="0" smtClean="0"/>
          </a:p>
          <a:p>
            <a:r>
              <a:rPr kumimoji="1" lang="en-US" altLang="zh-CN" sz="2400" dirty="0" smtClean="0"/>
              <a:t>1.2.2</a:t>
            </a:r>
            <a:r>
              <a:rPr kumimoji="1" lang="zh-CN" altLang="en-US" sz="2400" dirty="0" smtClean="0"/>
              <a:t> 晶系</a:t>
            </a:r>
            <a:endParaRPr kumimoji="1" lang="zh-CN" altLang="en-US" sz="2400" dirty="0"/>
          </a:p>
          <a:p>
            <a:endParaRPr kumimoji="1" lang="zh-CN" altLang="en-US" sz="2400" dirty="0"/>
          </a:p>
          <a:p>
            <a:r>
              <a:rPr kumimoji="1" lang="zh-CN" altLang="en-US" sz="2400" dirty="0" smtClean="0"/>
              <a:t>考虑晶胞形状，这</a:t>
            </a:r>
            <a:r>
              <a:rPr kumimoji="1" lang="en-US" altLang="zh-CN" sz="2400" dirty="0" smtClean="0"/>
              <a:t>14</a:t>
            </a:r>
            <a:r>
              <a:rPr kumimoji="1" lang="zh-CN" altLang="en-US" sz="2400" dirty="0" smtClean="0"/>
              <a:t>种又可归入七大晶系，即三斜、单斜、正交、三角、四角、六角、立方晶系等</a:t>
            </a:r>
          </a:p>
          <a:p>
            <a:endParaRPr kumimoji="1" lang="zh-CN" altLang="en-US" sz="2400" dirty="0"/>
          </a:p>
          <a:p>
            <a:r>
              <a:rPr kumimoji="1" lang="zh-CN" altLang="en-US" sz="2400" dirty="0"/>
              <a:t>问题：</a:t>
            </a:r>
            <a:r>
              <a:rPr kumimoji="1" lang="zh-CN" altLang="en-US" sz="2400" b="1" dirty="0"/>
              <a:t>三斜与面心立方的单胞各是什么？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14228" r="11231"/>
          <a:stretch>
            <a:fillRect/>
          </a:stretch>
        </p:blipFill>
        <p:spPr>
          <a:xfrm>
            <a:off x="6983608" y="1125418"/>
            <a:ext cx="4461466" cy="5513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1.3</a:t>
            </a:r>
            <a:r>
              <a:rPr kumimoji="1" lang="zh-CN" altLang="en-US" sz="3200" dirty="0" smtClean="0"/>
              <a:t> 典型的晶体结构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42900" y="1279438"/>
            <a:ext cx="671104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1.3.1</a:t>
            </a:r>
            <a:r>
              <a:rPr kumimoji="1" lang="zh-CN" altLang="en-US" sz="2400" dirty="0" smtClean="0"/>
              <a:t> 面心立方及有关的复式格子 </a:t>
            </a:r>
          </a:p>
          <a:p>
            <a:r>
              <a:rPr kumimoji="1" lang="zh-CN" altLang="en-US" sz="2400" dirty="0" smtClean="0"/>
              <a:t>（一）面心立方结构</a:t>
            </a:r>
          </a:p>
          <a:p>
            <a:r>
              <a:rPr kumimoji="1" lang="zh-CN" altLang="en-US" sz="2000" dirty="0" smtClean="0"/>
              <a:t>设</a:t>
            </a:r>
            <a:r>
              <a:rPr kumimoji="1" lang="en-US" altLang="zh-CN" sz="2000" b="1" dirty="0"/>
              <a:t>i</a:t>
            </a:r>
            <a:r>
              <a:rPr kumimoji="1" lang="en-US" altLang="zh-CN" sz="2000" dirty="0" smtClean="0"/>
              <a:t>, </a:t>
            </a:r>
            <a:r>
              <a:rPr kumimoji="1" lang="en-US" altLang="zh-CN" sz="2000" b="1" dirty="0" smtClean="0"/>
              <a:t>j</a:t>
            </a:r>
            <a:r>
              <a:rPr kumimoji="1" lang="en-US" altLang="zh-CN" sz="2000" dirty="0" smtClean="0"/>
              <a:t>, </a:t>
            </a:r>
            <a:r>
              <a:rPr kumimoji="1" lang="en-US" altLang="zh-CN" sz="2000" b="1" dirty="0" smtClean="0"/>
              <a:t>k</a:t>
            </a:r>
            <a:r>
              <a:rPr kumimoji="1" lang="zh-CN" altLang="en-US" sz="2000" dirty="0" smtClean="0"/>
              <a:t>为沿三个边的基矢，则原胞基矢：</a:t>
            </a:r>
            <a:r>
              <a:rPr kumimoji="1" lang="en-US" altLang="zh-CN" sz="2000" dirty="0" smtClean="0"/>
              <a:t>	</a:t>
            </a:r>
            <a:r>
              <a:rPr kumimoji="1" lang="en-US" altLang="zh-CN" sz="2000" b="1" dirty="0" smtClean="0"/>
              <a:t>a</a:t>
            </a:r>
            <a:r>
              <a:rPr kumimoji="1" lang="en-US" altLang="zh-CN" sz="2000" baseline="-25000" dirty="0" smtClean="0"/>
              <a:t>1</a:t>
            </a:r>
            <a:r>
              <a:rPr kumimoji="1" lang="en-US" altLang="zh-CN" sz="2000" dirty="0" smtClean="0"/>
              <a:t>=a/2(</a:t>
            </a:r>
            <a:r>
              <a:rPr kumimoji="1" lang="en-US" altLang="zh-CN" sz="2000" b="1" dirty="0" err="1" smtClean="0"/>
              <a:t>j</a:t>
            </a:r>
            <a:r>
              <a:rPr kumimoji="1" lang="en-US" altLang="zh-CN" sz="2000" dirty="0" err="1" smtClean="0"/>
              <a:t>+</a:t>
            </a:r>
            <a:r>
              <a:rPr kumimoji="1" lang="en-US" altLang="zh-CN" sz="2000" b="1" dirty="0" err="1" smtClean="0"/>
              <a:t>k</a:t>
            </a:r>
            <a:r>
              <a:rPr kumimoji="1" lang="en-US" altLang="zh-CN" sz="2000" dirty="0" smtClean="0"/>
              <a:t>)</a:t>
            </a:r>
          </a:p>
          <a:p>
            <a:r>
              <a:rPr kumimoji="1" lang="en-US" altLang="zh-CN" sz="2000" dirty="0"/>
              <a:t>	</a:t>
            </a:r>
            <a:r>
              <a:rPr kumimoji="1" lang="en-US" altLang="zh-CN" sz="2000" dirty="0" smtClean="0"/>
              <a:t>				</a:t>
            </a:r>
            <a:r>
              <a:rPr kumimoji="1" lang="en-US" altLang="zh-CN" sz="2000" b="1" dirty="0" smtClean="0"/>
              <a:t>a</a:t>
            </a:r>
            <a:r>
              <a:rPr kumimoji="1" lang="en-US" altLang="zh-CN" sz="2000" baseline="-25000" dirty="0" smtClean="0"/>
              <a:t>2</a:t>
            </a:r>
            <a:r>
              <a:rPr kumimoji="1" lang="en-US" altLang="zh-CN" sz="2000" dirty="0" smtClean="0"/>
              <a:t>=a/2(</a:t>
            </a:r>
            <a:r>
              <a:rPr kumimoji="1" lang="en-US" altLang="zh-CN" sz="2000" b="1" dirty="0" err="1" smtClean="0"/>
              <a:t>k</a:t>
            </a:r>
            <a:r>
              <a:rPr kumimoji="1" lang="en-US" altLang="zh-CN" sz="2000" dirty="0" err="1" smtClean="0"/>
              <a:t>+</a:t>
            </a:r>
            <a:r>
              <a:rPr kumimoji="1" lang="en-US" altLang="zh-CN" sz="2000" b="1" dirty="0" err="1" smtClean="0"/>
              <a:t>i</a:t>
            </a:r>
            <a:r>
              <a:rPr kumimoji="1" lang="en-US" altLang="zh-CN" sz="2000" dirty="0" smtClean="0"/>
              <a:t>)</a:t>
            </a:r>
          </a:p>
          <a:p>
            <a:r>
              <a:rPr kumimoji="1" lang="en-US" altLang="zh-CN" sz="2000" dirty="0"/>
              <a:t>	</a:t>
            </a:r>
            <a:r>
              <a:rPr kumimoji="1" lang="en-US" altLang="zh-CN" sz="2000" dirty="0" smtClean="0"/>
              <a:t>				</a:t>
            </a:r>
            <a:r>
              <a:rPr kumimoji="1" lang="en-US" altLang="zh-CN" sz="2000" b="1" dirty="0" smtClean="0"/>
              <a:t>a</a:t>
            </a:r>
            <a:r>
              <a:rPr kumimoji="1" lang="en-US" altLang="zh-CN" sz="2000" baseline="-25000" dirty="0" smtClean="0"/>
              <a:t>3</a:t>
            </a:r>
            <a:r>
              <a:rPr kumimoji="1" lang="en-US" altLang="zh-CN" sz="2000" dirty="0" smtClean="0"/>
              <a:t>=a/2(</a:t>
            </a:r>
            <a:r>
              <a:rPr kumimoji="1" lang="en-US" altLang="zh-CN" sz="2000" b="1" dirty="0" err="1" smtClean="0"/>
              <a:t>i</a:t>
            </a:r>
            <a:r>
              <a:rPr kumimoji="1" lang="en-US" altLang="zh-CN" sz="2000" dirty="0" err="1" smtClean="0"/>
              <a:t>+</a:t>
            </a:r>
            <a:r>
              <a:rPr kumimoji="1" lang="en-US" altLang="zh-CN" sz="2000" b="1" dirty="0" err="1" smtClean="0"/>
              <a:t>j</a:t>
            </a:r>
            <a:r>
              <a:rPr kumimoji="1" lang="en-US" altLang="zh-CN" sz="2000" dirty="0" smtClean="0"/>
              <a:t>)</a:t>
            </a:r>
          </a:p>
          <a:p>
            <a:r>
              <a:rPr kumimoji="1" lang="zh-CN" altLang="en-US" sz="2000" dirty="0" smtClean="0"/>
              <a:t>有：</a:t>
            </a:r>
            <a:r>
              <a:rPr kumimoji="1" lang="en-US" altLang="zh-CN" sz="2000" b="1" dirty="0" smtClean="0">
                <a:latin typeface="Symbol" charset="2"/>
                <a:ea typeface="Symbol" charset="2"/>
                <a:cs typeface="Symbol" charset="2"/>
              </a:rPr>
              <a:t>W</a:t>
            </a:r>
            <a:r>
              <a:rPr kumimoji="1" lang="zh-CN" altLang="en-US" sz="2000" b="1" dirty="0" smtClean="0">
                <a:latin typeface="Symbol" charset="2"/>
                <a:ea typeface="Symbol" charset="2"/>
                <a:cs typeface="Symbol" charset="2"/>
              </a:rPr>
              <a:t> </a:t>
            </a:r>
            <a:r>
              <a:rPr kumimoji="1" lang="en-US" altLang="zh-CN" sz="2000" b="1" dirty="0" smtClean="0"/>
              <a:t>=</a:t>
            </a:r>
            <a:r>
              <a:rPr kumimoji="1" lang="zh-CN" altLang="en-US" sz="2000" b="1" dirty="0" smtClean="0"/>
              <a:t> </a:t>
            </a:r>
            <a:r>
              <a:rPr kumimoji="1" lang="en-US" altLang="zh-CN" sz="2000" b="1" dirty="0" smtClean="0"/>
              <a:t>a</a:t>
            </a:r>
            <a:r>
              <a:rPr kumimoji="1" lang="en-US" altLang="zh-CN" sz="2000" b="1" baseline="-25000" dirty="0" smtClean="0"/>
              <a:t>1</a:t>
            </a:r>
            <a:r>
              <a:rPr kumimoji="1" lang="en-US" altLang="zh-CN" sz="2000" b="1" dirty="0" smtClean="0"/>
              <a:t> · </a:t>
            </a:r>
            <a:r>
              <a:rPr kumimoji="1" lang="en-US" altLang="zh-CN" sz="2000" b="1" dirty="0"/>
              <a:t>( a</a:t>
            </a:r>
            <a:r>
              <a:rPr kumimoji="1" lang="en-US" altLang="zh-CN" sz="2000" b="1" baseline="-25000" dirty="0"/>
              <a:t>2</a:t>
            </a:r>
            <a:r>
              <a:rPr kumimoji="1" lang="en-US" altLang="zh-CN" sz="2000" b="1" dirty="0"/>
              <a:t> X a</a:t>
            </a:r>
            <a:r>
              <a:rPr kumimoji="1" lang="en-US" altLang="zh-CN" sz="2000" b="1" baseline="-25000" dirty="0"/>
              <a:t>3 </a:t>
            </a:r>
            <a:r>
              <a:rPr kumimoji="1" lang="en-US" altLang="zh-CN" sz="2000" b="1" dirty="0" smtClean="0"/>
              <a:t>)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 smtClean="0"/>
              <a:t>=</a:t>
            </a:r>
            <a:r>
              <a:rPr kumimoji="1" lang="en-US" altLang="zh-CN" sz="2000" dirty="0" smtClean="0"/>
              <a:t>a</a:t>
            </a:r>
            <a:r>
              <a:rPr kumimoji="1" lang="en-US" altLang="zh-CN" sz="2000" baseline="30000" dirty="0" smtClean="0"/>
              <a:t>3</a:t>
            </a:r>
            <a:r>
              <a:rPr kumimoji="1" lang="en-US" altLang="zh-CN" sz="2000" dirty="0" smtClean="0"/>
              <a:t>/4</a:t>
            </a:r>
          </a:p>
          <a:p>
            <a:endParaRPr kumimoji="1" lang="zh-CN" altLang="en-US" sz="2000" dirty="0" smtClean="0"/>
          </a:p>
          <a:p>
            <a:r>
              <a:rPr kumimoji="1" lang="zh-CN" altLang="en-US" sz="2000" dirty="0" smtClean="0"/>
              <a:t>问题：每个格点等价吗？每个格点有多少最近邻？</a:t>
            </a:r>
          </a:p>
          <a:p>
            <a:endParaRPr kumimoji="1" lang="zh-CN" altLang="en-US" sz="2000" dirty="0" smtClean="0"/>
          </a:p>
          <a:p>
            <a:r>
              <a:rPr kumimoji="1" lang="zh-CN" altLang="en-US" sz="2000" dirty="0" smtClean="0"/>
              <a:t>面心立方结构的晶体有：</a:t>
            </a:r>
            <a:r>
              <a:rPr kumimoji="1" lang="en-US" altLang="zh-CN" sz="2000" dirty="0" smtClean="0"/>
              <a:t>Ni, Al, </a:t>
            </a:r>
            <a:r>
              <a:rPr kumimoji="1" lang="en-US" altLang="zh-CN" sz="2000" dirty="0" err="1" smtClean="0"/>
              <a:t>Pb</a:t>
            </a:r>
            <a:r>
              <a:rPr kumimoji="1" lang="en-US" altLang="zh-CN" sz="2000" dirty="0" smtClean="0"/>
              <a:t>, Cu, Ag, Au, Ne, </a:t>
            </a:r>
            <a:r>
              <a:rPr kumimoji="1" lang="en-US" altLang="zh-CN" sz="2000" dirty="0" err="1" smtClean="0"/>
              <a:t>Ar</a:t>
            </a:r>
            <a:r>
              <a:rPr kumimoji="1" lang="en-US" altLang="zh-CN" sz="2000" dirty="0" smtClean="0"/>
              <a:t>, Kr, </a:t>
            </a:r>
            <a:r>
              <a:rPr kumimoji="1" lang="en-US" altLang="zh-CN" sz="2000" dirty="0" err="1" smtClean="0"/>
              <a:t>Xe</a:t>
            </a:r>
            <a:r>
              <a:rPr kumimoji="1" lang="zh-CN" altLang="en-US" sz="2000" dirty="0" smtClean="0"/>
              <a:t>等</a:t>
            </a:r>
          </a:p>
          <a:p>
            <a:endParaRPr kumimoji="1" lang="en-US" altLang="zh-CN" sz="2400" dirty="0" smtClean="0"/>
          </a:p>
          <a:p>
            <a:r>
              <a:rPr kumimoji="1" lang="zh-CN" altLang="en-US" sz="2400" dirty="0" smtClean="0"/>
              <a:t>（二）氯化钠型结构（两个面心嵌套，为什么？）</a:t>
            </a:r>
          </a:p>
          <a:p>
            <a:r>
              <a:rPr kumimoji="1" lang="zh-CN" altLang="en-US" sz="2000" dirty="0"/>
              <a:t>问题：</a:t>
            </a:r>
            <a:r>
              <a:rPr kumimoji="1" lang="zh-CN" altLang="en-US" sz="2000" dirty="0" smtClean="0"/>
              <a:t>每个</a:t>
            </a:r>
            <a:r>
              <a:rPr kumimoji="1" lang="en-US" altLang="zh-CN" sz="2000" dirty="0" smtClean="0"/>
              <a:t>Cl</a:t>
            </a:r>
            <a:r>
              <a:rPr kumimoji="1" lang="zh-CN" altLang="en-US" sz="2000" dirty="0" smtClean="0"/>
              <a:t>等价</a:t>
            </a:r>
            <a:r>
              <a:rPr kumimoji="1" lang="zh-CN" altLang="en-US" sz="2000" dirty="0"/>
              <a:t>吗</a:t>
            </a:r>
            <a:r>
              <a:rPr kumimoji="1" lang="zh-CN" altLang="en-US" sz="2000" dirty="0" smtClean="0"/>
              <a:t>？每个</a:t>
            </a:r>
            <a:r>
              <a:rPr kumimoji="1" lang="en-US" altLang="zh-CN" sz="2000" dirty="0" smtClean="0"/>
              <a:t>Cl</a:t>
            </a:r>
            <a:r>
              <a:rPr kumimoji="1" lang="zh-CN" altLang="en-US" sz="2000" dirty="0" smtClean="0"/>
              <a:t>有</a:t>
            </a:r>
            <a:r>
              <a:rPr kumimoji="1" lang="zh-CN" altLang="en-US" sz="2000" dirty="0"/>
              <a:t>多少最近邻</a:t>
            </a:r>
            <a:r>
              <a:rPr kumimoji="1" lang="zh-CN" altLang="en-US" sz="2000" dirty="0" smtClean="0"/>
              <a:t>？</a:t>
            </a:r>
            <a:r>
              <a:rPr kumimoji="1" lang="en-US" altLang="zh-CN" sz="2000" dirty="0" smtClean="0"/>
              <a:t>Na</a:t>
            </a:r>
            <a:r>
              <a:rPr kumimoji="1" lang="zh-CN" altLang="en-US" sz="2000" dirty="0" smtClean="0"/>
              <a:t>呢</a:t>
            </a:r>
            <a:r>
              <a:rPr kumimoji="1" lang="zh-CN" altLang="en-US" sz="2000" dirty="0"/>
              <a:t>？</a:t>
            </a:r>
            <a:r>
              <a:rPr kumimoji="1" lang="zh-CN" altLang="en-US" sz="2000" dirty="0" smtClean="0"/>
              <a:t>每个</a:t>
            </a:r>
            <a:r>
              <a:rPr kumimoji="1" lang="en-US" altLang="zh-CN" sz="2000" dirty="0" err="1" smtClean="0"/>
              <a:t>NaCl</a:t>
            </a:r>
            <a:r>
              <a:rPr kumimoji="1" lang="zh-CN" altLang="en-US" sz="2000" dirty="0"/>
              <a:t>有多少最近</a:t>
            </a:r>
            <a:r>
              <a:rPr kumimoji="1" lang="zh-CN" altLang="en-US" sz="2000" dirty="0" smtClean="0"/>
              <a:t>邻</a:t>
            </a:r>
            <a:r>
              <a:rPr kumimoji="1" lang="en-US" altLang="zh-CN" sz="2000" dirty="0" err="1" smtClean="0"/>
              <a:t>NaCl</a:t>
            </a:r>
            <a:r>
              <a:rPr kumimoji="1" lang="zh-CN" altLang="en-US" sz="2000" dirty="0" smtClean="0"/>
              <a:t>分子？</a:t>
            </a:r>
            <a:endParaRPr kumimoji="1" lang="zh-CN" altLang="en-US" sz="2000" dirty="0"/>
          </a:p>
          <a:p>
            <a:endParaRPr kumimoji="1" lang="zh-CN" altLang="en-US" sz="2400" dirty="0" smtClean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7" t="9015" r="19707" b="68120"/>
          <a:stretch>
            <a:fillRect/>
          </a:stretch>
        </p:blipFill>
        <p:spPr>
          <a:xfrm>
            <a:off x="7053942" y="1038573"/>
            <a:ext cx="4813162" cy="267187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0" t="43648" r="52681" b="31123"/>
          <a:stretch>
            <a:fillRect/>
          </a:stretch>
        </p:blipFill>
        <p:spPr>
          <a:xfrm>
            <a:off x="8028634" y="3826549"/>
            <a:ext cx="3004681" cy="2827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1.3</a:t>
            </a:r>
            <a:r>
              <a:rPr kumimoji="1" lang="zh-CN" altLang="en-US" sz="3200" dirty="0" smtClean="0"/>
              <a:t> 典型的晶体结构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596435" y="1460518"/>
            <a:ext cx="486986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1.3.1</a:t>
            </a:r>
            <a:r>
              <a:rPr kumimoji="1" lang="zh-CN" altLang="en-US" sz="2400" dirty="0" smtClean="0"/>
              <a:t> 面心立方及有关的复式格子 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400" dirty="0" smtClean="0"/>
              <a:t>（三）金刚石结构</a:t>
            </a:r>
            <a:r>
              <a:rPr kumimoji="1" lang="zh-CN" altLang="en-US" sz="2400" dirty="0"/>
              <a:t>（两个面心嵌套）</a:t>
            </a:r>
          </a:p>
          <a:p>
            <a:r>
              <a:rPr kumimoji="1" lang="zh-CN" altLang="en-US" sz="2000" dirty="0"/>
              <a:t>问题：</a:t>
            </a:r>
            <a:r>
              <a:rPr kumimoji="1" lang="zh-CN" altLang="en-US" sz="2000" dirty="0" smtClean="0"/>
              <a:t>每个</a:t>
            </a:r>
            <a:r>
              <a:rPr kumimoji="1" lang="en-US" altLang="zh-CN" sz="2000" dirty="0" smtClean="0"/>
              <a:t>C</a:t>
            </a:r>
            <a:r>
              <a:rPr kumimoji="1" lang="zh-CN" altLang="en-US" sz="2000" dirty="0" smtClean="0"/>
              <a:t>等价</a:t>
            </a:r>
            <a:r>
              <a:rPr kumimoji="1" lang="zh-CN" altLang="en-US" sz="2000" dirty="0"/>
              <a:t>吗？</a:t>
            </a:r>
            <a:r>
              <a:rPr kumimoji="1" lang="zh-CN" altLang="en-US" sz="2000" dirty="0" smtClean="0"/>
              <a:t>每个</a:t>
            </a:r>
            <a:r>
              <a:rPr kumimoji="1" lang="en-US" altLang="zh-CN" sz="2000" dirty="0" smtClean="0"/>
              <a:t>C</a:t>
            </a:r>
            <a:r>
              <a:rPr kumimoji="1" lang="zh-CN" altLang="en-US" sz="2000" dirty="0" smtClean="0"/>
              <a:t>有</a:t>
            </a:r>
            <a:r>
              <a:rPr kumimoji="1" lang="zh-CN" altLang="en-US" sz="2000" dirty="0"/>
              <a:t>多少最近邻</a:t>
            </a:r>
            <a:r>
              <a:rPr kumimoji="1" lang="zh-CN" altLang="en-US" sz="2000" dirty="0" smtClean="0"/>
              <a:t>？</a:t>
            </a:r>
          </a:p>
          <a:p>
            <a:r>
              <a:rPr kumimoji="1" lang="en-US" altLang="zh-CN" sz="2000" dirty="0" smtClean="0"/>
              <a:t>Si, Ge</a:t>
            </a:r>
            <a:r>
              <a:rPr kumimoji="1" lang="zh-CN" altLang="en-US" sz="2000" dirty="0" smtClean="0"/>
              <a:t>等都是</a:t>
            </a:r>
            <a:r>
              <a:rPr kumimoji="1" lang="zh-CN" altLang="en-US" sz="2000" dirty="0"/>
              <a:t>金刚石</a:t>
            </a:r>
            <a:r>
              <a:rPr kumimoji="1" lang="zh-CN" altLang="en-US" sz="2000" dirty="0" smtClean="0"/>
              <a:t>结构（</a:t>
            </a:r>
            <a:r>
              <a:rPr kumimoji="1" lang="zh-CN" altLang="en-US" sz="2000" i="1" dirty="0" smtClean="0"/>
              <a:t>面心的每个四面体中再嵌入一个碳原子</a:t>
            </a:r>
            <a:r>
              <a:rPr kumimoji="1" lang="zh-CN" altLang="en-US" sz="2000" dirty="0" smtClean="0"/>
              <a:t>）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400" dirty="0" smtClean="0"/>
              <a:t>（四）闪锌矿结构</a:t>
            </a:r>
            <a:r>
              <a:rPr kumimoji="1" lang="zh-CN" altLang="en-US" sz="2400" dirty="0"/>
              <a:t>（两个面心嵌套</a:t>
            </a:r>
            <a:r>
              <a:rPr kumimoji="1" lang="zh-CN" altLang="en-US" sz="2400" dirty="0" smtClean="0"/>
              <a:t>）</a:t>
            </a:r>
          </a:p>
          <a:p>
            <a:r>
              <a:rPr kumimoji="1" lang="zh-CN" altLang="en-US" sz="2000" dirty="0"/>
              <a:t>问题：</a:t>
            </a:r>
            <a:r>
              <a:rPr kumimoji="1" lang="zh-CN" altLang="en-US" sz="2000" dirty="0" smtClean="0"/>
              <a:t>每个</a:t>
            </a:r>
            <a:r>
              <a:rPr kumimoji="1" lang="en-US" altLang="zh-CN" sz="2000" dirty="0" smtClean="0"/>
              <a:t>Zn(S)</a:t>
            </a:r>
            <a:r>
              <a:rPr kumimoji="1" lang="zh-CN" altLang="en-US" sz="2000" dirty="0" smtClean="0"/>
              <a:t>等价</a:t>
            </a:r>
            <a:r>
              <a:rPr kumimoji="1" lang="zh-CN" altLang="en-US" sz="2000" dirty="0"/>
              <a:t>吗？</a:t>
            </a:r>
            <a:r>
              <a:rPr kumimoji="1" lang="zh-CN" altLang="en-US" sz="2000" dirty="0" smtClean="0"/>
              <a:t>每个</a:t>
            </a:r>
            <a:r>
              <a:rPr kumimoji="1" lang="en-US" altLang="zh-CN" sz="2000" dirty="0"/>
              <a:t>Zn(S)</a:t>
            </a:r>
            <a:r>
              <a:rPr kumimoji="1" lang="zh-CN" altLang="en-US" sz="2000" dirty="0" smtClean="0"/>
              <a:t>有</a:t>
            </a:r>
            <a:r>
              <a:rPr kumimoji="1" lang="zh-CN" altLang="en-US" sz="2000" dirty="0"/>
              <a:t>多少最近邻</a:t>
            </a:r>
            <a:r>
              <a:rPr kumimoji="1" lang="zh-CN" altLang="en-US" sz="2000" dirty="0" smtClean="0"/>
              <a:t>？</a:t>
            </a:r>
            <a:endParaRPr kumimoji="1" lang="en-US" altLang="zh-CN" sz="2000" dirty="0" smtClean="0"/>
          </a:p>
          <a:p>
            <a:r>
              <a:rPr kumimoji="1" lang="zh-CN" altLang="en-US" sz="2000" dirty="0" smtClean="0"/>
              <a:t>很多</a:t>
            </a:r>
            <a:r>
              <a:rPr kumimoji="1" lang="en-US" altLang="zh-CN" sz="2000" dirty="0" smtClean="0"/>
              <a:t>III-V</a:t>
            </a:r>
            <a:r>
              <a:rPr kumimoji="1" lang="zh-CN" altLang="en-US" sz="2000" dirty="0" smtClean="0"/>
              <a:t>族半导体都是</a:t>
            </a:r>
            <a:r>
              <a:rPr kumimoji="1" lang="zh-CN" altLang="en-US" sz="2000" dirty="0"/>
              <a:t>闪锌矿结构</a:t>
            </a:r>
          </a:p>
          <a:p>
            <a:endParaRPr kumimoji="1"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0" t="10131" r="15777" b="63860"/>
          <a:stretch>
            <a:fillRect/>
          </a:stretch>
        </p:blipFill>
        <p:spPr>
          <a:xfrm>
            <a:off x="5677319" y="2016683"/>
            <a:ext cx="6121893" cy="3128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1.3</a:t>
            </a:r>
            <a:r>
              <a:rPr kumimoji="1" lang="zh-CN" altLang="en-US" sz="3200" dirty="0" smtClean="0"/>
              <a:t> 典型的晶体结构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596435" y="1460518"/>
            <a:ext cx="11012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  <a:p>
            <a:endParaRPr kumimoji="1" lang="zh-CN" altLang="en-US" sz="2400" dirty="0"/>
          </a:p>
          <a:p>
            <a:endParaRPr kumimoji="1"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596435" y="1304162"/>
            <a:ext cx="462870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1.3.2</a:t>
            </a:r>
            <a:r>
              <a:rPr kumimoji="1" lang="zh-CN" altLang="en-US" sz="2400" dirty="0"/>
              <a:t> 体心立方及氯化铯</a:t>
            </a:r>
            <a:r>
              <a:rPr kumimoji="1" lang="zh-CN" altLang="en-US" sz="2400" dirty="0" smtClean="0"/>
              <a:t>结构 </a:t>
            </a:r>
          </a:p>
          <a:p>
            <a:r>
              <a:rPr kumimoji="1" lang="zh-CN" altLang="en-US" sz="2400" dirty="0" smtClean="0"/>
              <a:t>（一）体心立方结构</a:t>
            </a:r>
          </a:p>
          <a:p>
            <a:r>
              <a:rPr kumimoji="1" lang="zh-CN" altLang="en-US" sz="2000" dirty="0" smtClean="0"/>
              <a:t>设</a:t>
            </a:r>
            <a:r>
              <a:rPr kumimoji="1" lang="en-US" altLang="zh-CN" sz="2000" b="1" dirty="0"/>
              <a:t>i</a:t>
            </a:r>
            <a:r>
              <a:rPr kumimoji="1" lang="en-US" altLang="zh-CN" sz="2000" dirty="0" smtClean="0"/>
              <a:t>, </a:t>
            </a:r>
            <a:r>
              <a:rPr kumimoji="1" lang="en-US" altLang="zh-CN" sz="2000" b="1" dirty="0" smtClean="0"/>
              <a:t>j</a:t>
            </a:r>
            <a:r>
              <a:rPr kumimoji="1" lang="en-US" altLang="zh-CN" sz="2000" dirty="0" smtClean="0"/>
              <a:t>, </a:t>
            </a:r>
            <a:r>
              <a:rPr kumimoji="1" lang="en-US" altLang="zh-CN" sz="2000" b="1" dirty="0" smtClean="0"/>
              <a:t>k</a:t>
            </a:r>
            <a:r>
              <a:rPr kumimoji="1" lang="zh-CN" altLang="en-US" sz="2000" dirty="0" smtClean="0"/>
              <a:t>为沿三个边的基矢，则原胞基矢：</a:t>
            </a:r>
            <a:endParaRPr kumimoji="1" lang="en-US" altLang="zh-CN" sz="2000" dirty="0" smtClean="0"/>
          </a:p>
          <a:p>
            <a:r>
              <a:rPr kumimoji="1" lang="en-US" altLang="zh-CN" sz="2000" dirty="0" smtClean="0"/>
              <a:t>	</a:t>
            </a:r>
            <a:r>
              <a:rPr kumimoji="1" lang="en-US" altLang="zh-CN" sz="2000" b="1" dirty="0" smtClean="0"/>
              <a:t>a</a:t>
            </a:r>
            <a:r>
              <a:rPr kumimoji="1" lang="en-US" altLang="zh-CN" sz="2000" baseline="-25000" dirty="0" smtClean="0"/>
              <a:t>1</a:t>
            </a:r>
            <a:r>
              <a:rPr kumimoji="1" lang="en-US" altLang="zh-CN" sz="2000" dirty="0" smtClean="0"/>
              <a:t>=a/2(</a:t>
            </a:r>
            <a:r>
              <a:rPr kumimoji="1" lang="en-US" altLang="zh-CN" sz="2000" b="1" dirty="0" smtClean="0"/>
              <a:t>-</a:t>
            </a:r>
            <a:r>
              <a:rPr kumimoji="1" lang="en-US" altLang="zh-CN" sz="2000" b="1" dirty="0" err="1" smtClean="0"/>
              <a:t>i</a:t>
            </a:r>
            <a:r>
              <a:rPr kumimoji="1" lang="en-US" altLang="zh-CN" sz="2000" dirty="0" err="1" smtClean="0"/>
              <a:t>+</a:t>
            </a:r>
            <a:r>
              <a:rPr kumimoji="1" lang="en-US" altLang="zh-CN" sz="2000" b="1" dirty="0" err="1" smtClean="0"/>
              <a:t>j</a:t>
            </a:r>
            <a:r>
              <a:rPr kumimoji="1" lang="en-US" altLang="zh-CN" sz="2000" dirty="0" err="1" smtClean="0"/>
              <a:t>+</a:t>
            </a:r>
            <a:r>
              <a:rPr kumimoji="1" lang="en-US" altLang="zh-CN" sz="2000" b="1" dirty="0" err="1" smtClean="0"/>
              <a:t>k</a:t>
            </a:r>
            <a:r>
              <a:rPr kumimoji="1" lang="en-US" altLang="zh-CN" sz="2000" dirty="0" smtClean="0"/>
              <a:t>)</a:t>
            </a:r>
          </a:p>
          <a:p>
            <a:r>
              <a:rPr kumimoji="1" lang="en-US" altLang="zh-CN" sz="2000" dirty="0"/>
              <a:t>	</a:t>
            </a:r>
            <a:r>
              <a:rPr kumimoji="1" lang="en-US" altLang="zh-CN" sz="2000" b="1" dirty="0" smtClean="0"/>
              <a:t>a</a:t>
            </a:r>
            <a:r>
              <a:rPr kumimoji="1" lang="en-US" altLang="zh-CN" sz="2000" baseline="-25000" dirty="0" smtClean="0"/>
              <a:t>2</a:t>
            </a:r>
            <a:r>
              <a:rPr kumimoji="1" lang="en-US" altLang="zh-CN" sz="2000" dirty="0" smtClean="0"/>
              <a:t>=a/2(</a:t>
            </a:r>
            <a:r>
              <a:rPr kumimoji="1" lang="en-US" altLang="zh-CN" sz="2000" b="1" dirty="0" err="1" smtClean="0"/>
              <a:t>i-j</a:t>
            </a:r>
            <a:r>
              <a:rPr kumimoji="1" lang="en-US" altLang="zh-CN" sz="2000" dirty="0" err="1" smtClean="0"/>
              <a:t>+</a:t>
            </a:r>
            <a:r>
              <a:rPr kumimoji="1" lang="en-US" altLang="zh-CN" sz="2000" b="1" dirty="0" err="1" smtClean="0"/>
              <a:t>k</a:t>
            </a:r>
            <a:r>
              <a:rPr kumimoji="1" lang="en-US" altLang="zh-CN" sz="2000" dirty="0" smtClean="0"/>
              <a:t>)</a:t>
            </a:r>
          </a:p>
          <a:p>
            <a:r>
              <a:rPr kumimoji="1" lang="en-US" altLang="zh-CN" sz="2000" dirty="0"/>
              <a:t>	</a:t>
            </a:r>
            <a:r>
              <a:rPr kumimoji="1" lang="en-US" altLang="zh-CN" sz="2000" b="1" dirty="0" smtClean="0"/>
              <a:t>a</a:t>
            </a:r>
            <a:r>
              <a:rPr kumimoji="1" lang="en-US" altLang="zh-CN" sz="2000" baseline="-25000" dirty="0" smtClean="0"/>
              <a:t>3</a:t>
            </a:r>
            <a:r>
              <a:rPr kumimoji="1" lang="en-US" altLang="zh-CN" sz="2000" dirty="0" smtClean="0"/>
              <a:t>=a/2(</a:t>
            </a:r>
            <a:r>
              <a:rPr kumimoji="1" lang="en-US" altLang="zh-CN" sz="2000" b="1" dirty="0" err="1" smtClean="0"/>
              <a:t>i</a:t>
            </a:r>
            <a:r>
              <a:rPr kumimoji="1" lang="en-US" altLang="zh-CN" sz="2000" dirty="0" err="1" smtClean="0"/>
              <a:t>+</a:t>
            </a:r>
            <a:r>
              <a:rPr kumimoji="1" lang="en-US" altLang="zh-CN" sz="2000" b="1" dirty="0" err="1" smtClean="0"/>
              <a:t>j-k</a:t>
            </a:r>
            <a:r>
              <a:rPr kumimoji="1" lang="en-US" altLang="zh-CN" sz="2000" dirty="0" smtClean="0"/>
              <a:t>)</a:t>
            </a:r>
          </a:p>
          <a:p>
            <a:r>
              <a:rPr kumimoji="1" lang="zh-CN" altLang="en-US" sz="2000" dirty="0" smtClean="0"/>
              <a:t>有：</a:t>
            </a:r>
            <a:r>
              <a:rPr kumimoji="1" lang="en-US" altLang="zh-CN" sz="2000" b="1" dirty="0" smtClean="0">
                <a:latin typeface="Symbol" charset="2"/>
                <a:ea typeface="Symbol" charset="2"/>
                <a:cs typeface="Symbol" charset="2"/>
              </a:rPr>
              <a:t>W</a:t>
            </a:r>
            <a:r>
              <a:rPr kumimoji="1" lang="zh-CN" altLang="en-US" sz="2000" b="1" dirty="0" smtClean="0">
                <a:latin typeface="Symbol" charset="2"/>
                <a:ea typeface="Symbol" charset="2"/>
                <a:cs typeface="Symbol" charset="2"/>
              </a:rPr>
              <a:t> </a:t>
            </a:r>
            <a:r>
              <a:rPr kumimoji="1" lang="en-US" altLang="zh-CN" sz="2000" b="1" dirty="0" smtClean="0"/>
              <a:t>=</a:t>
            </a:r>
            <a:r>
              <a:rPr kumimoji="1" lang="zh-CN" altLang="en-US" sz="2000" b="1" dirty="0" smtClean="0"/>
              <a:t> </a:t>
            </a:r>
            <a:r>
              <a:rPr kumimoji="1" lang="en-US" altLang="zh-CN" sz="2000" b="1" dirty="0" smtClean="0"/>
              <a:t>a</a:t>
            </a:r>
            <a:r>
              <a:rPr kumimoji="1" lang="en-US" altLang="zh-CN" sz="2000" b="1" baseline="-25000" dirty="0" smtClean="0"/>
              <a:t>1</a:t>
            </a:r>
            <a:r>
              <a:rPr kumimoji="1" lang="en-US" altLang="zh-CN" sz="2000" b="1" dirty="0" smtClean="0"/>
              <a:t> · </a:t>
            </a:r>
            <a:r>
              <a:rPr kumimoji="1" lang="en-US" altLang="zh-CN" sz="2000" b="1" dirty="0"/>
              <a:t>( a</a:t>
            </a:r>
            <a:r>
              <a:rPr kumimoji="1" lang="en-US" altLang="zh-CN" sz="2000" b="1" baseline="-25000" dirty="0"/>
              <a:t>2</a:t>
            </a:r>
            <a:r>
              <a:rPr kumimoji="1" lang="en-US" altLang="zh-CN" sz="2000" b="1" dirty="0"/>
              <a:t> X a</a:t>
            </a:r>
            <a:r>
              <a:rPr kumimoji="1" lang="en-US" altLang="zh-CN" sz="2000" b="1" baseline="-25000" dirty="0"/>
              <a:t>3 </a:t>
            </a:r>
            <a:r>
              <a:rPr kumimoji="1" lang="en-US" altLang="zh-CN" sz="2000" b="1" dirty="0" smtClean="0"/>
              <a:t>)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 smtClean="0"/>
              <a:t>=</a:t>
            </a:r>
            <a:r>
              <a:rPr kumimoji="1" lang="en-US" altLang="zh-CN" sz="2000" dirty="0" smtClean="0"/>
              <a:t>a</a:t>
            </a:r>
            <a:r>
              <a:rPr kumimoji="1" lang="en-US" altLang="zh-CN" sz="2000" baseline="30000" dirty="0" smtClean="0"/>
              <a:t>3</a:t>
            </a:r>
            <a:r>
              <a:rPr kumimoji="1" lang="en-US" altLang="zh-CN" sz="2000" dirty="0" smtClean="0"/>
              <a:t>/2</a:t>
            </a:r>
          </a:p>
          <a:p>
            <a:r>
              <a:rPr kumimoji="1" lang="zh-CN" altLang="en-US" sz="2000" dirty="0" smtClean="0"/>
              <a:t>问题：每个格点等价吗？每个格点有多少最近邻？</a:t>
            </a:r>
          </a:p>
          <a:p>
            <a:endParaRPr kumimoji="1" lang="en-US" altLang="zh-CN" sz="2000" dirty="0" smtClean="0"/>
          </a:p>
        </p:txBody>
      </p:sp>
      <p:sp>
        <p:nvSpPr>
          <p:cNvPr id="7" name="椭圆 6"/>
          <p:cNvSpPr/>
          <p:nvPr/>
        </p:nvSpPr>
        <p:spPr>
          <a:xfrm>
            <a:off x="5840154" y="4049097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9" t="60428" r="18340" b="13562"/>
          <a:stretch>
            <a:fillRect/>
          </a:stretch>
        </p:blipFill>
        <p:spPr>
          <a:xfrm>
            <a:off x="5618076" y="1147451"/>
            <a:ext cx="5990915" cy="35129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9" t="18330" r="53553" b="55031"/>
          <a:stretch>
            <a:fillRect/>
          </a:stretch>
        </p:blipFill>
        <p:spPr>
          <a:xfrm>
            <a:off x="2015951" y="4273681"/>
            <a:ext cx="2200589" cy="239804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412508" y="5472706"/>
            <a:ext cx="6096000" cy="104644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1" lang="zh-CN" altLang="en-US" sz="2400" dirty="0"/>
              <a:t>（二）氯化铯型结构</a:t>
            </a:r>
          </a:p>
          <a:p>
            <a:r>
              <a:rPr kumimoji="1" lang="zh-CN" altLang="en-US" dirty="0"/>
              <a:t>问题：简单格子还是复式格子？</a:t>
            </a:r>
          </a:p>
          <a:p>
            <a:endParaRPr kumimoji="1"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1.3</a:t>
            </a:r>
            <a:r>
              <a:rPr kumimoji="1" lang="zh-CN" altLang="en-US" sz="3200" dirty="0" smtClean="0"/>
              <a:t> 典型的晶体结构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596435" y="1460518"/>
            <a:ext cx="110125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1.3.3</a:t>
            </a:r>
            <a:r>
              <a:rPr kumimoji="1" lang="zh-CN" altLang="en-US" sz="2400" dirty="0" smtClean="0"/>
              <a:t> 密集型结构</a:t>
            </a:r>
          </a:p>
          <a:p>
            <a:r>
              <a:rPr kumimoji="1" lang="zh-CN" altLang="en-US" sz="2400" dirty="0" smtClean="0"/>
              <a:t>（一）六角密集结构</a:t>
            </a:r>
            <a:r>
              <a:rPr kumimoji="1" lang="en-US" altLang="zh-CN" sz="2400" dirty="0" smtClean="0"/>
              <a:t>(ABABAB</a:t>
            </a:r>
            <a:r>
              <a:rPr kumimoji="1" lang="is-IS" altLang="zh-CN" sz="2400" dirty="0" smtClean="0"/>
              <a:t>…</a:t>
            </a:r>
            <a:r>
              <a:rPr kumimoji="1" lang="en-US" altLang="zh-CN" sz="2400" dirty="0" smtClean="0"/>
              <a:t>)</a:t>
            </a:r>
            <a:endParaRPr kumimoji="1" lang="zh-CN" altLang="en-US" sz="2400" dirty="0"/>
          </a:p>
          <a:p>
            <a:r>
              <a:rPr kumimoji="1" lang="zh-CN" altLang="en-US" sz="2400" dirty="0" smtClean="0"/>
              <a:t>（二）立方密集结构</a:t>
            </a:r>
            <a:r>
              <a:rPr kumimoji="1" lang="en-US" altLang="zh-CN" sz="2400" dirty="0" smtClean="0"/>
              <a:t>(ABCABC</a:t>
            </a:r>
            <a:r>
              <a:rPr kumimoji="1" lang="is-IS" altLang="zh-CN" sz="2400" dirty="0" smtClean="0"/>
              <a:t>…</a:t>
            </a:r>
            <a:r>
              <a:rPr kumimoji="1" lang="en-US" altLang="zh-CN" sz="2400" dirty="0" smtClean="0"/>
              <a:t>)</a:t>
            </a:r>
            <a:endParaRPr kumimoji="1" lang="zh-CN" altLang="en-US" sz="2400" dirty="0" smtClean="0"/>
          </a:p>
          <a:p>
            <a:endParaRPr kumimoji="1" lang="zh-CN" altLang="en-US" sz="2400" dirty="0" smtClean="0"/>
          </a:p>
          <a:p>
            <a:r>
              <a:rPr kumimoji="1" lang="zh-CN" altLang="en-US" sz="2400" dirty="0" smtClean="0"/>
              <a:t>问题</a:t>
            </a:r>
            <a:r>
              <a:rPr kumimoji="1" lang="zh-CN" altLang="en-US" sz="2400" dirty="0"/>
              <a:t>：每个格点等价吗？每个格点有多少最近邻？立方密集</a:t>
            </a:r>
            <a:r>
              <a:rPr kumimoji="1" lang="zh-CN" altLang="en-US" sz="2400" dirty="0" smtClean="0"/>
              <a:t>结构是面心立方吗？</a:t>
            </a:r>
            <a:endParaRPr kumimoji="1" lang="zh-CN" altLang="en-US" sz="2400" dirty="0"/>
          </a:p>
          <a:p>
            <a:endParaRPr kumimoji="1" lang="zh-CN" altLang="en-US" sz="2400" dirty="0"/>
          </a:p>
        </p:txBody>
      </p:sp>
      <p:grpSp>
        <p:nvGrpSpPr>
          <p:cNvPr id="40" name="组 39"/>
          <p:cNvGrpSpPr/>
          <p:nvPr/>
        </p:nvGrpSpPr>
        <p:grpSpPr>
          <a:xfrm>
            <a:off x="1117320" y="4175543"/>
            <a:ext cx="3906900" cy="1576248"/>
            <a:chOff x="2798284" y="4084187"/>
            <a:chExt cx="3906900" cy="1576248"/>
          </a:xfrm>
        </p:grpSpPr>
        <p:sp>
          <p:nvSpPr>
            <p:cNvPr id="5" name="椭圆 4"/>
            <p:cNvSpPr/>
            <p:nvPr/>
          </p:nvSpPr>
          <p:spPr>
            <a:xfrm>
              <a:off x="279828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24901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71473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18045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64617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11189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557761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04333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02563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47636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394208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440780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487352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33924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580496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627068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280078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325151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371723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418295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64867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11439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58011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604583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302813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47886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4458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41030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487602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34174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580746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627318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组 40"/>
          <p:cNvGrpSpPr/>
          <p:nvPr/>
        </p:nvGrpSpPr>
        <p:grpSpPr>
          <a:xfrm>
            <a:off x="1117320" y="3946289"/>
            <a:ext cx="3906900" cy="1576248"/>
            <a:chOff x="2798284" y="4084187"/>
            <a:chExt cx="3906900" cy="1576248"/>
          </a:xfrm>
          <a:noFill/>
        </p:grpSpPr>
        <p:sp>
          <p:nvSpPr>
            <p:cNvPr id="42" name="椭圆 41"/>
            <p:cNvSpPr/>
            <p:nvPr/>
          </p:nvSpPr>
          <p:spPr>
            <a:xfrm>
              <a:off x="279828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324901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71473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418045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464617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11189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557761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604333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302563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347636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394208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440780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487352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533924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580496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627068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280078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325151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371723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418295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464867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511439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>
              <a:off x="558011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604583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302813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347886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8" name="椭圆 67"/>
            <p:cNvSpPr/>
            <p:nvPr/>
          </p:nvSpPr>
          <p:spPr>
            <a:xfrm>
              <a:off x="394458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441030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487602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534174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580746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627318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组 73"/>
          <p:cNvGrpSpPr/>
          <p:nvPr/>
        </p:nvGrpSpPr>
        <p:grpSpPr>
          <a:xfrm>
            <a:off x="6815760" y="3959543"/>
            <a:ext cx="3906900" cy="1576248"/>
            <a:chOff x="2798284" y="4084187"/>
            <a:chExt cx="3906900" cy="1576248"/>
          </a:xfrm>
        </p:grpSpPr>
        <p:sp>
          <p:nvSpPr>
            <p:cNvPr id="75" name="椭圆 74"/>
            <p:cNvSpPr/>
            <p:nvPr/>
          </p:nvSpPr>
          <p:spPr>
            <a:xfrm>
              <a:off x="279828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324901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371473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418045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464617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511189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557761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6043334" y="408418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椭圆 82"/>
            <p:cNvSpPr/>
            <p:nvPr/>
          </p:nvSpPr>
          <p:spPr>
            <a:xfrm>
              <a:off x="302563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347636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394208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440780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487352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椭圆 87"/>
            <p:cNvSpPr/>
            <p:nvPr/>
          </p:nvSpPr>
          <p:spPr>
            <a:xfrm>
              <a:off x="533924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580496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椭圆 89"/>
            <p:cNvSpPr/>
            <p:nvPr/>
          </p:nvSpPr>
          <p:spPr>
            <a:xfrm>
              <a:off x="6270684" y="4461437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280078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椭圆 91"/>
            <p:cNvSpPr/>
            <p:nvPr/>
          </p:nvSpPr>
          <p:spPr>
            <a:xfrm>
              <a:off x="325151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椭圆 92"/>
            <p:cNvSpPr/>
            <p:nvPr/>
          </p:nvSpPr>
          <p:spPr>
            <a:xfrm>
              <a:off x="371723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椭圆 93"/>
            <p:cNvSpPr/>
            <p:nvPr/>
          </p:nvSpPr>
          <p:spPr>
            <a:xfrm>
              <a:off x="418295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椭圆 94"/>
            <p:cNvSpPr/>
            <p:nvPr/>
          </p:nvSpPr>
          <p:spPr>
            <a:xfrm>
              <a:off x="464867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椭圆 95"/>
            <p:cNvSpPr/>
            <p:nvPr/>
          </p:nvSpPr>
          <p:spPr>
            <a:xfrm>
              <a:off x="511439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>
              <a:off x="558011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6045834" y="485118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9" name="椭圆 98"/>
            <p:cNvSpPr/>
            <p:nvPr/>
          </p:nvSpPr>
          <p:spPr>
            <a:xfrm>
              <a:off x="302813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椭圆 99"/>
            <p:cNvSpPr/>
            <p:nvPr/>
          </p:nvSpPr>
          <p:spPr>
            <a:xfrm>
              <a:off x="347886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" name="椭圆 100"/>
            <p:cNvSpPr/>
            <p:nvPr/>
          </p:nvSpPr>
          <p:spPr>
            <a:xfrm>
              <a:off x="394458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" name="椭圆 101"/>
            <p:cNvSpPr/>
            <p:nvPr/>
          </p:nvSpPr>
          <p:spPr>
            <a:xfrm>
              <a:off x="441030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椭圆 102"/>
            <p:cNvSpPr/>
            <p:nvPr/>
          </p:nvSpPr>
          <p:spPr>
            <a:xfrm>
              <a:off x="487602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椭圆 103"/>
            <p:cNvSpPr/>
            <p:nvPr/>
          </p:nvSpPr>
          <p:spPr>
            <a:xfrm>
              <a:off x="534174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580746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椭圆 105"/>
            <p:cNvSpPr/>
            <p:nvPr/>
          </p:nvSpPr>
          <p:spPr>
            <a:xfrm>
              <a:off x="6273184" y="5228435"/>
              <a:ext cx="432000" cy="4320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组 106"/>
          <p:cNvGrpSpPr/>
          <p:nvPr/>
        </p:nvGrpSpPr>
        <p:grpSpPr>
          <a:xfrm>
            <a:off x="6815760" y="3959543"/>
            <a:ext cx="3906900" cy="1576248"/>
            <a:chOff x="2798284" y="4084187"/>
            <a:chExt cx="3906900" cy="1576248"/>
          </a:xfrm>
          <a:noFill/>
        </p:grpSpPr>
        <p:sp>
          <p:nvSpPr>
            <p:cNvPr id="108" name="椭圆 107"/>
            <p:cNvSpPr/>
            <p:nvPr/>
          </p:nvSpPr>
          <p:spPr>
            <a:xfrm>
              <a:off x="279828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24901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371473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418045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464617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3" name="椭圆 112"/>
            <p:cNvSpPr/>
            <p:nvPr/>
          </p:nvSpPr>
          <p:spPr>
            <a:xfrm>
              <a:off x="511189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4" name="椭圆 113"/>
            <p:cNvSpPr/>
            <p:nvPr/>
          </p:nvSpPr>
          <p:spPr>
            <a:xfrm>
              <a:off x="557761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椭圆 114"/>
            <p:cNvSpPr/>
            <p:nvPr/>
          </p:nvSpPr>
          <p:spPr>
            <a:xfrm>
              <a:off x="604333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302563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椭圆 116"/>
            <p:cNvSpPr/>
            <p:nvPr/>
          </p:nvSpPr>
          <p:spPr>
            <a:xfrm>
              <a:off x="347636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椭圆 117"/>
            <p:cNvSpPr/>
            <p:nvPr/>
          </p:nvSpPr>
          <p:spPr>
            <a:xfrm>
              <a:off x="394208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440780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487352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1" name="椭圆 120"/>
            <p:cNvSpPr/>
            <p:nvPr/>
          </p:nvSpPr>
          <p:spPr>
            <a:xfrm>
              <a:off x="533924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椭圆 121"/>
            <p:cNvSpPr/>
            <p:nvPr/>
          </p:nvSpPr>
          <p:spPr>
            <a:xfrm>
              <a:off x="580496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3" name="椭圆 122"/>
            <p:cNvSpPr/>
            <p:nvPr/>
          </p:nvSpPr>
          <p:spPr>
            <a:xfrm>
              <a:off x="627068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4" name="椭圆 123"/>
            <p:cNvSpPr/>
            <p:nvPr/>
          </p:nvSpPr>
          <p:spPr>
            <a:xfrm>
              <a:off x="280078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>
              <a:off x="325151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371723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418295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>
              <a:off x="464867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9" name="椭圆 128"/>
            <p:cNvSpPr/>
            <p:nvPr/>
          </p:nvSpPr>
          <p:spPr>
            <a:xfrm>
              <a:off x="511439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椭圆 129"/>
            <p:cNvSpPr/>
            <p:nvPr/>
          </p:nvSpPr>
          <p:spPr>
            <a:xfrm>
              <a:off x="558011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1" name="椭圆 130"/>
            <p:cNvSpPr/>
            <p:nvPr/>
          </p:nvSpPr>
          <p:spPr>
            <a:xfrm>
              <a:off x="604583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2" name="椭圆 131"/>
            <p:cNvSpPr/>
            <p:nvPr/>
          </p:nvSpPr>
          <p:spPr>
            <a:xfrm>
              <a:off x="302813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3" name="椭圆 132"/>
            <p:cNvSpPr/>
            <p:nvPr/>
          </p:nvSpPr>
          <p:spPr>
            <a:xfrm>
              <a:off x="347886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椭圆 133"/>
            <p:cNvSpPr/>
            <p:nvPr/>
          </p:nvSpPr>
          <p:spPr>
            <a:xfrm>
              <a:off x="394458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5" name="椭圆 134"/>
            <p:cNvSpPr/>
            <p:nvPr/>
          </p:nvSpPr>
          <p:spPr>
            <a:xfrm>
              <a:off x="441030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6" name="椭圆 135"/>
            <p:cNvSpPr/>
            <p:nvPr/>
          </p:nvSpPr>
          <p:spPr>
            <a:xfrm>
              <a:off x="487602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534174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>
              <a:off x="580746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627318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0" name="组 139"/>
          <p:cNvGrpSpPr/>
          <p:nvPr/>
        </p:nvGrpSpPr>
        <p:grpSpPr>
          <a:xfrm>
            <a:off x="883346" y="4077564"/>
            <a:ext cx="3906900" cy="1576248"/>
            <a:chOff x="2798284" y="4084187"/>
            <a:chExt cx="3906900" cy="1576248"/>
          </a:xfrm>
          <a:noFill/>
        </p:grpSpPr>
        <p:sp>
          <p:nvSpPr>
            <p:cNvPr id="141" name="椭圆 140"/>
            <p:cNvSpPr/>
            <p:nvPr/>
          </p:nvSpPr>
          <p:spPr>
            <a:xfrm>
              <a:off x="279828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2" name="椭圆 141"/>
            <p:cNvSpPr/>
            <p:nvPr/>
          </p:nvSpPr>
          <p:spPr>
            <a:xfrm>
              <a:off x="324901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3" name="椭圆 142"/>
            <p:cNvSpPr/>
            <p:nvPr/>
          </p:nvSpPr>
          <p:spPr>
            <a:xfrm>
              <a:off x="371473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4" name="椭圆 143"/>
            <p:cNvSpPr/>
            <p:nvPr/>
          </p:nvSpPr>
          <p:spPr>
            <a:xfrm>
              <a:off x="418045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5" name="椭圆 144"/>
            <p:cNvSpPr/>
            <p:nvPr/>
          </p:nvSpPr>
          <p:spPr>
            <a:xfrm>
              <a:off x="464617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椭圆 145"/>
            <p:cNvSpPr/>
            <p:nvPr/>
          </p:nvSpPr>
          <p:spPr>
            <a:xfrm>
              <a:off x="511189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7" name="椭圆 146"/>
            <p:cNvSpPr/>
            <p:nvPr/>
          </p:nvSpPr>
          <p:spPr>
            <a:xfrm>
              <a:off x="557761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8" name="椭圆 147"/>
            <p:cNvSpPr/>
            <p:nvPr/>
          </p:nvSpPr>
          <p:spPr>
            <a:xfrm>
              <a:off x="604333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9" name="椭圆 148"/>
            <p:cNvSpPr/>
            <p:nvPr/>
          </p:nvSpPr>
          <p:spPr>
            <a:xfrm>
              <a:off x="302563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>
              <a:off x="347636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394208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2" name="椭圆 151"/>
            <p:cNvSpPr/>
            <p:nvPr/>
          </p:nvSpPr>
          <p:spPr>
            <a:xfrm>
              <a:off x="440780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3" name="椭圆 152"/>
            <p:cNvSpPr/>
            <p:nvPr/>
          </p:nvSpPr>
          <p:spPr>
            <a:xfrm>
              <a:off x="487352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4" name="椭圆 153"/>
            <p:cNvSpPr/>
            <p:nvPr/>
          </p:nvSpPr>
          <p:spPr>
            <a:xfrm>
              <a:off x="533924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5" name="椭圆 154"/>
            <p:cNvSpPr/>
            <p:nvPr/>
          </p:nvSpPr>
          <p:spPr>
            <a:xfrm>
              <a:off x="580496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627068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80078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325151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371723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18295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64867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11439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8011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04583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5" name="椭圆 164"/>
            <p:cNvSpPr/>
            <p:nvPr/>
          </p:nvSpPr>
          <p:spPr>
            <a:xfrm>
              <a:off x="302813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6" name="椭圆 165"/>
            <p:cNvSpPr/>
            <p:nvPr/>
          </p:nvSpPr>
          <p:spPr>
            <a:xfrm>
              <a:off x="347886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394458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8" name="椭圆 167"/>
            <p:cNvSpPr/>
            <p:nvPr/>
          </p:nvSpPr>
          <p:spPr>
            <a:xfrm>
              <a:off x="441030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9" name="椭圆 168"/>
            <p:cNvSpPr/>
            <p:nvPr/>
          </p:nvSpPr>
          <p:spPr>
            <a:xfrm>
              <a:off x="487602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0" name="椭圆 169"/>
            <p:cNvSpPr/>
            <p:nvPr/>
          </p:nvSpPr>
          <p:spPr>
            <a:xfrm>
              <a:off x="534174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1" name="椭圆 170"/>
            <p:cNvSpPr/>
            <p:nvPr/>
          </p:nvSpPr>
          <p:spPr>
            <a:xfrm>
              <a:off x="580746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2" name="椭圆 171"/>
            <p:cNvSpPr/>
            <p:nvPr/>
          </p:nvSpPr>
          <p:spPr>
            <a:xfrm>
              <a:off x="627318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3" name="组 172"/>
          <p:cNvGrpSpPr/>
          <p:nvPr/>
        </p:nvGrpSpPr>
        <p:grpSpPr>
          <a:xfrm>
            <a:off x="6800444" y="4210086"/>
            <a:ext cx="3906900" cy="1576248"/>
            <a:chOff x="2798284" y="4084187"/>
            <a:chExt cx="3906900" cy="1576248"/>
          </a:xfrm>
          <a:noFill/>
        </p:grpSpPr>
        <p:sp>
          <p:nvSpPr>
            <p:cNvPr id="174" name="椭圆 173"/>
            <p:cNvSpPr/>
            <p:nvPr/>
          </p:nvSpPr>
          <p:spPr>
            <a:xfrm>
              <a:off x="279828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5" name="椭圆 174"/>
            <p:cNvSpPr/>
            <p:nvPr/>
          </p:nvSpPr>
          <p:spPr>
            <a:xfrm>
              <a:off x="324901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6" name="椭圆 175"/>
            <p:cNvSpPr/>
            <p:nvPr/>
          </p:nvSpPr>
          <p:spPr>
            <a:xfrm>
              <a:off x="371473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7" name="椭圆 176"/>
            <p:cNvSpPr/>
            <p:nvPr/>
          </p:nvSpPr>
          <p:spPr>
            <a:xfrm>
              <a:off x="418045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8" name="椭圆 177"/>
            <p:cNvSpPr/>
            <p:nvPr/>
          </p:nvSpPr>
          <p:spPr>
            <a:xfrm>
              <a:off x="464617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9" name="椭圆 178"/>
            <p:cNvSpPr/>
            <p:nvPr/>
          </p:nvSpPr>
          <p:spPr>
            <a:xfrm>
              <a:off x="511189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0" name="椭圆 179"/>
            <p:cNvSpPr/>
            <p:nvPr/>
          </p:nvSpPr>
          <p:spPr>
            <a:xfrm>
              <a:off x="557761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1" name="椭圆 180"/>
            <p:cNvSpPr/>
            <p:nvPr/>
          </p:nvSpPr>
          <p:spPr>
            <a:xfrm>
              <a:off x="6043334" y="408418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2" name="椭圆 181"/>
            <p:cNvSpPr/>
            <p:nvPr/>
          </p:nvSpPr>
          <p:spPr>
            <a:xfrm>
              <a:off x="302563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3" name="椭圆 182"/>
            <p:cNvSpPr/>
            <p:nvPr/>
          </p:nvSpPr>
          <p:spPr>
            <a:xfrm>
              <a:off x="347636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4" name="椭圆 183"/>
            <p:cNvSpPr/>
            <p:nvPr/>
          </p:nvSpPr>
          <p:spPr>
            <a:xfrm>
              <a:off x="394208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5" name="椭圆 184"/>
            <p:cNvSpPr/>
            <p:nvPr/>
          </p:nvSpPr>
          <p:spPr>
            <a:xfrm>
              <a:off x="440780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6" name="椭圆 185"/>
            <p:cNvSpPr/>
            <p:nvPr/>
          </p:nvSpPr>
          <p:spPr>
            <a:xfrm>
              <a:off x="487352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7" name="椭圆 186"/>
            <p:cNvSpPr/>
            <p:nvPr/>
          </p:nvSpPr>
          <p:spPr>
            <a:xfrm>
              <a:off x="533924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8" name="椭圆 187"/>
            <p:cNvSpPr/>
            <p:nvPr/>
          </p:nvSpPr>
          <p:spPr>
            <a:xfrm>
              <a:off x="580496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9" name="椭圆 188"/>
            <p:cNvSpPr/>
            <p:nvPr/>
          </p:nvSpPr>
          <p:spPr>
            <a:xfrm>
              <a:off x="6270684" y="4461437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0" name="椭圆 189"/>
            <p:cNvSpPr/>
            <p:nvPr/>
          </p:nvSpPr>
          <p:spPr>
            <a:xfrm>
              <a:off x="280078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1" name="椭圆 190"/>
            <p:cNvSpPr/>
            <p:nvPr/>
          </p:nvSpPr>
          <p:spPr>
            <a:xfrm>
              <a:off x="325151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2" name="椭圆 191"/>
            <p:cNvSpPr/>
            <p:nvPr/>
          </p:nvSpPr>
          <p:spPr>
            <a:xfrm>
              <a:off x="371723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3" name="椭圆 192"/>
            <p:cNvSpPr/>
            <p:nvPr/>
          </p:nvSpPr>
          <p:spPr>
            <a:xfrm>
              <a:off x="418295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4" name="椭圆 193"/>
            <p:cNvSpPr/>
            <p:nvPr/>
          </p:nvSpPr>
          <p:spPr>
            <a:xfrm>
              <a:off x="464867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5" name="椭圆 194"/>
            <p:cNvSpPr/>
            <p:nvPr/>
          </p:nvSpPr>
          <p:spPr>
            <a:xfrm>
              <a:off x="511439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6" name="椭圆 195"/>
            <p:cNvSpPr/>
            <p:nvPr/>
          </p:nvSpPr>
          <p:spPr>
            <a:xfrm>
              <a:off x="558011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7" name="椭圆 196"/>
            <p:cNvSpPr/>
            <p:nvPr/>
          </p:nvSpPr>
          <p:spPr>
            <a:xfrm>
              <a:off x="6045834" y="485118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8" name="椭圆 197"/>
            <p:cNvSpPr/>
            <p:nvPr/>
          </p:nvSpPr>
          <p:spPr>
            <a:xfrm>
              <a:off x="302813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9" name="椭圆 198"/>
            <p:cNvSpPr/>
            <p:nvPr/>
          </p:nvSpPr>
          <p:spPr>
            <a:xfrm>
              <a:off x="347886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0" name="椭圆 199"/>
            <p:cNvSpPr/>
            <p:nvPr/>
          </p:nvSpPr>
          <p:spPr>
            <a:xfrm>
              <a:off x="394458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1" name="椭圆 200"/>
            <p:cNvSpPr/>
            <p:nvPr/>
          </p:nvSpPr>
          <p:spPr>
            <a:xfrm>
              <a:off x="441030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2" name="椭圆 201"/>
            <p:cNvSpPr/>
            <p:nvPr/>
          </p:nvSpPr>
          <p:spPr>
            <a:xfrm>
              <a:off x="487602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3" name="椭圆 202"/>
            <p:cNvSpPr/>
            <p:nvPr/>
          </p:nvSpPr>
          <p:spPr>
            <a:xfrm>
              <a:off x="534174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4" name="椭圆 203"/>
            <p:cNvSpPr/>
            <p:nvPr/>
          </p:nvSpPr>
          <p:spPr>
            <a:xfrm>
              <a:off x="580746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5" name="椭圆 204"/>
            <p:cNvSpPr/>
            <p:nvPr/>
          </p:nvSpPr>
          <p:spPr>
            <a:xfrm>
              <a:off x="6273184" y="5228435"/>
              <a:ext cx="432000" cy="432000"/>
            </a:xfrm>
            <a:prstGeom prst="ellipse">
              <a:avLst/>
            </a:prstGeom>
            <a:grp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1.4</a:t>
            </a:r>
            <a:r>
              <a:rPr kumimoji="1" lang="zh-CN" altLang="en-US" sz="3200" dirty="0" smtClean="0"/>
              <a:t> 晶面和米勒指数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241160" y="1319926"/>
            <a:ext cx="58451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/>
              <a:t>组成</a:t>
            </a:r>
            <a:r>
              <a:rPr kumimoji="1" lang="zh-CN" altLang="en-US" sz="2000" dirty="0"/>
              <a:t>晶体的所有原子可看成分布在一族平行直线或一组平行平面</a:t>
            </a:r>
            <a:r>
              <a:rPr kumimoji="1" lang="zh-CN" altLang="en-US" sz="2000" dirty="0" smtClean="0"/>
              <a:t>上（</a:t>
            </a:r>
            <a:r>
              <a:rPr kumimoji="1" lang="zh-CN" altLang="en-US" sz="2000" b="1" i="1" dirty="0" smtClean="0"/>
              <a:t>三维周期性也必然有二维和一维周期性</a:t>
            </a:r>
            <a:r>
              <a:rPr kumimoji="1" lang="zh-CN" altLang="en-US" sz="2000" dirty="0" smtClean="0"/>
              <a:t>）</a:t>
            </a:r>
            <a:endParaRPr kumimoji="1" lang="en-US" altLang="zh-CN" sz="2000" dirty="0" smtClean="0"/>
          </a:p>
          <a:p>
            <a:r>
              <a:rPr kumimoji="1" lang="zh-CN" altLang="en-US" sz="2000" dirty="0" smtClean="0"/>
              <a:t>一些可视化工具，如</a:t>
            </a:r>
            <a:r>
              <a:rPr kumimoji="1" lang="en-US" altLang="zh-CN" sz="2000" dirty="0" smtClean="0"/>
              <a:t>VESTA</a:t>
            </a:r>
            <a:r>
              <a:rPr kumimoji="1" lang="zh-CN" altLang="en-US" sz="2000" dirty="0" smtClean="0"/>
              <a:t>，可帮助认识晶体结构</a:t>
            </a:r>
            <a:endParaRPr kumimoji="1" lang="zh-CN" altLang="en-US" sz="2000" dirty="0"/>
          </a:p>
          <a:p>
            <a:endParaRPr kumimoji="1" lang="zh-CN" altLang="en-US" sz="2400" dirty="0" smtClean="0"/>
          </a:p>
          <a:p>
            <a:endParaRPr kumimoji="1"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r="5294"/>
          <a:stretch>
            <a:fillRect/>
          </a:stretch>
        </p:blipFill>
        <p:spPr>
          <a:xfrm>
            <a:off x="442127" y="2672213"/>
            <a:ext cx="5818362" cy="2438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60" t="72477" r="10637" b="5611"/>
          <a:stretch>
            <a:fillRect/>
          </a:stretch>
        </p:blipFill>
        <p:spPr>
          <a:xfrm>
            <a:off x="7475973" y="3105183"/>
            <a:ext cx="3486779" cy="339924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32879" y="1338949"/>
            <a:ext cx="462265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dirty="0"/>
              <a:t>1.4.1</a:t>
            </a:r>
            <a:r>
              <a:rPr kumimoji="1" lang="zh-CN" altLang="en-US" sz="2400" dirty="0"/>
              <a:t> 晶列指数</a:t>
            </a:r>
          </a:p>
          <a:p>
            <a:endParaRPr kumimoji="1" lang="zh-CN" altLang="en-US" sz="2000" dirty="0"/>
          </a:p>
          <a:p>
            <a:r>
              <a:rPr kumimoji="1" lang="zh-CN" altLang="en-US" dirty="0"/>
              <a:t>晶体中任一联线</a:t>
            </a:r>
            <a:r>
              <a:rPr kumimoji="1" lang="en-US" altLang="zh-CN" dirty="0" smtClean="0"/>
              <a:t>OA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OA </a:t>
            </a:r>
            <a:r>
              <a:rPr kumimoji="1" lang="en-US" altLang="zh-CN" dirty="0"/>
              <a:t>= l’ </a:t>
            </a:r>
            <a:r>
              <a:rPr kumimoji="1" lang="en-US" altLang="zh-CN" b="1" dirty="0"/>
              <a:t>a</a:t>
            </a:r>
            <a:r>
              <a:rPr kumimoji="1" lang="en-US" altLang="zh-CN" dirty="0"/>
              <a:t> + m’ </a:t>
            </a:r>
            <a:r>
              <a:rPr kumimoji="1" lang="en-US" altLang="zh-CN" b="1" dirty="0"/>
              <a:t>b</a:t>
            </a:r>
            <a:r>
              <a:rPr kumimoji="1" lang="en-US" altLang="zh-CN" dirty="0"/>
              <a:t> + n’ </a:t>
            </a:r>
            <a:r>
              <a:rPr kumimoji="1" lang="en-US" altLang="zh-CN" b="1" dirty="0"/>
              <a:t>c </a:t>
            </a:r>
            <a:r>
              <a:rPr kumimoji="1" lang="zh-CN" altLang="en-US" b="1" dirty="0"/>
              <a:t>，</a:t>
            </a:r>
          </a:p>
          <a:p>
            <a:r>
              <a:rPr kumimoji="1" lang="zh-CN" altLang="en-US" dirty="0"/>
              <a:t>将系数约化成互质的</a:t>
            </a:r>
            <a:r>
              <a:rPr kumimoji="1" lang="en-US" altLang="zh-CN" dirty="0"/>
              <a:t>l, m, n</a:t>
            </a:r>
            <a:r>
              <a:rPr kumimoji="1" lang="zh-CN" altLang="en-US" dirty="0"/>
              <a:t>，则［</a:t>
            </a:r>
            <a:r>
              <a:rPr kumimoji="1" lang="en-US" altLang="zh-CN" dirty="0"/>
              <a:t>l m n</a:t>
            </a:r>
            <a:r>
              <a:rPr kumimoji="1" lang="zh-CN" altLang="en-US" dirty="0"/>
              <a:t>］表示晶列方向，称为晶列指数。</a:t>
            </a:r>
          </a:p>
          <a:p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42127" y="5520739"/>
            <a:ext cx="62299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 smtClean="0"/>
              <a:t>1</a:t>
            </a:r>
            <a:r>
              <a:rPr kumimoji="1" lang="zh-CN" altLang="en-US" b="1" dirty="0" smtClean="0"/>
              <a:t>、</a:t>
            </a:r>
            <a:r>
              <a:rPr kumimoji="1" lang="en-US" altLang="zh-CN" b="1" dirty="0" smtClean="0"/>
              <a:t>a</a:t>
            </a:r>
            <a:r>
              <a:rPr kumimoji="1" lang="zh-CN" altLang="en-US" b="1" dirty="0" smtClean="0"/>
              <a:t>，</a:t>
            </a:r>
            <a:r>
              <a:rPr kumimoji="1" lang="en-US" altLang="zh-CN" dirty="0" smtClean="0"/>
              <a:t> </a:t>
            </a:r>
            <a:r>
              <a:rPr kumimoji="1" lang="en-US" altLang="zh-CN" b="1" dirty="0" smtClean="0"/>
              <a:t>b</a:t>
            </a:r>
            <a:r>
              <a:rPr kumimoji="1" lang="zh-CN" altLang="en-US" dirty="0"/>
              <a:t>，</a:t>
            </a:r>
            <a:r>
              <a:rPr kumimoji="1" lang="en-US" altLang="zh-CN" b="1" dirty="0" smtClean="0"/>
              <a:t>c </a:t>
            </a:r>
            <a:r>
              <a:rPr kumimoji="1" lang="zh-CN" altLang="en-US" dirty="0" smtClean="0"/>
              <a:t>为晶胞基矢。</a:t>
            </a:r>
          </a:p>
          <a:p>
            <a:r>
              <a:rPr kumimoji="1" lang="en-US" altLang="zh-CN" dirty="0" smtClean="0"/>
              <a:t>2</a:t>
            </a:r>
            <a:r>
              <a:rPr kumimoji="1" lang="zh-CN" altLang="en-US" dirty="0" smtClean="0"/>
              <a:t>、右图的晶列指数适用于所有立方晶系。</a:t>
            </a:r>
            <a:endParaRPr kumimoji="1" lang="en-US" altLang="zh-CN" dirty="0" smtClean="0"/>
          </a:p>
          <a:p>
            <a:r>
              <a:rPr kumimoji="1" lang="en-US" altLang="zh-CN" dirty="0" smtClean="0"/>
              <a:t>3</a:t>
            </a:r>
            <a:r>
              <a:rPr kumimoji="1" lang="zh-CN" altLang="en-US" dirty="0" smtClean="0"/>
              <a:t>、一个方向只有一种表示。</a:t>
            </a:r>
          </a:p>
          <a:p>
            <a:endParaRPr kumimoji="1" lang="zh-CN" altLang="en-US" dirty="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9031267" y="2083047"/>
            <a:ext cx="275572" cy="0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1.4</a:t>
            </a:r>
            <a:r>
              <a:rPr kumimoji="1" lang="zh-CN" altLang="en-US" sz="3200" dirty="0" smtClean="0"/>
              <a:t> 晶面和米勒指数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082132" y="1371973"/>
            <a:ext cx="569045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1.4.2</a:t>
            </a:r>
            <a:r>
              <a:rPr kumimoji="1" lang="zh-CN" altLang="en-US" sz="2400" dirty="0" smtClean="0"/>
              <a:t> 晶面指数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000" dirty="0" smtClean="0"/>
              <a:t>又称米勒（</a:t>
            </a:r>
            <a:r>
              <a:rPr kumimoji="1" lang="en-US" altLang="zh-CN" sz="2000" dirty="0" smtClean="0"/>
              <a:t>Miller</a:t>
            </a:r>
            <a:r>
              <a:rPr kumimoji="1" lang="zh-CN" altLang="en-US" sz="2000" dirty="0" smtClean="0"/>
              <a:t>）指数，表示晶面方向。</a:t>
            </a:r>
          </a:p>
          <a:p>
            <a:r>
              <a:rPr kumimoji="1" lang="zh-CN" altLang="en-US" sz="2000" dirty="0" smtClean="0"/>
              <a:t>设某平面在各基矢方向的截距为</a:t>
            </a:r>
            <a:r>
              <a:rPr kumimoji="1" lang="en-US" altLang="zh-CN" sz="2000" dirty="0" smtClean="0"/>
              <a:t> </a:t>
            </a:r>
            <a:r>
              <a:rPr kumimoji="1" lang="en-US" altLang="zh-CN" sz="2000" dirty="0" err="1" smtClean="0"/>
              <a:t>r</a:t>
            </a:r>
            <a:r>
              <a:rPr kumimoji="1" lang="en-US" altLang="zh-CN" sz="2000" b="1" dirty="0" err="1" smtClean="0"/>
              <a:t>a</a:t>
            </a:r>
            <a:r>
              <a:rPr kumimoji="1" lang="en-US" altLang="zh-CN" sz="2000" b="1" dirty="0" smtClean="0"/>
              <a:t>,</a:t>
            </a:r>
            <a:r>
              <a:rPr kumimoji="1" lang="en-US" altLang="zh-CN" sz="2000" dirty="0" smtClean="0"/>
              <a:t> </a:t>
            </a:r>
            <a:r>
              <a:rPr kumimoji="1" lang="en-US" altLang="zh-CN" sz="2000" dirty="0" err="1" smtClean="0"/>
              <a:t>s</a:t>
            </a:r>
            <a:r>
              <a:rPr kumimoji="1" lang="en-US" altLang="zh-CN" sz="2000" b="1" dirty="0" err="1" smtClean="0"/>
              <a:t>b</a:t>
            </a:r>
            <a:r>
              <a:rPr kumimoji="1" lang="en-US" altLang="zh-CN" sz="2000" dirty="0" smtClean="0"/>
              <a:t>, </a:t>
            </a:r>
            <a:r>
              <a:rPr kumimoji="1" lang="en-US" altLang="zh-CN" sz="2000" dirty="0" err="1" smtClean="0"/>
              <a:t>t</a:t>
            </a:r>
            <a:r>
              <a:rPr kumimoji="1" lang="en-US" altLang="zh-CN" sz="2000" b="1" dirty="0" err="1" smtClean="0"/>
              <a:t>c</a:t>
            </a:r>
            <a:r>
              <a:rPr kumimoji="1" lang="zh-CN" altLang="en-US" sz="2000" b="1" dirty="0" smtClean="0"/>
              <a:t>，则</a:t>
            </a:r>
            <a:r>
              <a:rPr kumimoji="1" lang="en-US" altLang="zh-CN" sz="2000" dirty="0" smtClean="0"/>
              <a:t>1/r, 1/s, 1/t</a:t>
            </a:r>
            <a:r>
              <a:rPr kumimoji="1" lang="zh-CN" altLang="en-US" sz="2000" dirty="0" smtClean="0"/>
              <a:t>约化成互质的</a:t>
            </a:r>
            <a:r>
              <a:rPr kumimoji="1" lang="en-US" altLang="zh-CN" sz="2000" dirty="0" smtClean="0"/>
              <a:t>h, k, l</a:t>
            </a:r>
            <a:r>
              <a:rPr kumimoji="1" lang="zh-CN" altLang="en-US" sz="2000" dirty="0" smtClean="0"/>
              <a:t>，（</a:t>
            </a:r>
            <a:r>
              <a:rPr kumimoji="1" lang="en-US" altLang="zh-CN" sz="2000" dirty="0" err="1" smtClean="0"/>
              <a:t>hkl</a:t>
            </a:r>
            <a:r>
              <a:rPr kumimoji="1" lang="zh-CN" altLang="en-US" sz="2000" dirty="0" smtClean="0"/>
              <a:t>）就是晶面的米勒指数。</a:t>
            </a:r>
            <a:endParaRPr kumimoji="1" lang="zh-CN" altLang="en-US" sz="2000" dirty="0"/>
          </a:p>
          <a:p>
            <a:endParaRPr kumimoji="1" lang="zh-CN" altLang="en-US" sz="2400" dirty="0"/>
          </a:p>
          <a:p>
            <a:r>
              <a:rPr kumimoji="1" lang="zh-CN" altLang="en-US" sz="2400" dirty="0" smtClean="0"/>
              <a:t>举例：</a:t>
            </a:r>
            <a:endParaRPr kumimoji="1" lang="en-US" altLang="zh-CN" sz="2400" dirty="0" smtClean="0"/>
          </a:p>
          <a:p>
            <a:endParaRPr kumimoji="1" lang="zh-CN" altLang="en-US" sz="2400" dirty="0" smtClean="0"/>
          </a:p>
          <a:p>
            <a:endParaRPr kumimoji="1" lang="zh-CN" altLang="en-US" sz="2400" dirty="0"/>
          </a:p>
          <a:p>
            <a:endParaRPr kumimoji="1" lang="zh-CN" altLang="en-US" sz="2400" dirty="0" smtClean="0"/>
          </a:p>
          <a:p>
            <a:endParaRPr kumimoji="1" lang="zh-CN" altLang="en-US" sz="2400" dirty="0"/>
          </a:p>
          <a:p>
            <a:endParaRPr kumimoji="1" lang="zh-CN" altLang="en-US" sz="2400" dirty="0" smtClean="0"/>
          </a:p>
          <a:p>
            <a:endParaRPr kumimoji="1" lang="zh-CN" altLang="en-US" sz="2400" dirty="0" smtClean="0"/>
          </a:p>
          <a:p>
            <a:r>
              <a:rPr kumimoji="1" lang="zh-CN" altLang="en-US" sz="2400" dirty="0" smtClean="0"/>
              <a:t>六角晶格：结合作业自学</a:t>
            </a:r>
          </a:p>
          <a:p>
            <a:endParaRPr kumimoji="1"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0" t="25647" r="7839" b="55042"/>
          <a:stretch>
            <a:fillRect/>
          </a:stretch>
        </p:blipFill>
        <p:spPr>
          <a:xfrm>
            <a:off x="1245995" y="4210260"/>
            <a:ext cx="5526595" cy="192374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78919" y="3419229"/>
            <a:ext cx="5690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 smtClean="0"/>
              <a:t>1</a:t>
            </a:r>
            <a:r>
              <a:rPr kumimoji="1" lang="zh-CN" altLang="en-US" sz="2000" dirty="0" smtClean="0"/>
              <a:t>、米勒指数与晶列指数标记方法不同</a:t>
            </a:r>
            <a:endParaRPr kumimoji="1" lang="en-US" altLang="zh-CN" sz="2000" dirty="0"/>
          </a:p>
          <a:p>
            <a:r>
              <a:rPr kumimoji="1" lang="en-US" altLang="zh-CN" sz="2000" dirty="0" smtClean="0"/>
              <a:t>2</a:t>
            </a:r>
            <a:r>
              <a:rPr kumimoji="1" lang="zh-CN" altLang="en-US" sz="2000" dirty="0"/>
              <a:t>、</a:t>
            </a:r>
            <a:r>
              <a:rPr kumimoji="1" lang="zh-CN" altLang="en-US" sz="2000" dirty="0" smtClean="0"/>
              <a:t>米勒指数代表面法向吗？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1.5</a:t>
            </a:r>
            <a:r>
              <a:rPr kumimoji="1" lang="zh-CN" altLang="en-US" sz="3200" dirty="0" smtClean="0"/>
              <a:t> 晶体的对称性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399011" y="1333312"/>
            <a:ext cx="634343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/>
              <a:t>对称性即操作下的不变性。研究晶体的对称性很重要。平移对称性之外，还有如下的对称性：</a:t>
            </a:r>
          </a:p>
          <a:p>
            <a:endParaRPr kumimoji="1" lang="zh-CN" altLang="en-US" sz="2400" dirty="0"/>
          </a:p>
          <a:p>
            <a:r>
              <a:rPr kumimoji="1" lang="en-US" altLang="zh-CN" sz="2400" dirty="0" smtClean="0"/>
              <a:t>1.5.1</a:t>
            </a:r>
            <a:r>
              <a:rPr kumimoji="1" lang="zh-CN" altLang="en-US" sz="2400" dirty="0" smtClean="0"/>
              <a:t> 晶体许可的旋转对称性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000" dirty="0" smtClean="0"/>
              <a:t>定义：选取一个轴，物体绕轴旋转一定角度后与旋转前不可区分，即有该旋转对称。</a:t>
            </a:r>
          </a:p>
          <a:p>
            <a:r>
              <a:rPr kumimoji="1" lang="zh-CN" altLang="en-US" sz="2000" dirty="0" smtClean="0"/>
              <a:t>例子：</a:t>
            </a:r>
            <a:r>
              <a:rPr kumimoji="1" lang="zh-CN" altLang="en-US" sz="2000" i="1" dirty="0" smtClean="0"/>
              <a:t>考虑一个平面圆形的所有可能旋转对称操作</a:t>
            </a:r>
            <a:r>
              <a:rPr kumimoji="1" lang="zh-CN" altLang="en-US" sz="2000" dirty="0" smtClean="0"/>
              <a:t>。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400" dirty="0" smtClean="0"/>
              <a:t>晶体的对称操作：</a:t>
            </a:r>
          </a:p>
          <a:p>
            <a:r>
              <a:rPr kumimoji="1" lang="en-US" altLang="zh-CN" sz="2000" dirty="0" smtClean="0"/>
              <a:t>n</a:t>
            </a:r>
            <a:r>
              <a:rPr kumimoji="1" lang="zh-CN" altLang="en-US" sz="2000" dirty="0" smtClean="0"/>
              <a:t>度旋转轴：绕该轴对称旋转操作为</a:t>
            </a:r>
            <a:r>
              <a:rPr kumimoji="1" lang="en-US" altLang="zh-CN" sz="2000" dirty="0" smtClean="0"/>
              <a:t>2</a:t>
            </a:r>
            <a:r>
              <a:rPr kumimoji="1" lang="en-US" altLang="zh-CN" sz="2000" dirty="0" smtClean="0">
                <a:latin typeface="Symbol" charset="2"/>
                <a:ea typeface="Symbol" charset="2"/>
                <a:cs typeface="Symbol" charset="2"/>
              </a:rPr>
              <a:t>p/</a:t>
            </a:r>
            <a:r>
              <a:rPr kumimoji="1" lang="en-US" altLang="zh-CN" sz="2000" dirty="0" smtClean="0"/>
              <a:t>n</a:t>
            </a:r>
            <a:r>
              <a:rPr kumimoji="1" lang="zh-CN" altLang="en-US" sz="2000" dirty="0" smtClean="0"/>
              <a:t>的整数倍。在晶体中，只有</a:t>
            </a:r>
            <a:r>
              <a:rPr kumimoji="1" lang="en-US" altLang="zh-CN" sz="2000" dirty="0" smtClean="0"/>
              <a:t>2</a:t>
            </a:r>
            <a:r>
              <a:rPr kumimoji="1" lang="zh-CN" altLang="en-US" sz="2000" dirty="0"/>
              <a:t>、</a:t>
            </a:r>
            <a:r>
              <a:rPr kumimoji="1" lang="en-US" altLang="zh-CN" sz="2000" dirty="0" smtClean="0"/>
              <a:t>3</a:t>
            </a:r>
            <a:r>
              <a:rPr kumimoji="1" lang="zh-CN" altLang="en-US" sz="2000" dirty="0" smtClean="0"/>
              <a:t>、</a:t>
            </a:r>
            <a:r>
              <a:rPr kumimoji="1" lang="en-US" altLang="zh-CN" sz="2000" dirty="0" smtClean="0"/>
              <a:t>4</a:t>
            </a:r>
            <a:r>
              <a:rPr kumimoji="1" lang="zh-CN" altLang="en-US" sz="2000" dirty="0" smtClean="0"/>
              <a:t>、</a:t>
            </a:r>
            <a:r>
              <a:rPr kumimoji="1" lang="en-US" altLang="zh-CN" sz="2000" dirty="0" smtClean="0"/>
              <a:t>6</a:t>
            </a:r>
            <a:r>
              <a:rPr kumimoji="1" lang="zh-CN" altLang="en-US" sz="2000" dirty="0" smtClean="0"/>
              <a:t>度轴。（证明，自学）</a:t>
            </a:r>
          </a:p>
          <a:p>
            <a:endParaRPr kumimoji="1" lang="en-US" altLang="zh-CN" sz="2400" dirty="0" smtClean="0"/>
          </a:p>
          <a:p>
            <a:r>
              <a:rPr kumimoji="1" lang="zh-CN" altLang="en-US" sz="2400" dirty="0" smtClean="0"/>
              <a:t>例子：</a:t>
            </a:r>
            <a:r>
              <a:rPr kumimoji="1" lang="zh-CN" altLang="en-US" sz="2400" i="1" dirty="0" smtClean="0"/>
              <a:t>找出立方体的</a:t>
            </a:r>
            <a:r>
              <a:rPr kumimoji="1" lang="en-US" altLang="zh-CN" sz="2400" i="1" dirty="0" smtClean="0"/>
              <a:t>6</a:t>
            </a:r>
            <a:r>
              <a:rPr kumimoji="1" lang="zh-CN" altLang="en-US" sz="2400" i="1" dirty="0" smtClean="0"/>
              <a:t>个</a:t>
            </a:r>
            <a:r>
              <a:rPr kumimoji="1" lang="en-US" altLang="zh-CN" sz="2400" i="1" dirty="0" smtClean="0"/>
              <a:t>2</a:t>
            </a:r>
            <a:r>
              <a:rPr kumimoji="1" lang="zh-CN" altLang="en-US" sz="2400" i="1" dirty="0" smtClean="0"/>
              <a:t>度轴、</a:t>
            </a:r>
            <a:r>
              <a:rPr kumimoji="1" lang="en-US" altLang="zh-CN" sz="2400" i="1" dirty="0" smtClean="0"/>
              <a:t>4</a:t>
            </a:r>
            <a:r>
              <a:rPr kumimoji="1" lang="zh-CN" altLang="en-US" sz="2400" i="1" dirty="0" smtClean="0"/>
              <a:t>个三度轴、</a:t>
            </a:r>
            <a:r>
              <a:rPr kumimoji="1" lang="en-US" altLang="zh-CN" sz="2400" i="1" dirty="0" smtClean="0"/>
              <a:t>3</a:t>
            </a:r>
            <a:r>
              <a:rPr kumimoji="1" lang="zh-CN" altLang="en-US" sz="2400" i="1" dirty="0" smtClean="0"/>
              <a:t>个四度轴。</a:t>
            </a:r>
            <a:endParaRPr kumimoji="1" lang="zh-CN" altLang="en-US" sz="2400" i="1" dirty="0"/>
          </a:p>
          <a:p>
            <a:endParaRPr kumimoji="1" lang="zh-CN" altLang="en-US" sz="2400" dirty="0"/>
          </a:p>
        </p:txBody>
      </p:sp>
      <p:sp>
        <p:nvSpPr>
          <p:cNvPr id="4" name="椭圆 3"/>
          <p:cNvSpPr/>
          <p:nvPr/>
        </p:nvSpPr>
        <p:spPr>
          <a:xfrm>
            <a:off x="9070220" y="968233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8" t="7029" r="40822" b="68899"/>
          <a:stretch>
            <a:fillRect/>
          </a:stretch>
        </p:blipFill>
        <p:spPr>
          <a:xfrm rot="21404263">
            <a:off x="8567304" y="3457183"/>
            <a:ext cx="3044323" cy="309804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166970" y="3287432"/>
            <a:ext cx="3782860" cy="33519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1.5</a:t>
            </a:r>
            <a:r>
              <a:rPr kumimoji="1" lang="zh-CN" altLang="en-US" sz="3200" dirty="0" smtClean="0"/>
              <a:t> 晶体的对称性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62044" y="1198276"/>
            <a:ext cx="604000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1.5.2</a:t>
            </a:r>
            <a:r>
              <a:rPr kumimoji="1" lang="zh-CN" altLang="en-US" sz="2400" dirty="0" smtClean="0"/>
              <a:t> 反演</a:t>
            </a:r>
          </a:p>
          <a:p>
            <a:endParaRPr kumimoji="1" lang="zh-CN" altLang="en-US" sz="2400" dirty="0"/>
          </a:p>
          <a:p>
            <a:r>
              <a:rPr kumimoji="1" lang="zh-CN" altLang="en-US" sz="2000" dirty="0" smtClean="0"/>
              <a:t>选取原点，使 </a:t>
            </a:r>
            <a:r>
              <a:rPr kumimoji="1" lang="en-US" altLang="zh-CN" sz="2000" b="1" dirty="0" smtClean="0"/>
              <a:t>r </a:t>
            </a:r>
            <a:r>
              <a:rPr kumimoji="1" lang="zh-CN" altLang="en-US" sz="2000" dirty="0" smtClean="0"/>
              <a:t>变为 </a:t>
            </a:r>
            <a:r>
              <a:rPr kumimoji="1" lang="en-US" altLang="zh-CN" sz="2000" b="1" dirty="0" smtClean="0"/>
              <a:t> -r </a:t>
            </a:r>
            <a:r>
              <a:rPr kumimoji="1" lang="zh-CN" altLang="en-US" sz="2000" dirty="0" smtClean="0"/>
              <a:t>的对称操作，记为</a:t>
            </a:r>
            <a:r>
              <a:rPr kumimoji="1" lang="en-US" altLang="zh-CN" sz="2000" dirty="0" err="1" smtClean="0"/>
              <a:t>i</a:t>
            </a:r>
            <a:r>
              <a:rPr kumimoji="1" lang="zh-CN" altLang="en-US" sz="2000" dirty="0" smtClean="0"/>
              <a:t>，称为中心反演。反演下不变的系统具有反演对称。</a:t>
            </a:r>
          </a:p>
          <a:p>
            <a:endParaRPr kumimoji="1" lang="zh-CN" altLang="en-US" sz="2400" dirty="0"/>
          </a:p>
          <a:p>
            <a:r>
              <a:rPr kumimoji="1" lang="en-US" altLang="zh-CN" sz="2400" dirty="0" smtClean="0"/>
              <a:t>1.5.3</a:t>
            </a:r>
            <a:r>
              <a:rPr kumimoji="1" lang="zh-CN" altLang="en-US" sz="2400" dirty="0" smtClean="0"/>
              <a:t> 晶体的旋转反演轴</a:t>
            </a:r>
          </a:p>
          <a:p>
            <a:endParaRPr kumimoji="1" lang="zh-CN" altLang="en-US" sz="2400" dirty="0" smtClean="0"/>
          </a:p>
          <a:p>
            <a:r>
              <a:rPr kumimoji="1" lang="zh-CN" altLang="en-US" sz="2000" dirty="0" smtClean="0"/>
              <a:t>组合</a:t>
            </a:r>
            <a:r>
              <a:rPr kumimoji="1" lang="en-US" altLang="zh-CN" sz="2000" dirty="0" err="1" smtClean="0"/>
              <a:t>i</a:t>
            </a:r>
            <a:r>
              <a:rPr kumimoji="1" lang="zh-CN" altLang="en-US" sz="2000" dirty="0" smtClean="0"/>
              <a:t>和</a:t>
            </a:r>
            <a:r>
              <a:rPr kumimoji="1" lang="en-US" altLang="zh-CN" sz="2000" dirty="0" smtClean="0"/>
              <a:t>n</a:t>
            </a:r>
            <a:r>
              <a:rPr kumimoji="1" lang="zh-CN" altLang="en-US" sz="2000" dirty="0" smtClean="0"/>
              <a:t>，构成</a:t>
            </a:r>
            <a:r>
              <a:rPr kumimoji="1" lang="en-US" altLang="zh-CN" sz="2000" dirty="0"/>
              <a:t>n</a:t>
            </a:r>
            <a:r>
              <a:rPr kumimoji="1" lang="zh-CN" altLang="en-US" sz="2000" dirty="0" smtClean="0"/>
              <a:t>度旋转反演对称（</a:t>
            </a:r>
            <a:r>
              <a:rPr kumimoji="1" lang="en-US" altLang="zh-CN" sz="2000" dirty="0"/>
              <a:t> n </a:t>
            </a:r>
            <a:r>
              <a:rPr kumimoji="1" lang="zh-CN" altLang="en-US" sz="2000" dirty="0" smtClean="0"/>
              <a:t>）。</a:t>
            </a:r>
          </a:p>
          <a:p>
            <a:r>
              <a:rPr kumimoji="1" lang="en-US" altLang="zh-CN" sz="2000" dirty="0" smtClean="0"/>
              <a:t>2</a:t>
            </a:r>
            <a:r>
              <a:rPr kumimoji="1" lang="zh-CN" altLang="en-US" sz="2000" dirty="0" smtClean="0"/>
              <a:t>，又称为平面镜像反映（</a:t>
            </a:r>
            <a:r>
              <a:rPr kumimoji="1" lang="en-US" altLang="zh-CN" sz="2000" dirty="0" smtClean="0"/>
              <a:t>m</a:t>
            </a:r>
            <a:r>
              <a:rPr kumimoji="1" lang="zh-CN" altLang="en-US" sz="2000" dirty="0" smtClean="0"/>
              <a:t>）。</a:t>
            </a:r>
          </a:p>
          <a:p>
            <a:endParaRPr kumimoji="1" lang="zh-CN" altLang="en-US" sz="2000" dirty="0" smtClean="0"/>
          </a:p>
          <a:p>
            <a:r>
              <a:rPr kumimoji="1" lang="zh-CN" altLang="en-US" sz="2000" dirty="0" smtClean="0"/>
              <a:t>群：某种晶体的所有对称操作的集合。必满足：有不变操作；两个操作相继作用，为另一操作；任何操作有逆操作；组合操作与顺序无关。</a:t>
            </a:r>
          </a:p>
          <a:p>
            <a:endParaRPr kumimoji="1" lang="zh-CN" altLang="en-US" sz="2000" dirty="0"/>
          </a:p>
          <a:p>
            <a:r>
              <a:rPr kumimoji="1" lang="zh-CN" altLang="en-US" sz="2000" dirty="0" smtClean="0"/>
              <a:t>晶体点群：由上述操作构成的操作群。共</a:t>
            </a:r>
            <a:r>
              <a:rPr kumimoji="1" lang="en-US" altLang="zh-CN" sz="2000" dirty="0" smtClean="0"/>
              <a:t>32</a:t>
            </a:r>
            <a:r>
              <a:rPr kumimoji="1" lang="zh-CN" altLang="en-US" sz="2000" dirty="0" smtClean="0"/>
              <a:t>个。</a:t>
            </a:r>
            <a:endParaRPr kumimoji="1" lang="en-US" altLang="zh-CN" sz="2000" dirty="0" smtClean="0"/>
          </a:p>
          <a:p>
            <a:endParaRPr kumimoji="1" lang="zh-CN" altLang="en-US" sz="2000" dirty="0"/>
          </a:p>
        </p:txBody>
      </p:sp>
      <p:cxnSp>
        <p:nvCxnSpPr>
          <p:cNvPr id="6" name="直线连接符 5"/>
          <p:cNvCxnSpPr/>
          <p:nvPr/>
        </p:nvCxnSpPr>
        <p:spPr>
          <a:xfrm>
            <a:off x="4914001" y="3717061"/>
            <a:ext cx="21613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1002538" y="4039671"/>
            <a:ext cx="21613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4947781" y="3702773"/>
            <a:ext cx="18789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029231" y="3992959"/>
            <a:ext cx="18789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5" t="38362" r="11261" b="16037"/>
          <a:stretch>
            <a:fillRect/>
          </a:stretch>
        </p:blipFill>
        <p:spPr>
          <a:xfrm>
            <a:off x="7056669" y="1257831"/>
            <a:ext cx="4819046" cy="50401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09310" y="383458"/>
            <a:ext cx="8554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§ 1.5</a:t>
            </a:r>
            <a:r>
              <a:rPr kumimoji="1" lang="zh-CN" altLang="en-US" sz="3200" dirty="0" smtClean="0"/>
              <a:t> 晶体的对称性</a:t>
            </a:r>
            <a:endParaRPr kumimoji="1"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936994" y="1423744"/>
            <a:ext cx="417362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1.5.4</a:t>
            </a:r>
            <a:r>
              <a:rPr kumimoji="1" lang="zh-CN" altLang="en-US" sz="2400" dirty="0" smtClean="0"/>
              <a:t> 滑移面和螺旋轴</a:t>
            </a:r>
          </a:p>
          <a:p>
            <a:endParaRPr kumimoji="1" lang="zh-CN" altLang="en-US" sz="2400" dirty="0"/>
          </a:p>
          <a:p>
            <a:r>
              <a:rPr kumimoji="1" lang="zh-CN" altLang="en-US" sz="2000" dirty="0" smtClean="0"/>
              <a:t>镜像后再平移</a:t>
            </a:r>
            <a:r>
              <a:rPr kumimoji="1" lang="en-US" altLang="zh-CN" sz="2000" dirty="0" smtClean="0"/>
              <a:t>1/2</a:t>
            </a:r>
            <a:r>
              <a:rPr kumimoji="1" lang="zh-CN" altLang="en-US" sz="2000" dirty="0" smtClean="0"/>
              <a:t>周期，即滑移反映面操作。</a:t>
            </a:r>
          </a:p>
          <a:p>
            <a:endParaRPr kumimoji="1" lang="zh-CN" altLang="en-US" sz="2000" dirty="0"/>
          </a:p>
          <a:p>
            <a:r>
              <a:rPr kumimoji="1" lang="zh-CN" altLang="en-US" sz="2000" dirty="0" smtClean="0"/>
              <a:t>旋转后再沿转轴方向平移</a:t>
            </a:r>
            <a:r>
              <a:rPr kumimoji="1" lang="en-US" altLang="zh-CN" sz="2000" b="1" dirty="0" smtClean="0"/>
              <a:t>t</a:t>
            </a:r>
            <a:r>
              <a:rPr kumimoji="1" lang="en-US" altLang="zh-CN" sz="2000" dirty="0" smtClean="0"/>
              <a:t> = j</a:t>
            </a:r>
            <a:r>
              <a:rPr kumimoji="1" lang="zh-CN" altLang="en-US" sz="2000" dirty="0" smtClean="0"/>
              <a:t>・</a:t>
            </a:r>
            <a:r>
              <a:rPr kumimoji="1" lang="en-US" altLang="zh-CN" sz="2000" dirty="0" smtClean="0"/>
              <a:t> </a:t>
            </a:r>
            <a:r>
              <a:rPr kumimoji="1" lang="en-US" altLang="zh-CN" sz="2000" b="1" dirty="0" smtClean="0"/>
              <a:t>T</a:t>
            </a:r>
            <a:r>
              <a:rPr kumimoji="1" lang="en-US" altLang="zh-CN" sz="2000" dirty="0"/>
              <a:t>/n (</a:t>
            </a:r>
            <a:r>
              <a:rPr kumimoji="1" lang="en-US" altLang="zh-CN" sz="2000" dirty="0" smtClean="0"/>
              <a:t>j &lt;n,  </a:t>
            </a:r>
            <a:r>
              <a:rPr kumimoji="1" lang="en-US" altLang="zh-CN" sz="2000" b="1" dirty="0" smtClean="0"/>
              <a:t>T</a:t>
            </a:r>
            <a:r>
              <a:rPr kumimoji="1" lang="zh-CN" altLang="en-US" sz="2000" dirty="0" smtClean="0"/>
              <a:t>为晶体平移方向周期</a:t>
            </a:r>
            <a:r>
              <a:rPr kumimoji="1" lang="en-US" altLang="zh-CN" sz="2000" dirty="0" smtClean="0"/>
              <a:t> </a:t>
            </a:r>
            <a:r>
              <a:rPr kumimoji="1" lang="en-US" altLang="zh-CN" sz="2000" dirty="0"/>
              <a:t>)</a:t>
            </a:r>
            <a:r>
              <a:rPr kumimoji="1" lang="zh-CN" altLang="en-US" sz="2000" dirty="0" smtClean="0"/>
              <a:t>，称为</a:t>
            </a:r>
            <a:r>
              <a:rPr kumimoji="1" lang="en-US" altLang="zh-CN" sz="2000" dirty="0"/>
              <a:t>n</a:t>
            </a:r>
            <a:r>
              <a:rPr kumimoji="1" lang="zh-CN" altLang="en-US" sz="2000" dirty="0" smtClean="0"/>
              <a:t>度螺旋轴。</a:t>
            </a:r>
          </a:p>
          <a:p>
            <a:endParaRPr kumimoji="1" lang="zh-CN" altLang="en-US" sz="2000" dirty="0"/>
          </a:p>
          <a:p>
            <a:r>
              <a:rPr kumimoji="1" lang="zh-CN" altLang="en-US" sz="2000" dirty="0" smtClean="0"/>
              <a:t>包含这样操作的晶体对称群称为空间群。共有</a:t>
            </a:r>
            <a:r>
              <a:rPr kumimoji="1" lang="en-US" altLang="zh-CN" sz="2000" dirty="0" smtClean="0"/>
              <a:t>230</a:t>
            </a:r>
            <a:r>
              <a:rPr kumimoji="1" lang="zh-CN" altLang="en-US" sz="2000" dirty="0" smtClean="0"/>
              <a:t>个。</a:t>
            </a:r>
            <a:endParaRPr kumimoji="1" lang="en-US" altLang="zh-CN" sz="2000" dirty="0" smtClean="0"/>
          </a:p>
          <a:p>
            <a:endParaRPr kumimoji="1" lang="en-US" altLang="zh-CN" sz="2000" dirty="0"/>
          </a:p>
          <a:p>
            <a:r>
              <a:rPr kumimoji="1" lang="zh-CN" altLang="en-US" sz="2000" dirty="0" smtClean="0"/>
              <a:t>举例：</a:t>
            </a:r>
            <a:r>
              <a:rPr kumimoji="1" lang="en-US" altLang="zh-CN" sz="2000" dirty="0" smtClean="0"/>
              <a:t>	</a:t>
            </a:r>
            <a:r>
              <a:rPr kumimoji="1" lang="zh-CN" altLang="en-US" sz="2000" dirty="0" smtClean="0"/>
              <a:t>氯化钠结构</a:t>
            </a:r>
            <a:endParaRPr kumimoji="1" lang="en-US" altLang="zh-CN" sz="2000" dirty="0" smtClean="0"/>
          </a:p>
          <a:p>
            <a:r>
              <a:rPr kumimoji="1" lang="en-US" altLang="zh-CN" sz="2000" dirty="0"/>
              <a:t>	</a:t>
            </a:r>
            <a:r>
              <a:rPr kumimoji="1" lang="zh-CN" altLang="en-US" sz="2000" dirty="0" smtClean="0"/>
              <a:t>六角密集结构</a:t>
            </a:r>
            <a:endParaRPr kumimoji="1" lang="zh-CN" altLang="en-US" sz="2400" dirty="0"/>
          </a:p>
          <a:p>
            <a:endParaRPr kumimoji="1"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0" t="13012" r="13242" b="53871"/>
          <a:stretch>
            <a:fillRect/>
          </a:stretch>
        </p:blipFill>
        <p:spPr>
          <a:xfrm>
            <a:off x="5615813" y="1680919"/>
            <a:ext cx="6175655" cy="3749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2920" y="2426681"/>
            <a:ext cx="3185160" cy="1325563"/>
          </a:xfrm>
        </p:spPr>
        <p:txBody>
          <a:bodyPr/>
          <a:lstStyle/>
          <a:p>
            <a:r>
              <a:rPr lang="en-US" altLang="zh-CN" dirty="0" smtClean="0"/>
              <a:t>The    End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2127</Words>
  <Application>Microsoft Macintosh PowerPoint</Application>
  <PresentationFormat>宽屏</PresentationFormat>
  <Paragraphs>313</Paragraphs>
  <Slides>28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Calibri</vt:lpstr>
      <vt:lpstr>Calibri Light</vt:lpstr>
      <vt:lpstr>Cambria Math</vt:lpstr>
      <vt:lpstr>Helvetica</vt:lpstr>
      <vt:lpstr>Symbol</vt:lpstr>
      <vt:lpstr>等线</vt:lpstr>
      <vt:lpstr>华文新魏</vt:lpstr>
      <vt:lpstr>隶书</vt:lpstr>
      <vt:lpstr>宋体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   End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144</cp:revision>
  <dcterms:created xsi:type="dcterms:W3CDTF">2025-02-17T14:55:56Z</dcterms:created>
  <dcterms:modified xsi:type="dcterms:W3CDTF">2025-11-06T08:27:37Z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5D5DD8C857525EC155E6DF65E8B9FA91</vt:lpwstr>
  </property>
  <property fmtid="{D5CDD505-2E9C-101B-9397-08002B2CF9AE}" pid="3" name="KSOProductBuildVer">
    <vt:lpwstr>2052-5.1.1.7662</vt:lpwstr>
  </property>
</Properties>
</file>