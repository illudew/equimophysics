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53" r:id="rId2"/>
    <p:sldId id="369" r:id="rId3"/>
    <p:sldId id="371" r:id="rId4"/>
    <p:sldId id="351" r:id="rId5"/>
    <p:sldId id="354" r:id="rId6"/>
    <p:sldId id="367" r:id="rId7"/>
    <p:sldId id="366" r:id="rId8"/>
    <p:sldId id="370" r:id="rId9"/>
    <p:sldId id="355" r:id="rId10"/>
    <p:sldId id="356" r:id="rId11"/>
    <p:sldId id="357" r:id="rId12"/>
    <p:sldId id="358" r:id="rId13"/>
    <p:sldId id="372" r:id="rId14"/>
    <p:sldId id="359" r:id="rId15"/>
    <p:sldId id="365" r:id="rId16"/>
    <p:sldId id="364" r:id="rId17"/>
    <p:sldId id="361" r:id="rId18"/>
    <p:sldId id="362" r:id="rId19"/>
    <p:sldId id="374" r:id="rId20"/>
    <p:sldId id="368" r:id="rId21"/>
    <p:sldId id="375" r:id="rId2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216"/>
    <p:restoredTop sz="94628"/>
  </p:normalViewPr>
  <p:slideViewPr>
    <p:cSldViewPr snapToGrid="0" snapToObjects="1">
      <p:cViewPr varScale="1">
        <p:scale>
          <a:sx n="93" d="100"/>
          <a:sy n="93" d="100"/>
        </p:scale>
        <p:origin x="21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BC7EC-8FBF-E448-964E-2D0FF0DC71B4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8F33F-D29C-AA43-B33A-42FFC3BB3DF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617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8F33F-D29C-AA43-B33A-42FFC3BB3DFB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13475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8F33F-D29C-AA43-B33A-42FFC3BB3DF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9573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D7C1-D8EB-D547-BCEE-EC505565F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9B034-FF72-0842-A5AB-84F0A7107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5C968-918F-8641-AE02-594B5224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9C305-E85D-1548-A375-1DBDEDB5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FDED-A1AE-D846-9147-0D1EE8B8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88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013E-BDF0-8C4A-B4ED-0D321223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BE0F-0622-5C49-AEF9-03161028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F4ABA-C3F7-F04B-B87A-4A9D3D3B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897E-B07B-B441-BDAF-727D0E88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1B97-AE03-0E47-93A0-D14C3D94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82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3D1F-C55B-2F42-AE7E-78E4DC54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FFBC5-80CC-8C45-9404-C9556920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CD9-0063-224A-90B2-5B178A6F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CE81-9F37-BF4C-BDF3-A9FBC99E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B8F5E-2051-1745-8C26-13E51097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867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5BE8-2906-8E4F-AF10-6C859962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7BC1-205D-ED44-902E-6DC52E37D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CF4BC-B5D9-7A46-9CA0-C1833531E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A32F2-DC1B-494A-8AB9-039BCA54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7452-A3E3-4443-92ED-FF9D858C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B1547-4E3B-B44B-81F0-9E977B3E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665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04FC-EB95-6042-A824-3928DD90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26F3F-BBDF-4748-B28F-F8C02C1F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C1051-699C-4F4F-A964-DE4CCEF3B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D3799-BF1A-B544-92F3-A668C8479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BDBCE-CA7F-5143-91B1-42C71E89D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47ACE-B299-B447-AB9F-A7E598D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A539D-7612-E848-999B-9D151DFE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80D14-ED83-5545-8AE2-4469C82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053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444D-3A68-EB45-9015-DA6329C9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BB93C-F3ED-3F47-B452-7C28F209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FAABE-D364-A94B-BEC5-9C8F70BD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6D1B4-DA1C-F240-90A2-84B2A717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74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0083D-F5D5-C543-B61F-4094F539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DC8BC-428B-BB4D-8AEE-C6B272C6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B49BB-14D1-1849-B437-37A7A607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770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422E-2ECF-6E40-B192-F3102DB3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0A34-B607-1742-A5C9-F66E9CB5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185AD-9C29-CE46-8CE9-E6D8F6BB5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8B05E-F489-3841-AF6F-1A1FE3BB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58E87-9859-F14A-B389-187843C2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2D493-6FBF-EA46-8CFB-E11E167F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7294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3968-37CC-B647-9F46-44E9F864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20B7A-6421-6346-BBFA-BD37AAC93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ED188-FEB7-E74E-B65D-281002E7A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C2D-F1DB-C34A-AD60-DF4B2FE5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817A2-AEE3-244B-8185-A484A6B8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10CD3-341B-C348-B1D4-069400F9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86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41A4-A3DA-9C44-A87F-54486381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37D03-3ABB-E94A-A564-7D516299F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5D3D3-9B3A-E34D-A7DB-07B8D9C0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226C-2D9F-3E4D-8439-D1417E4D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A4E6-5819-4C43-8676-2EDC65D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707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9D237-9FA6-7643-A46C-6BF452F3C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4148B-28D9-4E4F-98AA-281CE3B51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114E8-0490-9844-A6E6-A76C29C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F247-BB24-C14C-8BDC-3AEC6E2F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EBDF-B685-F445-BD1C-7044BC30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762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E8360-99FB-314F-8FFC-5DFE1464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170A0-1BBB-7549-88EE-B708486E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53904-8539-AE42-A677-9B45FCA67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0E28F-22DF-9E47-9EC9-E68F8BF2B40B}" type="datetimeFigureOut">
              <a:rPr lang="en-CN" smtClean="0"/>
              <a:t>2023/5/24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B817-6A9E-8D4B-93C6-69B4752E2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20E11-ECD6-A240-8C4D-4AA249F37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746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10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110.png"/><Relationship Id="rId4" Type="http://schemas.openxmlformats.org/officeDocument/2006/relationships/image" Target="../media/image7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5FE320-6603-F8DF-B702-96177340E457}"/>
              </a:ext>
            </a:extLst>
          </p:cNvPr>
          <p:cNvSpPr txBox="1"/>
          <p:nvPr/>
        </p:nvSpPr>
        <p:spPr>
          <a:xfrm>
            <a:off x="2597724" y="1196848"/>
            <a:ext cx="6996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latin typeface="FangSong" panose="02010609060101010101" pitchFamily="49" charset="-122"/>
                <a:ea typeface="FangSong" panose="02010609060101010101" pitchFamily="49" charset="-122"/>
              </a:rPr>
              <a:t>两点关联函数和关联长度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BA9F13-3CE9-A03E-A57E-AE7D4F5D2221}"/>
              </a:ext>
            </a:extLst>
          </p:cNvPr>
          <p:cNvSpPr txBox="1">
            <a:spLocks/>
          </p:cNvSpPr>
          <p:nvPr/>
        </p:nvSpPr>
        <p:spPr>
          <a:xfrm>
            <a:off x="3622960" y="79033"/>
            <a:ext cx="5971309" cy="906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热物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（第十五六周）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138594-336C-1502-3A0E-27526D9AF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130" y="2239047"/>
            <a:ext cx="8825739" cy="432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7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5FE320-6603-F8DF-B702-96177340E457}"/>
              </a:ext>
            </a:extLst>
          </p:cNvPr>
          <p:cNvSpPr txBox="1"/>
          <p:nvPr/>
        </p:nvSpPr>
        <p:spPr>
          <a:xfrm>
            <a:off x="0" y="96982"/>
            <a:ext cx="6054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第三周课引入温度的时候</a:t>
            </a:r>
            <a:endParaRPr lang="en-CN" sz="28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F0DE6D-465C-43C4-7B79-231C51D401B0}"/>
              </a:ext>
            </a:extLst>
          </p:cNvPr>
          <p:cNvCxnSpPr/>
          <p:nvPr/>
        </p:nvCxnSpPr>
        <p:spPr>
          <a:xfrm>
            <a:off x="7542838" y="858982"/>
            <a:ext cx="0" cy="3948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0672281-A35A-54E9-BB11-3C57CC9D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798"/>
            <a:ext cx="7772400" cy="4380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52C67B-857A-FE5F-89A1-CD017FF07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25" y="4305513"/>
            <a:ext cx="4529375" cy="255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4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E57100-CCBF-B881-9C35-902F5ED64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7120" y="904009"/>
            <a:ext cx="6733309" cy="5049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A0DD84-6FF8-1F6F-38F2-492EE30E2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9" y="526473"/>
            <a:ext cx="6433996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49EE5A-CADC-96C8-09CA-44F55A527290}"/>
              </a:ext>
            </a:extLst>
          </p:cNvPr>
          <p:cNvSpPr txBox="1"/>
          <p:nvPr/>
        </p:nvSpPr>
        <p:spPr>
          <a:xfrm>
            <a:off x="748146" y="5098473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/>
              <a:t>临界点附近不同点的涨落不是相互独立的</a:t>
            </a:r>
            <a:r>
              <a:rPr lang="zh-CN" altLang="en-US" sz="2800" dirty="0"/>
              <a:t>，彼此有关联</a:t>
            </a:r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189408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F6D7691-9579-8243-A6CF-AE72C6A9E7AF}"/>
              </a:ext>
            </a:extLst>
          </p:cNvPr>
          <p:cNvSpPr txBox="1">
            <a:spLocks/>
          </p:cNvSpPr>
          <p:nvPr/>
        </p:nvSpPr>
        <p:spPr>
          <a:xfrm>
            <a:off x="3752084" y="114254"/>
            <a:ext cx="4410741" cy="77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一维Ising</a:t>
            </a:r>
            <a:r>
              <a:rPr lang="zh-CN" altLang="en-US" sz="3200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lang="en-US" sz="3200" dirty="0">
                <a:latin typeface="FangSong" panose="02010609060101010101" pitchFamily="49" charset="-122"/>
                <a:ea typeface="FangSong" panose="02010609060101010101" pitchFamily="49" charset="-122"/>
              </a:rPr>
              <a:t>Model</a:t>
            </a:r>
            <a:endParaRPr lang="en-CN" sz="32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23EE16-86DB-3889-33DD-4B1CA9C6DC25}"/>
              </a:ext>
            </a:extLst>
          </p:cNvPr>
          <p:cNvSpPr txBox="1"/>
          <p:nvPr/>
        </p:nvSpPr>
        <p:spPr>
          <a:xfrm>
            <a:off x="1205345" y="1205345"/>
            <a:ext cx="324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/>
              <a:t>严格解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27C68-1E80-9A9B-20D5-A564DE33CBCA}"/>
              </a:ext>
            </a:extLst>
          </p:cNvPr>
          <p:cNvSpPr txBox="1"/>
          <p:nvPr/>
        </p:nvSpPr>
        <p:spPr>
          <a:xfrm>
            <a:off x="7315200" y="1205345"/>
            <a:ext cx="324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/>
              <a:t>平均场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7D4A88-6D6A-5A23-41A8-CD9C147F6C99}"/>
                  </a:ext>
                </a:extLst>
              </p:cNvPr>
              <p:cNvSpPr txBox="1"/>
              <p:nvPr/>
            </p:nvSpPr>
            <p:spPr>
              <a:xfrm>
                <a:off x="1503217" y="1967345"/>
                <a:ext cx="28401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7D4A88-6D6A-5A23-41A8-CD9C147F6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17" y="1967345"/>
                <a:ext cx="2840182" cy="369332"/>
              </a:xfrm>
              <a:prstGeom prst="rect">
                <a:avLst/>
              </a:prstGeom>
              <a:blipFill>
                <a:blip r:embed="rId2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60413C0-90FE-E399-36EA-B4A5CCC44F01}"/>
              </a:ext>
            </a:extLst>
          </p:cNvPr>
          <p:cNvSpPr txBox="1"/>
          <p:nvPr/>
        </p:nvSpPr>
        <p:spPr>
          <a:xfrm>
            <a:off x="110835" y="1967345"/>
            <a:ext cx="139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配分函数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9B6D0A-7EF8-167F-19C0-EDCC1E11C509}"/>
                  </a:ext>
                </a:extLst>
              </p:cNvPr>
              <p:cNvSpPr txBox="1"/>
              <p:nvPr/>
            </p:nvSpPr>
            <p:spPr>
              <a:xfrm>
                <a:off x="6096000" y="1870524"/>
                <a:ext cx="6096000" cy="407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9B6D0A-7EF8-167F-19C0-EDCC1E11C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70524"/>
                <a:ext cx="6096000" cy="407163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8C0C9B4-05CA-F27B-F2EE-5E3B1C71023A}"/>
              </a:ext>
            </a:extLst>
          </p:cNvPr>
          <p:cNvSpPr txBox="1"/>
          <p:nvPr/>
        </p:nvSpPr>
        <p:spPr>
          <a:xfrm>
            <a:off x="110836" y="2867891"/>
            <a:ext cx="109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相变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5EF0E-D394-F0CE-44F9-8EAD1697889E}"/>
                  </a:ext>
                </a:extLst>
              </p:cNvPr>
              <p:cNvSpPr txBox="1"/>
              <p:nvPr/>
            </p:nvSpPr>
            <p:spPr>
              <a:xfrm>
                <a:off x="2410691" y="2867891"/>
                <a:ext cx="10529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5EF0E-D394-F0CE-44F9-8EAD16978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91" y="2867891"/>
                <a:ext cx="10529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628D18-8555-5BBE-DE1E-BE59BC6E905A}"/>
                  </a:ext>
                </a:extLst>
              </p:cNvPr>
              <p:cNvSpPr txBox="1"/>
              <p:nvPr/>
            </p:nvSpPr>
            <p:spPr>
              <a:xfrm>
                <a:off x="8409709" y="2867891"/>
                <a:ext cx="1052945" cy="38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628D18-8555-5BBE-DE1E-BE59BC6E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709" y="2867891"/>
                <a:ext cx="1052945" cy="389979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A5563B-E152-962A-D0A5-6AD83FE9C8F3}"/>
              </a:ext>
            </a:extLst>
          </p:cNvPr>
          <p:cNvSpPr txBox="1"/>
          <p:nvPr/>
        </p:nvSpPr>
        <p:spPr>
          <a:xfrm>
            <a:off x="1503216" y="4339176"/>
            <a:ext cx="8769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Z</a:t>
            </a:r>
            <a:r>
              <a:rPr lang="en-CN" sz="4000" dirty="0"/>
              <a:t>ero temperature phase transition?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0BB1F-C0DB-2019-469A-DDE556A1EA83}"/>
              </a:ext>
            </a:extLst>
          </p:cNvPr>
          <p:cNvSpPr txBox="1"/>
          <p:nvPr/>
        </p:nvSpPr>
        <p:spPr>
          <a:xfrm>
            <a:off x="96980" y="3768437"/>
            <a:ext cx="139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CN" dirty="0"/>
              <a:t>educed</a:t>
            </a:r>
            <a:r>
              <a:rPr lang="zh-CN" altLang="en-US" dirty="0"/>
              <a:t> </a:t>
            </a:r>
            <a:r>
              <a:rPr lang="en-US" altLang="zh-CN" dirty="0"/>
              <a:t>tau</a:t>
            </a:r>
            <a:endParaRPr lang="en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7F7B5C-0B89-BBC1-0D3C-5A963D331019}"/>
                  </a:ext>
                </a:extLst>
              </p:cNvPr>
              <p:cNvSpPr txBox="1"/>
              <p:nvPr/>
            </p:nvSpPr>
            <p:spPr>
              <a:xfrm>
                <a:off x="2168237" y="3775343"/>
                <a:ext cx="1295399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7F7B5C-0B89-BBC1-0D3C-5A963D331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237" y="3775343"/>
                <a:ext cx="1295399" cy="379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F2E474-5F08-F704-02CB-605455827D9D}"/>
                  </a:ext>
                </a:extLst>
              </p:cNvPr>
              <p:cNvSpPr txBox="1"/>
              <p:nvPr/>
            </p:nvSpPr>
            <p:spPr>
              <a:xfrm>
                <a:off x="7980220" y="3664467"/>
                <a:ext cx="1496291" cy="611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F2E474-5F08-F704-02CB-605455827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220" y="3664467"/>
                <a:ext cx="1496291" cy="6115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3A3886D-02D9-571F-85D2-AF2C84CF0055}"/>
              </a:ext>
            </a:extLst>
          </p:cNvPr>
          <p:cNvSpPr txBox="1"/>
          <p:nvPr/>
        </p:nvSpPr>
        <p:spPr>
          <a:xfrm>
            <a:off x="3463636" y="5320145"/>
            <a:ext cx="494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/>
              <a:t>纯粹为了教学方便</a:t>
            </a:r>
          </a:p>
        </p:txBody>
      </p:sp>
    </p:spTree>
    <p:extLst>
      <p:ext uri="{BB962C8B-B14F-4D97-AF65-F5344CB8AC3E}">
        <p14:creationId xmlns:p14="http://schemas.microsoft.com/office/powerpoint/2010/main" val="39474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F5277-0B8C-B698-85AD-E74344059DEF}"/>
              </a:ext>
            </a:extLst>
          </p:cNvPr>
          <p:cNvSpPr txBox="1"/>
          <p:nvPr/>
        </p:nvSpPr>
        <p:spPr>
          <a:xfrm>
            <a:off x="581891" y="471054"/>
            <a:ext cx="447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关联函数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6FB324-54D0-3FDA-AC35-7E393866C08A}"/>
                  </a:ext>
                </a:extLst>
              </p:cNvPr>
              <p:cNvSpPr txBox="1"/>
              <p:nvPr/>
            </p:nvSpPr>
            <p:spPr>
              <a:xfrm>
                <a:off x="2757054" y="840386"/>
                <a:ext cx="667789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6FB324-54D0-3FDA-AC35-7E393866C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054" y="840386"/>
                <a:ext cx="6677891" cy="1083182"/>
              </a:xfrm>
              <a:prstGeom prst="rect">
                <a:avLst/>
              </a:prstGeom>
              <a:blipFill>
                <a:blip r:embed="rId2"/>
                <a:stretch>
                  <a:fillRect b="-58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ECDFD4-276C-978A-0C60-13B56C20C935}"/>
                  </a:ext>
                </a:extLst>
              </p:cNvPr>
              <p:cNvSpPr txBox="1"/>
              <p:nvPr/>
            </p:nvSpPr>
            <p:spPr>
              <a:xfrm>
                <a:off x="1399309" y="2292900"/>
                <a:ext cx="9822873" cy="3900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N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, 表示两点统计无关</a:t>
                </a:r>
                <a:r>
                  <a:rPr lang="zh-CN" altLang="en-US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（无相互作用）。当两点距离无穷远时候的自然边界条件。</a:t>
                </a:r>
                <a:endParaRPr lang="en-US" altLang="zh-CN" sz="2400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考虑</a:t>
                </a:r>
                <a:r>
                  <a:rPr lang="en-US" altLang="zh-CN" sz="2400" dirty="0" err="1">
                    <a:latin typeface="FangSong" panose="02010609060101010101" pitchFamily="49" charset="-122"/>
                    <a:ea typeface="FangSong" panose="02010609060101010101" pitchFamily="49" charset="-122"/>
                  </a:rPr>
                  <a:t>ij</a:t>
                </a:r>
                <a:r>
                  <a:rPr lang="zh-CN" altLang="en-US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在同一点，关联函数表示该点之涨落。</a:t>
                </a:r>
                <a:endParaRPr lang="en-US" altLang="zh-CN" sz="2400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一维Ising模型严格解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关联长度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（特征值）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coth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CN" sz="24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zh-CN" altLang="en-US" sz="2400" dirty="0">
                    <a:solidFill>
                      <a:schemeClr val="bg2">
                        <a:lumMod val="75000"/>
                      </a:schemeClr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</a:t>
                </a:r>
                <a:r>
                  <a:rPr lang="en-US" altLang="zh-CN" sz="2400" dirty="0">
                    <a:solidFill>
                      <a:schemeClr val="bg2">
                        <a:lumMod val="75000"/>
                      </a:schemeClr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a)</a:t>
                </a:r>
                <a:r>
                  <a:rPr lang="en-CN" sz="2400" dirty="0">
                    <a:solidFill>
                      <a:schemeClr val="bg2">
                        <a:lumMod val="75000"/>
                      </a:schemeClr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当温度趋于零的时候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CN" sz="24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CN" sz="2400" dirty="0">
                    <a:solidFill>
                      <a:schemeClr val="bg2">
                        <a:lumMod val="75000"/>
                      </a:schemeClr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    , 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CN" sz="2400" dirty="0">
                  <a:solidFill>
                    <a:schemeClr val="bg2">
                      <a:lumMod val="75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en-CN" sz="2400" dirty="0">
                    <a:solidFill>
                      <a:schemeClr val="bg2">
                        <a:lumMod val="75000"/>
                      </a:schemeClr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b)当温度趋于零的时候</a:t>
                </a:r>
                <a:r>
                  <a:rPr lang="zh-CN" altLang="en-US" sz="2400" dirty="0">
                    <a:solidFill>
                      <a:schemeClr val="bg2">
                        <a:lumMod val="75000"/>
                      </a:schemeClr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，关联长度趋于无穷大</a:t>
                </a:r>
                <a:endParaRPr lang="en-CN" sz="2400" dirty="0">
                  <a:solidFill>
                    <a:schemeClr val="bg2">
                      <a:lumMod val="75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ECDFD4-276C-978A-0C60-13B56C20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309" y="2292900"/>
                <a:ext cx="9822873" cy="3900042"/>
              </a:xfrm>
              <a:prstGeom prst="rect">
                <a:avLst/>
              </a:prstGeom>
              <a:blipFill>
                <a:blip r:embed="rId3"/>
                <a:stretch>
                  <a:fillRect l="-904" t="-1623" r="-388" b="-162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375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C1FF35-2945-99D9-B307-C1154ABCDD04}"/>
              </a:ext>
            </a:extLst>
          </p:cNvPr>
          <p:cNvSpPr txBox="1"/>
          <p:nvPr/>
        </p:nvSpPr>
        <p:spPr>
          <a:xfrm>
            <a:off x="3449781" y="193964"/>
            <a:ext cx="504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一维Ising模型计算关联函数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（补充）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6FB28-71DF-8540-ECD9-719B268A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296"/>
            <a:ext cx="6176139" cy="62947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2BC2A1-78C6-6A13-4C34-A9E58BB00910}"/>
              </a:ext>
            </a:extLst>
          </p:cNvPr>
          <p:cNvSpPr txBox="1"/>
          <p:nvPr/>
        </p:nvSpPr>
        <p:spPr>
          <a:xfrm>
            <a:off x="6691745" y="2505670"/>
            <a:ext cx="5500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把自旋放在相应位置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，为了写成矩阵相乘（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98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引入T的本征方程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，和之前讲的严格解一致（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100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插入完备集（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101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432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2F2D29-2891-93C9-7CA0-67C1ADC6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1" y="360218"/>
            <a:ext cx="6021959" cy="61375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515410-E7E7-0D99-44D7-C7894FABC543}"/>
              </a:ext>
            </a:extLst>
          </p:cNvPr>
          <p:cNvSpPr txBox="1"/>
          <p:nvPr/>
        </p:nvSpPr>
        <p:spPr>
          <a:xfrm>
            <a:off x="6914400" y="3585575"/>
            <a:ext cx="550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热力学极限下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，保留最大本征值（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103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620E-E3A6-3829-D51D-5AAB0357FB68}"/>
                  </a:ext>
                </a:extLst>
              </p:cNvPr>
              <p:cNvSpPr txBox="1"/>
              <p:nvPr/>
            </p:nvSpPr>
            <p:spPr>
              <a:xfrm>
                <a:off x="8185817" y="3954907"/>
                <a:ext cx="2299855" cy="840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N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07620E-E3A6-3829-D51D-5AAB0357F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817" y="3954907"/>
                <a:ext cx="2299855" cy="840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4288F17-39AF-82F6-87D3-9D40FAC31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743" y="123536"/>
            <a:ext cx="5067300" cy="59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7D0134-1425-CE0D-29E8-64020CDD7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679" y="1281199"/>
            <a:ext cx="5292472" cy="1991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72AC95-6171-0665-A0A6-E23F66AA5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57" y="4631137"/>
            <a:ext cx="2246340" cy="2026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630CE2-0111-51F8-42C2-4EAB6796784A}"/>
                  </a:ext>
                </a:extLst>
              </p:cNvPr>
              <p:cNvSpPr txBox="1"/>
              <p:nvPr/>
            </p:nvSpPr>
            <p:spPr>
              <a:xfrm>
                <a:off x="8640688" y="5508593"/>
                <a:ext cx="3689968" cy="657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a)</a:t>
                </a:r>
                <a:r>
                  <a:rPr lang="en-CN" sz="12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当温度趋于零的时候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CN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CN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CN" sz="12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    , t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CN" sz="12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en-CN" sz="12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b)当温度趋于零的时候</a:t>
                </a:r>
                <a:r>
                  <a:rPr lang="zh-CN" altLang="en-US" sz="12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，关联长度趋于无穷大</a:t>
                </a:r>
                <a:endParaRPr lang="en-CN" sz="12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630CE2-0111-51F8-42C2-4EAB67967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688" y="5508593"/>
                <a:ext cx="3689968" cy="657039"/>
              </a:xfrm>
              <a:prstGeom prst="rect">
                <a:avLst/>
              </a:prstGeom>
              <a:blipFill>
                <a:blip r:embed="rId7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878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F5277-0B8C-B698-85AD-E74344059DEF}"/>
              </a:ext>
            </a:extLst>
          </p:cNvPr>
          <p:cNvSpPr txBox="1"/>
          <p:nvPr/>
        </p:nvSpPr>
        <p:spPr>
          <a:xfrm>
            <a:off x="581891" y="471054"/>
            <a:ext cx="447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关联函数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6FB324-54D0-3FDA-AC35-7E393866C08A}"/>
                  </a:ext>
                </a:extLst>
              </p:cNvPr>
              <p:cNvSpPr txBox="1"/>
              <p:nvPr/>
            </p:nvSpPr>
            <p:spPr>
              <a:xfrm>
                <a:off x="2757054" y="840386"/>
                <a:ext cx="667789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6FB324-54D0-3FDA-AC35-7E393866C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054" y="840386"/>
                <a:ext cx="6677891" cy="1083182"/>
              </a:xfrm>
              <a:prstGeom prst="rect">
                <a:avLst/>
              </a:prstGeom>
              <a:blipFill>
                <a:blip r:embed="rId2"/>
                <a:stretch>
                  <a:fillRect b="-58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ECDFD4-276C-978A-0C60-13B56C20C935}"/>
                  </a:ext>
                </a:extLst>
              </p:cNvPr>
              <p:cNvSpPr txBox="1"/>
              <p:nvPr/>
            </p:nvSpPr>
            <p:spPr>
              <a:xfrm>
                <a:off x="1399309" y="2292900"/>
                <a:ext cx="9822873" cy="3900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N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, 表示两点统计无关</a:t>
                </a:r>
                <a:r>
                  <a:rPr lang="zh-CN" altLang="en-US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（无相互作用）。当两点距离无穷远时候的自然边界条件。</a:t>
                </a:r>
                <a:endParaRPr lang="en-US" altLang="zh-CN" sz="2400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考虑</a:t>
                </a:r>
                <a:r>
                  <a:rPr lang="en-US" altLang="zh-CN" sz="2400" dirty="0" err="1">
                    <a:latin typeface="FangSong" panose="02010609060101010101" pitchFamily="49" charset="-122"/>
                    <a:ea typeface="FangSong" panose="02010609060101010101" pitchFamily="49" charset="-122"/>
                  </a:rPr>
                  <a:t>ij</a:t>
                </a:r>
                <a:r>
                  <a:rPr lang="zh-CN" altLang="en-US" sz="240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在同一点，关联函数表示该点之涨落。</a:t>
                </a:r>
                <a:endParaRPr lang="en-US" altLang="zh-CN" sz="2400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一维Ising模型严格解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N" sz="24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关联长度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（特征值）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coth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CN" sz="24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zh-CN" altLang="en-US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a)</a:t>
                </a:r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当温度趋于零的时候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    , 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CN" sz="24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en-CN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    b)当温度趋于零的时候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，关联长度趋于无穷大</a:t>
                </a:r>
                <a:endParaRPr lang="en-CN" sz="2400" dirty="0">
                  <a:solidFill>
                    <a:srgbClr val="FF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ECDFD4-276C-978A-0C60-13B56C20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309" y="2292900"/>
                <a:ext cx="9822873" cy="3900042"/>
              </a:xfrm>
              <a:prstGeom prst="rect">
                <a:avLst/>
              </a:prstGeom>
              <a:blipFill>
                <a:blip r:embed="rId3"/>
                <a:stretch>
                  <a:fillRect l="-904" t="-1623" r="-388" b="-162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959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5E0AC-9E07-B890-FB88-2AE8D648B5F7}"/>
              </a:ext>
            </a:extLst>
          </p:cNvPr>
          <p:cNvSpPr txBox="1"/>
          <p:nvPr/>
        </p:nvSpPr>
        <p:spPr>
          <a:xfrm>
            <a:off x="221672" y="251660"/>
            <a:ext cx="4405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平均场近似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3EACCD-0854-DE7A-3EFC-1E9C1864C57B}"/>
                  </a:ext>
                </a:extLst>
              </p:cNvPr>
              <p:cNvSpPr txBox="1"/>
              <p:nvPr/>
            </p:nvSpPr>
            <p:spPr>
              <a:xfrm>
                <a:off x="2189018" y="928254"/>
                <a:ext cx="7287491" cy="164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3EACCD-0854-DE7A-3EFC-1E9C1864C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018" y="928254"/>
                <a:ext cx="7287491" cy="1643976"/>
              </a:xfrm>
              <a:prstGeom prst="rect">
                <a:avLst/>
              </a:prstGeom>
              <a:blipFill>
                <a:blip r:embed="rId2"/>
                <a:stretch>
                  <a:fillRect t="-49618" b="-7480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4E6C8-1E18-B096-C478-9DA675C9E657}"/>
                  </a:ext>
                </a:extLst>
              </p:cNvPr>
              <p:cNvSpPr txBox="1"/>
              <p:nvPr/>
            </p:nvSpPr>
            <p:spPr>
              <a:xfrm>
                <a:off x="9476509" y="1683958"/>
                <a:ext cx="2119746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4E6C8-1E18-B096-C478-9DA675C9E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509" y="1683958"/>
                <a:ext cx="2119746" cy="795859"/>
              </a:xfrm>
              <a:prstGeom prst="rect">
                <a:avLst/>
              </a:prstGeom>
              <a:blipFill>
                <a:blip r:embed="rId3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33C2CF3-76FF-CB45-3A3C-07B5A997979D}"/>
              </a:ext>
            </a:extLst>
          </p:cNvPr>
          <p:cNvSpPr txBox="1"/>
          <p:nvPr/>
        </p:nvSpPr>
        <p:spPr>
          <a:xfrm>
            <a:off x="1510145" y="2937164"/>
            <a:ext cx="796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忽略涨落的二次项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平移不变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6F4E5545-4C7E-BFE6-E1BD-8D38881ABF13}"/>
              </a:ext>
            </a:extLst>
          </p:cNvPr>
          <p:cNvSpPr/>
          <p:nvPr/>
        </p:nvSpPr>
        <p:spPr>
          <a:xfrm>
            <a:off x="5389418" y="2937164"/>
            <a:ext cx="443345" cy="12884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52E87E-B61F-FE55-20E8-0CD74513F886}"/>
                  </a:ext>
                </a:extLst>
              </p:cNvPr>
              <p:cNvSpPr txBox="1"/>
              <p:nvPr/>
            </p:nvSpPr>
            <p:spPr>
              <a:xfrm>
                <a:off x="4516582" y="4475018"/>
                <a:ext cx="22167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52E87E-B61F-FE55-20E8-0CD74513F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582" y="4475018"/>
                <a:ext cx="2216727" cy="52322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87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BAC639-2B73-A2E0-1436-27BA52A96F37}"/>
                  </a:ext>
                </a:extLst>
              </p:cNvPr>
              <p:cNvSpPr txBox="1"/>
              <p:nvPr/>
            </p:nvSpPr>
            <p:spPr>
              <a:xfrm>
                <a:off x="2521527" y="718295"/>
                <a:ext cx="7384473" cy="863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800" dirty="0">
                    <a:solidFill>
                      <a:srgbClr val="C0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假定</a:t>
                </a:r>
                <a:r>
                  <a:rPr lang="zh-CN" altLang="en-US" sz="2800" dirty="0">
                    <a:solidFill>
                      <a:srgbClr val="C0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CN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begChr m:val="⟨"/>
                        <m:endChr m:val="⟩"/>
                        <m:ctrlPr>
                          <a:rPr lang="en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C0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，且平均值随空间缓慢变化</a:t>
                </a:r>
                <a:endParaRPr lang="en-CN" sz="2800" dirty="0">
                  <a:solidFill>
                    <a:srgbClr val="C00000"/>
                  </a:solidFill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:endParaRPr lang="en-C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BAC639-2B73-A2E0-1436-27BA52A96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527" y="718295"/>
                <a:ext cx="7384473" cy="863763"/>
              </a:xfrm>
              <a:prstGeom prst="rect">
                <a:avLst/>
              </a:prstGeom>
              <a:blipFill>
                <a:blip r:embed="rId2"/>
                <a:stretch>
                  <a:fillRect t="-724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00583-3CB0-622A-8898-FF71819BC376}"/>
              </a:ext>
            </a:extLst>
          </p:cNvPr>
          <p:cNvCxnSpPr/>
          <p:nvPr/>
        </p:nvCxnSpPr>
        <p:spPr>
          <a:xfrm>
            <a:off x="3879273" y="1814945"/>
            <a:ext cx="41979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7A631B5-2150-B196-C3E7-9BB1EFC2D3C5}"/>
              </a:ext>
            </a:extLst>
          </p:cNvPr>
          <p:cNvSpPr/>
          <p:nvPr/>
        </p:nvSpPr>
        <p:spPr>
          <a:xfrm>
            <a:off x="5763491" y="1704109"/>
            <a:ext cx="214745" cy="2355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CD78C2-2D4F-8379-11B0-6C3E439BA594}"/>
              </a:ext>
            </a:extLst>
          </p:cNvPr>
          <p:cNvSpPr/>
          <p:nvPr/>
        </p:nvSpPr>
        <p:spPr>
          <a:xfrm>
            <a:off x="4973782" y="1704109"/>
            <a:ext cx="214745" cy="2355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A2D0E6-A19F-99AC-A32A-9874AB4A9C8A}"/>
              </a:ext>
            </a:extLst>
          </p:cNvPr>
          <p:cNvSpPr/>
          <p:nvPr/>
        </p:nvSpPr>
        <p:spPr>
          <a:xfrm>
            <a:off x="6518563" y="1704109"/>
            <a:ext cx="214745" cy="2355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E8BA2-E936-8B7E-114B-844821EA7B8D}"/>
              </a:ext>
            </a:extLst>
          </p:cNvPr>
          <p:cNvSpPr txBox="1"/>
          <p:nvPr/>
        </p:nvSpPr>
        <p:spPr>
          <a:xfrm>
            <a:off x="5763491" y="2008905"/>
            <a:ext cx="21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63FDD-7197-D3F5-F992-FE8484AD17DD}"/>
              </a:ext>
            </a:extLst>
          </p:cNvPr>
          <p:cNvSpPr txBox="1"/>
          <p:nvPr/>
        </p:nvSpPr>
        <p:spPr>
          <a:xfrm>
            <a:off x="6411190" y="12196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A4E38-226E-5DB7-9A88-6F6A9C97CB28}"/>
              </a:ext>
            </a:extLst>
          </p:cNvPr>
          <p:cNvSpPr txBox="1"/>
          <p:nvPr/>
        </p:nvSpPr>
        <p:spPr>
          <a:xfrm>
            <a:off x="4935681" y="121944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-a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DF14BF-0F9C-4A94-BA0E-BCC33074964C}"/>
                  </a:ext>
                </a:extLst>
              </p:cNvPr>
              <p:cNvSpPr txBox="1"/>
              <p:nvPr/>
            </p:nvSpPr>
            <p:spPr>
              <a:xfrm>
                <a:off x="6518563" y="2516787"/>
                <a:ext cx="4177145" cy="66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DF14BF-0F9C-4A94-BA0E-BCC330749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563" y="2516787"/>
                <a:ext cx="4177145" cy="664990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399960D8-555A-E3DC-13CD-1D2E9158F495}"/>
              </a:ext>
            </a:extLst>
          </p:cNvPr>
          <p:cNvSpPr/>
          <p:nvPr/>
        </p:nvSpPr>
        <p:spPr>
          <a:xfrm rot="19341055" flipH="1">
            <a:off x="6916251" y="1983590"/>
            <a:ext cx="189156" cy="706038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E1AB14F-10C1-919A-8EAF-FE484DBD6984}"/>
              </a:ext>
            </a:extLst>
          </p:cNvPr>
          <p:cNvSpPr/>
          <p:nvPr/>
        </p:nvSpPr>
        <p:spPr>
          <a:xfrm>
            <a:off x="5392881" y="2516787"/>
            <a:ext cx="1125682" cy="164872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B35BF-330C-716E-A2F1-06DB479E9947}"/>
                  </a:ext>
                </a:extLst>
              </p:cNvPr>
              <p:cNvSpPr txBox="1"/>
              <p:nvPr/>
            </p:nvSpPr>
            <p:spPr>
              <a:xfrm>
                <a:off x="3408217" y="4445606"/>
                <a:ext cx="5095010" cy="843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B35BF-330C-716E-A2F1-06DB479E9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217" y="4445606"/>
                <a:ext cx="5095010" cy="843501"/>
              </a:xfrm>
              <a:prstGeom prst="rect">
                <a:avLst/>
              </a:prstGeom>
              <a:blipFill>
                <a:blip r:embed="rId4"/>
                <a:stretch>
                  <a:fillRect t="-105882" b="-1455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959544A-9743-53CE-0A9B-5035C3334858}"/>
              </a:ext>
            </a:extLst>
          </p:cNvPr>
          <p:cNvSpPr txBox="1"/>
          <p:nvPr/>
        </p:nvSpPr>
        <p:spPr>
          <a:xfrm>
            <a:off x="3505200" y="5430982"/>
            <a:ext cx="5694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考虑三维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零阶项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q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个（邻居），一阶项对称抵消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保留到二阶项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4669ABB3-7F00-CE94-54BF-A8DF3DC82ED4}"/>
              </a:ext>
            </a:extLst>
          </p:cNvPr>
          <p:cNvSpPr/>
          <p:nvPr/>
        </p:nvSpPr>
        <p:spPr>
          <a:xfrm>
            <a:off x="8077200" y="4752109"/>
            <a:ext cx="426027" cy="152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169B2-AFA7-C9FB-5ABB-7146A6B684CB}"/>
              </a:ext>
            </a:extLst>
          </p:cNvPr>
          <p:cNvSpPr txBox="1"/>
          <p:nvPr/>
        </p:nvSpPr>
        <p:spPr>
          <a:xfrm>
            <a:off x="8825344" y="4613564"/>
            <a:ext cx="300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代表不再具有平移不变性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7AA42-8D44-6F75-40BB-34BE059AE4A8}"/>
              </a:ext>
            </a:extLst>
          </p:cNvPr>
          <p:cNvSpPr txBox="1"/>
          <p:nvPr/>
        </p:nvSpPr>
        <p:spPr>
          <a:xfrm>
            <a:off x="221672" y="251660"/>
            <a:ext cx="4405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尝试平均场近似给出关联长度</a:t>
            </a:r>
          </a:p>
        </p:txBody>
      </p:sp>
    </p:spTree>
    <p:extLst>
      <p:ext uri="{BB962C8B-B14F-4D97-AF65-F5344CB8AC3E}">
        <p14:creationId xmlns:p14="http://schemas.microsoft.com/office/powerpoint/2010/main" val="4264652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0F4FBE-186B-C3C2-7440-EB83AABFFDC0}"/>
              </a:ext>
            </a:extLst>
          </p:cNvPr>
          <p:cNvSpPr txBox="1"/>
          <p:nvPr/>
        </p:nvSpPr>
        <p:spPr>
          <a:xfrm>
            <a:off x="831273" y="360218"/>
            <a:ext cx="495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重复平均场的计算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，可以得到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0F4A9E-4BC3-C8F9-4725-071E2DF99A87}"/>
                  </a:ext>
                </a:extLst>
              </p:cNvPr>
              <p:cNvSpPr txBox="1"/>
              <p:nvPr/>
            </p:nvSpPr>
            <p:spPr>
              <a:xfrm>
                <a:off x="2535382" y="916770"/>
                <a:ext cx="609600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tanh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𝑞𝐽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0F4A9E-4BC3-C8F9-4725-071E2DF99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382" y="916770"/>
                <a:ext cx="6096000" cy="648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AAA2260F-C7E9-7B5E-D6C5-3D7F25EE98D2}"/>
              </a:ext>
            </a:extLst>
          </p:cNvPr>
          <p:cNvSpPr/>
          <p:nvPr/>
        </p:nvSpPr>
        <p:spPr>
          <a:xfrm>
            <a:off x="5153890" y="1564961"/>
            <a:ext cx="124691" cy="12059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56C1E4-D189-31CD-85F9-F6DEAAE7A4D0}"/>
                  </a:ext>
                </a:extLst>
              </p:cNvPr>
              <p:cNvSpPr txBox="1"/>
              <p:nvPr/>
            </p:nvSpPr>
            <p:spPr>
              <a:xfrm>
                <a:off x="5389419" y="1668246"/>
                <a:ext cx="5320145" cy="761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临界点处展开</a:t>
                </a:r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（平均值趋于零，二阶导数更小，外场保留到一阶）</a:t>
                </a:r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56C1E4-D189-31CD-85F9-F6DEAAE7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419" y="1668246"/>
                <a:ext cx="5320145" cy="761875"/>
              </a:xfrm>
              <a:prstGeom prst="rect">
                <a:avLst/>
              </a:prstGeom>
              <a:blipFill>
                <a:blip r:embed="rId3"/>
                <a:stretch>
                  <a:fillRect l="-952" r="-3095" b="-114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64ACAE-111C-B4AC-3DD8-70BC95E70D32}"/>
                  </a:ext>
                </a:extLst>
              </p:cNvPr>
              <p:cNvSpPr txBox="1"/>
              <p:nvPr/>
            </p:nvSpPr>
            <p:spPr>
              <a:xfrm>
                <a:off x="2299855" y="3255818"/>
                <a:ext cx="6816436" cy="76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𝑞𝐽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64ACAE-111C-B4AC-3DD8-70BC95E70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855" y="3255818"/>
                <a:ext cx="6816436" cy="769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>
            <a:extLst>
              <a:ext uri="{FF2B5EF4-FFF2-40B4-BE49-F238E27FC236}">
                <a16:creationId xmlns:a16="http://schemas.microsoft.com/office/drawing/2014/main" id="{5F6B2E51-D0BF-B332-4F1F-D96C7F25F983}"/>
              </a:ext>
            </a:extLst>
          </p:cNvPr>
          <p:cNvSpPr/>
          <p:nvPr/>
        </p:nvSpPr>
        <p:spPr>
          <a:xfrm>
            <a:off x="5153890" y="4197325"/>
            <a:ext cx="124691" cy="7693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C1766F-41A2-AE13-4578-516D797A07C3}"/>
                  </a:ext>
                </a:extLst>
              </p:cNvPr>
              <p:cNvSpPr txBox="1"/>
              <p:nvPr/>
            </p:nvSpPr>
            <p:spPr>
              <a:xfrm>
                <a:off x="2895600" y="5334000"/>
                <a:ext cx="5278582" cy="658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𝐽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C1766F-41A2-AE13-4578-516D797A0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334000"/>
                <a:ext cx="5278582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66C866-935E-29E9-2965-4E7AADD82CA3}"/>
                  </a:ext>
                </a:extLst>
              </p:cNvPr>
              <p:cNvSpPr txBox="1"/>
              <p:nvPr/>
            </p:nvSpPr>
            <p:spPr>
              <a:xfrm>
                <a:off x="5929745" y="4405745"/>
                <a:ext cx="2576946" cy="56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qJ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66C866-935E-29E9-2965-4E7AADD82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45" y="4405745"/>
                <a:ext cx="2576946" cy="5648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A2CE1F9-0F94-1F48-A619-4F8E9A8E3C0F}"/>
              </a:ext>
            </a:extLst>
          </p:cNvPr>
          <p:cNvSpPr txBox="1"/>
          <p:nvPr/>
        </p:nvSpPr>
        <p:spPr>
          <a:xfrm>
            <a:off x="318655" y="1953491"/>
            <a:ext cx="2576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不会算的</a:t>
            </a:r>
            <a:r>
              <a:rPr lang="zh-CN" altLang="en-US" dirty="0"/>
              <a:t>，</a:t>
            </a:r>
            <a:r>
              <a:rPr lang="zh-CN" altLang="en-CN" dirty="0"/>
              <a:t>近似之</a:t>
            </a:r>
            <a:r>
              <a:rPr lang="zh-CN" altLang="en-US" dirty="0"/>
              <a:t>，直到会算为止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考虑结果的合理性（理论、实验）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然后给你的近似找一些理由，高大上一些的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419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FD7F9C-17E1-0F22-2DEC-CA2DA1D5EE4C}"/>
                  </a:ext>
                </a:extLst>
              </p:cNvPr>
              <p:cNvSpPr txBox="1"/>
              <p:nvPr/>
            </p:nvSpPr>
            <p:spPr>
              <a:xfrm>
                <a:off x="900545" y="1149918"/>
                <a:ext cx="8631382" cy="567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对上方程做b的微分</a:t>
                </a:r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，引入</a:t>
                </a:r>
                <a:r>
                  <a:rPr lang="en-US" altLang="zh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，并且假设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m</m:t>
                    </m:r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+</m:t>
                    </m:r>
                    <m:r>
                      <m:rPr>
                        <m:sty m:val="p"/>
                      </m:rPr>
                      <a:rPr lang="el-GR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，可以得到</a:t>
                </a:r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FD7F9C-17E1-0F22-2DEC-CA2DA1D5E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5" y="1149918"/>
                <a:ext cx="8631382" cy="567912"/>
              </a:xfrm>
              <a:prstGeom prst="rect">
                <a:avLst/>
              </a:prstGeom>
              <a:blipFill>
                <a:blip r:embed="rId3"/>
                <a:stretch>
                  <a:fillRect l="-735" b="-21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B1F1A9-7BB8-6F90-52DF-444B8B1D2A62}"/>
                  </a:ext>
                </a:extLst>
              </p:cNvPr>
              <p:cNvSpPr txBox="1"/>
              <p:nvPr/>
            </p:nvSpPr>
            <p:spPr>
              <a:xfrm>
                <a:off x="3976255" y="2015719"/>
                <a:ext cx="3948546" cy="5653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𝐽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B1F1A9-7BB8-6F90-52DF-444B8B1D2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255" y="2015719"/>
                <a:ext cx="3948546" cy="565348"/>
              </a:xfrm>
              <a:prstGeom prst="rect">
                <a:avLst/>
              </a:prstGeom>
              <a:blipFill>
                <a:blip r:embed="rId4"/>
                <a:stretch>
                  <a:fillRect t="-4348" b="-43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6C0F20-DBCE-1FA9-A123-54CAE8F273BF}"/>
                  </a:ext>
                </a:extLst>
              </p:cNvPr>
              <p:cNvSpPr txBox="1"/>
              <p:nvPr/>
            </p:nvSpPr>
            <p:spPr>
              <a:xfrm>
                <a:off x="3311237" y="193964"/>
                <a:ext cx="5278582" cy="658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𝐽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6C0F20-DBCE-1FA9-A123-54CAE8F27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237" y="193964"/>
                <a:ext cx="5278582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719A95-9E18-BBFF-1AF1-562876EEFF50}"/>
                  </a:ext>
                </a:extLst>
              </p:cNvPr>
              <p:cNvSpPr txBox="1"/>
              <p:nvPr/>
            </p:nvSpPr>
            <p:spPr>
              <a:xfrm>
                <a:off x="900545" y="3172691"/>
                <a:ext cx="4724400" cy="411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Suppose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719A95-9E18-BBFF-1AF1-562876EEF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5" y="3172691"/>
                <a:ext cx="4724400" cy="411395"/>
              </a:xfrm>
              <a:prstGeom prst="rect">
                <a:avLst/>
              </a:prstGeom>
              <a:blipFill>
                <a:blip r:embed="rId6"/>
                <a:stretch>
                  <a:fillRect l="-1340" b="-176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>
            <a:extLst>
              <a:ext uri="{FF2B5EF4-FFF2-40B4-BE49-F238E27FC236}">
                <a16:creationId xmlns:a16="http://schemas.microsoft.com/office/drawing/2014/main" id="{E74523BD-9D23-40E4-0154-61EFE6C936D5}"/>
              </a:ext>
            </a:extLst>
          </p:cNvPr>
          <p:cNvSpPr/>
          <p:nvPr/>
        </p:nvSpPr>
        <p:spPr>
          <a:xfrm>
            <a:off x="5216236" y="2854036"/>
            <a:ext cx="408709" cy="11499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4E51E6-2841-E6C1-FD87-57596BC30CFE}"/>
                  </a:ext>
                </a:extLst>
              </p:cNvPr>
              <p:cNvSpPr txBox="1"/>
              <p:nvPr/>
            </p:nvSpPr>
            <p:spPr>
              <a:xfrm>
                <a:off x="3616036" y="4364182"/>
                <a:ext cx="4433455" cy="926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𝐽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FangSong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FangSong" panose="02010609060101010101" pitchFamily="49" charset="-122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4E51E6-2841-E6C1-FD87-57596BC3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036" y="4364182"/>
                <a:ext cx="4433455" cy="926344"/>
              </a:xfrm>
              <a:prstGeom prst="rect">
                <a:avLst/>
              </a:prstGeom>
              <a:blipFill>
                <a:blip r:embed="rId7"/>
                <a:stretch>
                  <a:fillRect t="-116216" b="-1554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A6E708A-8B37-64C9-61BF-299C6C3B4C33}"/>
              </a:ext>
            </a:extLst>
          </p:cNvPr>
          <p:cNvSpPr txBox="1"/>
          <p:nvPr/>
        </p:nvSpPr>
        <p:spPr>
          <a:xfrm>
            <a:off x="1025236" y="5486400"/>
            <a:ext cx="33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关联长度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0E9881-1830-9B5F-2BFF-9720A871960B}"/>
                  </a:ext>
                </a:extLst>
              </p:cNvPr>
              <p:cNvSpPr txBox="1"/>
              <p:nvPr/>
            </p:nvSpPr>
            <p:spPr>
              <a:xfrm>
                <a:off x="4364182" y="5837756"/>
                <a:ext cx="3422072" cy="91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𝐽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0E9881-1830-9B5F-2BFF-9720A8719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82" y="5837756"/>
                <a:ext cx="3422072" cy="9106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3F04EB5-71D7-DB7E-37EB-A7FED8F190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9209" y="5132741"/>
            <a:ext cx="4548936" cy="176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8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AA3662-AC43-785B-65C6-9B98CFE4B6DF}"/>
              </a:ext>
            </a:extLst>
          </p:cNvPr>
          <p:cNvSpPr txBox="1"/>
          <p:nvPr/>
        </p:nvSpPr>
        <p:spPr>
          <a:xfrm>
            <a:off x="498763" y="1052941"/>
            <a:ext cx="580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平移不变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homogeneous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）假设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5DC383-E9F3-ACFD-0026-C9A650B1E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568" y="798822"/>
            <a:ext cx="4762500" cy="80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85C41-A05D-072A-7511-319B20519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191" y="2355272"/>
            <a:ext cx="6352747" cy="4336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47117-C745-BFE0-57ED-4AB6A9F591F3}"/>
              </a:ext>
            </a:extLst>
          </p:cNvPr>
          <p:cNvSpPr txBox="1"/>
          <p:nvPr/>
        </p:nvSpPr>
        <p:spPr>
          <a:xfrm>
            <a:off x="803564" y="2826327"/>
            <a:ext cx="362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Landau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B5BEA-1D07-4D08-FD54-A9ADAD4FAC43}"/>
              </a:ext>
            </a:extLst>
          </p:cNvPr>
          <p:cNvSpPr txBox="1"/>
          <p:nvPr/>
        </p:nvSpPr>
        <p:spPr>
          <a:xfrm>
            <a:off x="803564" y="4849094"/>
            <a:ext cx="362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Ginzburg</a:t>
            </a:r>
            <a:endParaRPr lang="en-CN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2B6135FC-DBA2-11C7-8203-03DEDC95EADF}"/>
              </a:ext>
            </a:extLst>
          </p:cNvPr>
          <p:cNvSpPr/>
          <p:nvPr/>
        </p:nvSpPr>
        <p:spPr>
          <a:xfrm>
            <a:off x="1122214" y="3195659"/>
            <a:ext cx="221674" cy="1556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2C729-4BB2-64F9-DA53-8BF37B8FA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729" y="4523507"/>
            <a:ext cx="1572681" cy="226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2652344-0637-C7A9-33E1-BC8DA532B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729" y="2008906"/>
            <a:ext cx="1561760" cy="220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0EBCE8-EB8B-25C0-8D66-C9FEE68782AE}"/>
              </a:ext>
            </a:extLst>
          </p:cNvPr>
          <p:cNvSpPr txBox="1"/>
          <p:nvPr/>
        </p:nvSpPr>
        <p:spPr>
          <a:xfrm>
            <a:off x="654050" y="290945"/>
            <a:ext cx="9639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关于平均场更一般的讨论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From Landau to Ginzburg-Landau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32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22F1E-2A18-3227-C96E-0DF9126C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1012536"/>
            <a:ext cx="10883900" cy="535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1BDA43-F79E-3FE9-3818-D861191342C8}"/>
              </a:ext>
            </a:extLst>
          </p:cNvPr>
          <p:cNvSpPr txBox="1"/>
          <p:nvPr/>
        </p:nvSpPr>
        <p:spPr>
          <a:xfrm>
            <a:off x="654050" y="290945"/>
            <a:ext cx="9639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关于平均场更一般的讨论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From Landau to Ginzburg-Landau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D1E60E9-A69F-6798-D599-D99D62C06B2F}"/>
              </a:ext>
            </a:extLst>
          </p:cNvPr>
          <p:cNvCxnSpPr/>
          <p:nvPr/>
        </p:nvCxnSpPr>
        <p:spPr>
          <a:xfrm flipV="1">
            <a:off x="4807527" y="1012536"/>
            <a:ext cx="3657600" cy="138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31FCF6-FF48-DD56-16B3-1E6A0DF25B81}"/>
              </a:ext>
            </a:extLst>
          </p:cNvPr>
          <p:cNvSpPr txBox="1"/>
          <p:nvPr/>
        </p:nvSpPr>
        <p:spPr>
          <a:xfrm>
            <a:off x="8742218" y="660277"/>
            <a:ext cx="203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空间依赖</a:t>
            </a:r>
          </a:p>
        </p:txBody>
      </p:sp>
    </p:spTree>
    <p:extLst>
      <p:ext uri="{BB962C8B-B14F-4D97-AF65-F5344CB8AC3E}">
        <p14:creationId xmlns:p14="http://schemas.microsoft.com/office/powerpoint/2010/main" val="1871590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F1EF-8924-2549-825C-0F1C6308E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76" y="0"/>
            <a:ext cx="757384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4C696F-B593-3F87-AB95-491BD8C7D1C3}"/>
              </a:ext>
            </a:extLst>
          </p:cNvPr>
          <p:cNvSpPr txBox="1"/>
          <p:nvPr/>
        </p:nvSpPr>
        <p:spPr>
          <a:xfrm>
            <a:off x="180109" y="318655"/>
            <a:ext cx="184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关联函数的定义</a:t>
            </a:r>
          </a:p>
        </p:txBody>
      </p:sp>
    </p:spTree>
    <p:extLst>
      <p:ext uri="{BB962C8B-B14F-4D97-AF65-F5344CB8AC3E}">
        <p14:creationId xmlns:p14="http://schemas.microsoft.com/office/powerpoint/2010/main" val="421957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BE96D-C239-8198-723B-AB435AE71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926" y="166255"/>
            <a:ext cx="9803121" cy="6691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ABD2B5-E0A8-2D6B-F1A3-CA11FEE6C2CB}"/>
              </a:ext>
            </a:extLst>
          </p:cNvPr>
          <p:cNvSpPr txBox="1"/>
          <p:nvPr/>
        </p:nvSpPr>
        <p:spPr>
          <a:xfrm>
            <a:off x="180109" y="318655"/>
            <a:ext cx="1842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关联函数和非定域磁化率的关系</a:t>
            </a:r>
          </a:p>
        </p:txBody>
      </p:sp>
    </p:spTree>
    <p:extLst>
      <p:ext uri="{BB962C8B-B14F-4D97-AF65-F5344CB8AC3E}">
        <p14:creationId xmlns:p14="http://schemas.microsoft.com/office/powerpoint/2010/main" val="326242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E643D-C391-B47E-B7DF-CDB3E95FD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032" y="83127"/>
            <a:ext cx="8686991" cy="6691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B20F6-156D-F9AE-3E6D-96403DEAD1D7}"/>
              </a:ext>
            </a:extLst>
          </p:cNvPr>
          <p:cNvSpPr txBox="1"/>
          <p:nvPr/>
        </p:nvSpPr>
        <p:spPr>
          <a:xfrm>
            <a:off x="180109" y="318655"/>
            <a:ext cx="23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计算非定域磁化率</a:t>
            </a:r>
          </a:p>
        </p:txBody>
      </p:sp>
    </p:spTree>
    <p:extLst>
      <p:ext uri="{BB962C8B-B14F-4D97-AF65-F5344CB8AC3E}">
        <p14:creationId xmlns:p14="http://schemas.microsoft.com/office/powerpoint/2010/main" val="400438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41E55E-502C-3ADA-797F-8E3C5B386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041" y="0"/>
            <a:ext cx="9069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16F0C8-9AC5-C1F8-750B-434133124986}"/>
                  </a:ext>
                </a:extLst>
              </p:cNvPr>
              <p:cNvSpPr txBox="1"/>
              <p:nvPr/>
            </p:nvSpPr>
            <p:spPr>
              <a:xfrm>
                <a:off x="1953491" y="1136071"/>
                <a:ext cx="8700654" cy="730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𝑅𝑒𝑑𝑢𝑐𝑒𝑑</m:t>
                          </m:r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𝑡𝑒𝑚𝑝𝑒𝑟𝑎𝑡𝑢𝑟𝑒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</m:oMath>
                  </m:oMathPara>
                </a14:m>
                <a:endParaRPr lang="en-CN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16F0C8-9AC5-C1F8-750B-434133124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491" y="1136071"/>
                <a:ext cx="8700654" cy="730969"/>
              </a:xfrm>
              <a:prstGeom prst="rect">
                <a:avLst/>
              </a:prstGeom>
              <a:blipFill>
                <a:blip r:embed="rId2"/>
                <a:stretch>
                  <a:fillRect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49A798-9959-709A-DB51-BBC950D6D9F2}"/>
              </a:ext>
            </a:extLst>
          </p:cNvPr>
          <p:cNvSpPr txBox="1"/>
          <p:nvPr/>
        </p:nvSpPr>
        <p:spPr>
          <a:xfrm>
            <a:off x="2258290" y="2483739"/>
            <a:ext cx="6303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严格解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平均场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FE6B39-4047-78DB-DE00-E8B930902EE4}"/>
              </a:ext>
            </a:extLst>
          </p:cNvPr>
          <p:cNvSpPr txBox="1"/>
          <p:nvPr/>
        </p:nvSpPr>
        <p:spPr>
          <a:xfrm>
            <a:off x="2258290" y="81940"/>
            <a:ext cx="3934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临界点</a:t>
            </a:r>
          </a:p>
        </p:txBody>
      </p:sp>
    </p:spTree>
    <p:extLst>
      <p:ext uri="{BB962C8B-B14F-4D97-AF65-F5344CB8AC3E}">
        <p14:creationId xmlns:p14="http://schemas.microsoft.com/office/powerpoint/2010/main" val="3633961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16F0C8-9AC5-C1F8-750B-434133124986}"/>
                  </a:ext>
                </a:extLst>
              </p:cNvPr>
              <p:cNvSpPr txBox="1"/>
              <p:nvPr/>
            </p:nvSpPr>
            <p:spPr>
              <a:xfrm>
                <a:off x="1953491" y="1136071"/>
                <a:ext cx="8700654" cy="730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𝑅𝑒𝑑𝑢𝑐𝑒𝑑</m:t>
                          </m:r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𝑡𝑒𝑚𝑝𝑒𝑟𝑎𝑡𝑢𝑟𝑒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</m:oMath>
                  </m:oMathPara>
                </a14:m>
                <a:endParaRPr lang="en-CN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16F0C8-9AC5-C1F8-750B-434133124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491" y="1136071"/>
                <a:ext cx="8700654" cy="730969"/>
              </a:xfrm>
              <a:prstGeom prst="rect">
                <a:avLst/>
              </a:prstGeom>
              <a:blipFill>
                <a:blip r:embed="rId2"/>
                <a:stretch>
                  <a:fillRect b="-275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49A798-9959-709A-DB51-BBC950D6D9F2}"/>
              </a:ext>
            </a:extLst>
          </p:cNvPr>
          <p:cNvSpPr txBox="1"/>
          <p:nvPr/>
        </p:nvSpPr>
        <p:spPr>
          <a:xfrm>
            <a:off x="2258290" y="2483739"/>
            <a:ext cx="6303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严格解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平均场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重整化群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728DD-9C0F-1A36-44CA-0EC641EDBB94}"/>
              </a:ext>
            </a:extLst>
          </p:cNvPr>
          <p:cNvSpPr txBox="1"/>
          <p:nvPr/>
        </p:nvSpPr>
        <p:spPr>
          <a:xfrm>
            <a:off x="10183091" y="5818909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2022.05.24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FE6B39-4047-78DB-DE00-E8B930902EE4}"/>
              </a:ext>
            </a:extLst>
          </p:cNvPr>
          <p:cNvSpPr txBox="1"/>
          <p:nvPr/>
        </p:nvSpPr>
        <p:spPr>
          <a:xfrm>
            <a:off x="2258290" y="81940"/>
            <a:ext cx="3934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临界点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2D221-6C32-1606-484A-50C9F6AAAD06}"/>
              </a:ext>
            </a:extLst>
          </p:cNvPr>
          <p:cNvSpPr txBox="1"/>
          <p:nvPr/>
        </p:nvSpPr>
        <p:spPr>
          <a:xfrm>
            <a:off x="914400" y="5514109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高统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：路径积分、场论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固体物理等</a:t>
            </a:r>
          </a:p>
        </p:txBody>
      </p:sp>
    </p:spTree>
    <p:extLst>
      <p:ext uri="{BB962C8B-B14F-4D97-AF65-F5344CB8AC3E}">
        <p14:creationId xmlns:p14="http://schemas.microsoft.com/office/powerpoint/2010/main" val="7222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9728DD-9C0F-1A36-44CA-0EC641EDBB94}"/>
              </a:ext>
            </a:extLst>
          </p:cNvPr>
          <p:cNvSpPr txBox="1"/>
          <p:nvPr/>
        </p:nvSpPr>
        <p:spPr>
          <a:xfrm>
            <a:off x="10183091" y="5818909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2022.05.24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FE6B39-4047-78DB-DE00-E8B930902EE4}"/>
              </a:ext>
            </a:extLst>
          </p:cNvPr>
          <p:cNvSpPr txBox="1"/>
          <p:nvPr/>
        </p:nvSpPr>
        <p:spPr>
          <a:xfrm>
            <a:off x="2272144" y="2243249"/>
            <a:ext cx="81326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简述你认为热物课最有印象的一个概念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提出你对这门课的建议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sz="2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你对物理学院本科课程教学内容</a:t>
            </a:r>
            <a:r>
              <a:rPr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、教师授课质量、考核形式等方面有什么意见和建议</a:t>
            </a:r>
            <a:endParaRPr lang="en-US" altLang="zh-CN" sz="2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你记忆犹新的授课老师是那位，他</a:t>
            </a:r>
            <a:r>
              <a:rPr lang="en-US" altLang="zh-CN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她有什么特点</a:t>
            </a:r>
            <a:endParaRPr lang="en-US" altLang="zh-CN" sz="2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FangSong" panose="02010609060101010101" pitchFamily="49" charset="-122"/>
                <a:ea typeface="FangSong" panose="02010609060101010101" pitchFamily="49" charset="-122"/>
              </a:rPr>
              <a:t>你希望的本科（教育、生活等）是什么样子的</a:t>
            </a:r>
            <a:endParaRPr lang="en-CN" sz="2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60161-F90E-60E1-18D7-76AB09AE7614}"/>
              </a:ext>
            </a:extLst>
          </p:cNvPr>
          <p:cNvSpPr txBox="1"/>
          <p:nvPr/>
        </p:nvSpPr>
        <p:spPr>
          <a:xfrm>
            <a:off x="720436" y="637309"/>
            <a:ext cx="10390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课后小作业</a:t>
            </a:r>
            <a:r>
              <a:rPr lang="zh-CN" altLang="en-US" dirty="0"/>
              <a:t>（一个小调研），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26</a:t>
            </a:r>
            <a:r>
              <a:rPr lang="zh-CN" altLang="en-US" dirty="0"/>
              <a:t>日中午</a:t>
            </a:r>
            <a:r>
              <a:rPr lang="en-US" altLang="zh-CN" dirty="0"/>
              <a:t>12</a:t>
            </a:r>
            <a:r>
              <a:rPr lang="zh-CN" altLang="en-US" dirty="0"/>
              <a:t>点之前提交，一页纸、拍照发给助教，</a:t>
            </a:r>
            <a:r>
              <a:rPr lang="zh-CN" altLang="en-US" dirty="0">
                <a:solidFill>
                  <a:srgbClr val="FF0000"/>
                </a:solidFill>
              </a:rPr>
              <a:t>联系助教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43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32586</TotalTime>
  <Words>634</Words>
  <Application>Microsoft Macintosh PowerPoint</Application>
  <PresentationFormat>Widescreen</PresentationFormat>
  <Paragraphs>115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FangSong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436</cp:revision>
  <dcterms:created xsi:type="dcterms:W3CDTF">2022-02-02T22:31:46Z</dcterms:created>
  <dcterms:modified xsi:type="dcterms:W3CDTF">2023-05-24T03:39:27Z</dcterms:modified>
</cp:coreProperties>
</file>